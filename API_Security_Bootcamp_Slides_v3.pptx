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79.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3" r:id="rId11"/>
    <p:sldId id="267" r:id="rId12"/>
    <p:sldId id="268" r:id="rId13"/>
    <p:sldId id="270" r:id="rId14"/>
    <p:sldId id="271" r:id="rId15"/>
    <p:sldId id="272" r:id="rId16"/>
    <p:sldId id="273" r:id="rId17"/>
    <p:sldId id="274" r:id="rId18"/>
    <p:sldId id="275" r:id="rId19"/>
    <p:sldId id="276" r:id="rId20"/>
    <p:sldId id="277" r:id="rId21"/>
    <p:sldId id="278" r:id="rId22"/>
    <p:sldId id="280" r:id="rId24"/>
    <p:sldId id="281" r:id="rId25"/>
    <p:sldId id="282" r:id="rId26"/>
    <p:sldId id="284" r:id="rId27"/>
    <p:sldId id="285" r:id="rId28"/>
    <p:sldId id="286" r:id="rId29"/>
    <p:sldId id="287" r:id="rId30"/>
    <p:sldId id="294" r:id="rId31"/>
    <p:sldId id="295" r:id="rId32"/>
    <p:sldId id="296" r:id="rId33"/>
    <p:sldId id="297" r:id="rId34"/>
    <p:sldId id="298" r:id="rId35"/>
    <p:sldId id="301" r:id="rId36"/>
    <p:sldId id="302" r:id="rId37"/>
    <p:sldId id="303" r:id="rId38"/>
    <p:sldId id="306" r:id="rId41"/>
    <p:sldId id="307" r:id="rId42"/>
    <p:sldId id="308" r:id="rId43"/>
    <p:sldId id="309" r:id="rId44"/>
    <p:sldId id="310" r:id="rId45"/>
    <p:sldId id="312" r:id="rId46"/>
    <p:sldId id="313" r:id="rId47"/>
    <p:sldId id="314" r:id="rId48"/>
    <p:sldId id="316" r:id="rId49"/>
    <p:sldId id="317" r:id="rId50"/>
    <p:sldId id="343" r:id="rId76"/>
    <p:sldId id="344" r:id="rId77"/>
    <p:sldId id="345" r:id="rId78"/>
    <p:sldId id="346" r:id="rId79"/>
    <p:sldId id="348" r:id="rId81"/>
    <p:sldId id="349" r:id="rId85"/>
    <p:sldId id="319" r:id="rId52"/>
    <p:sldId id="320" r:id="rId53"/>
    <p:sldId id="321" r:id="rId54"/>
    <p:sldId id="322" r:id="rId55"/>
    <p:sldId id="323" r:id="rId56"/>
    <p:sldId id="324" r:id="rId57"/>
    <p:sldId id="325" r:id="rId58"/>
    <p:sldId id="326" r:id="rId59"/>
    <p:sldId id="327" r:id="rId60"/>
    <p:sldId id="328" r:id="rId61"/>
    <p:sldId id="329" r:id="rId62"/>
    <p:sldId id="330" r:id="rId63"/>
    <p:sldId id="331" r:id="rId64"/>
    <p:sldId id="332" r:id="rId65"/>
    <p:sldId id="334" r:id="rId67"/>
    <p:sldId id="335" r:id="rId68"/>
    <p:sldId id="336" r:id="rId69"/>
    <p:sldId id="337" r:id="rId70"/>
    <p:sldId id="338" r:id="rId71"/>
    <p:sldId id="339" r:id="rId72"/>
    <p:sldId id="340" r:id="rId73"/>
    <p:sldId id="341" r:id="rId74"/>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9" Type="http://schemas.openxmlformats.org/officeDocument/2006/relationships/slide" Target="slides/slide6.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slide" Target="slides/slide78.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 Type="http://schemas.openxmlformats.org/officeDocument/2006/relationships/notesMaster" Target="notesMasters/notesMaster1.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 Type="http://schemas.openxmlformats.org/officeDocument/2006/relationships/slideMaster" Target="slideMasters/slideMaster1.xml"/>  <Relationship Id="rId85" Type="http://schemas.openxmlformats.org/officeDocument/2006/relationships/slide" Target="slides/slide7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group. Set expectations: this is a mix of short explanations, questions, and live exercises. Everyone has done web app labs; today we look at the same world from the API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blocks. Part 1 gives the vocabulary, Part 2 the three API styles you will meet most, Part 3 the OWASP API Top 10, then hands-on labs (separate lab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sections: 1.1 What is an API, 1.2 Why APIs are used, 1.3 Architecture, 1.4 Anatomy of a request, 1.5 Data formats, 1.6 AuthN vs AuthZ, 1.7 Documentation, 1.8 APIs vs web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"Which APIs did you use before you woke up today?" Weather widget, banking app, ride-sharing, music streaming. They are everywhere and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walk into the kitchen. You tell the waiter what you want from the menu; the waiter carries the order to the kitchen, and the result comes back through the waiter.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maps to a security topic we cover later: authentication, authorization, input validation and hidden functionality, rate limiting and resource consumption.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six reasons quickly. The point for security: each reason means more endpoints, more consumers, more machine-to-machine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 testing needs a proxy on the phone plus a trusted CA certificate, and may hit certificate pinning. Old mobile app versions often call old, weaker API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is often mistaken for "not attackable", but a mobile app's backend API is internal in name and internet-facing in reality. Service-to-service calls behind the gateway are a second boundary teams often forget.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sits on HTTP, which they know from web testing. The point is to read it as an API consumer. Walk through: method + path + query, then headers, then the JSON body; then status line, headers, body in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 = path plus HTTP method. GET /users/5 and DELETE /users/5 are different endpoints, which matters a lot for authorization testing. The fragment is never sent to the server. Old versions frequently linger with weaker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 means it should not change server state. Idempotent means doing it many times has the same effect as once. These are conventions, not enforcement: servers sometimes accept state-changing actions on GET, or leave PUT/DELETE enabled on an endpoint that only documents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headers starting with X- are common and developers put surprising things in them. X-Forwarded-For is often trusted wrongly for rate limiting.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value can sometimes be supplied in more than one place (path, query, body) and servers may disagree about which one wins. Secrets in query strings leak through logs, proxies and browser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 vs 403: who you are vs what you can do. Some APIs return 404 for resources you may not see, others 403; the difference lets you enumerate valid 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prove "I am the same user as before" but travel differently. There is no universally better option; each shifts which attacks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them of the web app pentesting they did: when they filled in data, the requests they saw in Burp were the API calls. Discussion: what did you test in those labs? IDOR, injection, auth bypass? All of it was API testing with a UI in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demo APIs are shared resources: no fuzzing, scanning or high-volume requests. Only send security tests to systems you own or are explicitly authorized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Content-Type header tells the server which parser to use. Multipart (multipart/form-data) is used for file uploads. Form-encoded is flat key/value pairs with percent-encoding; nesting is a framework convention such as address[city]=Pune.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 object, [] array, keys always in double quotes; no comments; duplicate keys behave inconsistently between parsers. XML: tags, attributes, namespaces, optional DOCTYPE; still common in enterprise, banking and SOAP.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sending JSON to an endpoint that normally receives form data: different parser, different validation, potentially different behavior. Tools that help: Burp beautifiers, Postman Pretty view, jq, jwt.io or Burp Decoder.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concept for API security; give it time. A very large share of real API breaches are authorization failures: the API knows who you are but does not check whether you can access this particular record or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directly to the API-specific OWASP risks in Part 3: BOLA (object), BFLA (function), BOPLA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Sessions keep state on the server; bearer tokens mean whoever holds it is you; JWTs are self-contained and hard to revoke; API keys identify an application, not a person; OAuth 2.0 delegates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decode live in Burp Decoder or with echo ... | base64 -d. It drives home that base64 is not protection. An API key generally answers "which application is this?" rather than "which person is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developer, documentation is a manual. For a security tester, it hands over every endpoint, parameter, data type and required role for free. Without it you are guessing endpoints from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OpenAPI is the standard machine-readable spec for REST APIs (YAML or JSON). Swagger is the tooling family (Swagger UI, Swagger Editor) and the name of the older 2.0 spec. People use the names interchangeably. Look for swagger: 2.0 or openapi: 3.x.x at the top of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Swagger UI is an auto-generated page from the spec that lists every endpoint and lets you click Try it out. Great for exploring, and often left exposed in production. Also check the API host root, /api/, /developer and the developer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Testers use collections to replay requests systematically, share findings with developers, and proxy traffic through Burp for deeper manipulation.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Burp has extensions such as OpenAPI Parser on the BApp Store that generate requests from a spec. Exposed docs on production are not always a vulnerability by themselves, but they accelerate attackers and may reveal internal or admin endpoints. Judge in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limits what a user can click; the API has no such limits. That is the core difference for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is a suggestion; the API is the truth. Discovery is your job because scanners rely on crawling links. Object references are everywhere. Developers return whole rows and let the frontend hide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Broken access control / IDOR becomes the most prevalent problem in APIs, because APIs expose object IDs and functions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the three most common types on real engagements. gRPC, WebSockets, webhooks and others are out of scope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Trainees who learn to ask "what style is this, and what format is the data?" can identify almost anything they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(Representational State Transfer) is an architectural style, not a protocol or standard, described by Roy Fielding in 2000. "RESTful" is used loosely for "an HTTP API that returns JSON". Six constraints exist (client-server, stateless, cacheable, uniform interface, layered system, code on demand); only the first four matter day to day. HATEOAS is rarely fully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old RPC-style URLs still seen in the wild: POST /getOrder, POST /deleteUser. Those are not RESTful because the verb lives in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that makes API testing click. Every endpoint is just a function on the server. The framework router matches the HTTP method and path of an incoming request to a function, the handler, and runs it. Whatever the function returns becomes the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router picks the handler using both the method and the path. A developer might protect one and forget the other, so a tester can never assume protection on one method carries over. Also: a 404 can come from the router (no handler matches) or from the handler code (handler ran, but no such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with filtering and pagination. Note the X-Total-Count header and the next link, which is a light form of HATEOAS.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sends the whole object and replaces it. PATCH sends only what changes. Mass assignment lives in handlers for POST, PUT and PATCH that copy the whole body into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"REST APIs" are really loose HTTP-and-JSON APIs. Do not spend time debating purity. If it looks like resources plus methods plus JSON, treat it as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note links back to the handler model: ask what line of code might be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SOAP (Simple Object Access Protocol) is a strict XML messaging protocol. Where REST is a loose style, SOAP is a formal standard with rules for message structure, errors and security extensions. Despite the name, it is rarely simple. Transport is usually HTTP but SOAP itself is transport-independent (historically SMTP and queues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such as SoapUI, or code generators in Java and .NET, read the WSDL and build the client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Namespaces (the xmlns attributes) matter a lot in SOAP. soapenv is just a prefix, a nickname; the URL it points to is what counts. Breaking a namespace when hand-editing is the most common way to get a confusing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carries information about the message rather than the business request. It is optional and extensible. mustUnderstand: the receiver must process the header block or reject the message with a fault. actor (SOAP 1.1) / role (SOAP 1.2): which node in a chain of intermediaries the block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SOAPAction is defined in the WSDL binding, often an identifier rather than a real URL, sometimes an empty string. SOAP 1.2 removes the header: the action moves into the Content-Type as action=. Security: there are two places naming the operation. If the gateway trusts the SOAPAction header but the backend executes whatever the body says, you get SOAPAction spoofing. Test: send a harmless SOAPAction with a body calling a more sensitive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meet both; 1.1 is still very common in legacy systems. The namespace on the Envelope is the fastest way to tell the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WSDL answers five questions: what data types exist, what messages are exchanged, what operations are offered, how they are encoded and sent, and where the service is. You will almost always see WSDL 1.1. It is organised abstract to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top to bottom is confusing because the file goes abstract to concrete. As a tester, read it bottom-up: service (endpoint URL), binding (soapAction and style), portType (all operation names: your attack surface list), then message and types (parameters and data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the WSDL: append ?wsdl to the service URL; on .NET services try Service.asmx?WSDL or Service.svc?wsdl (and ?singleWsdl); Java/Axis often lists all services at /services/. A ?wsdl that is blocked does not prove the service is protected; operations still work if you know their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 combines everything: WS-Security header, SOAPAction, and the body operation. Note the response is a normal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Faults usually come back with HTTP 500, which trips people up because the error is a normal well-formed message. The detail block often leaks stack traces and internal class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use cases: banking, insurance, payments, telecom back-office; government and healthcare integrations; legacy enterprise systems (SAP, older Java/.NET); situations needing formal contracts, WS-Security or guaranteed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REST: heavier, stricter, better tooling for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XML signature wrapping: a WS-Security-specific attack where the signed part of the message is moved and a forged one is processed instead. Just plant the name for now. Tools: SoapUI (import a WSDL and get ready-made requests), Burp with Wsdler or SOAP-related BApp extensions, Postman (SOAP as raw XML with Content-Type text/xml).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GraphQL is a query language for APIs and a runtime for executing those queries, created at Facebook and open-sourced in 2015. Analogy: REST is a set-menu restaurant where each dish comes as designed; GraphQL is a buffet with a tray where you take only what you want in one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Resolvers are the server-side functions that fetch the data for each field. Authorization has to be enforced per resolver or field, not just per endpoint. Think back to the handler model in 2.1: in GraphQL, every field has its own little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got exactly name, email and the two order fields in one round trip. Note the variables object: it separates values from the query text, as a parameterized query would. Also see the mutation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GraphQL errors often still come back as HTTP 200. The "Did you mean" hint leaks real field names. This is called field suggestion and it is a favourite of testers, and it works even when introspection is disabled.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Introspection, when enabled, hands the tester the entire API map, similar to an OpenAPI spec but generated on demand. Aliases let the client ask for the same field several times under different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Burp built-in GraphQL support (GraphQL tab in Repeater, Set introspection query), InQL extension, Postman GraphQL body type, Altair. Typical use cases: complex frontends, aggregating backend services behind one API (BFF), public APIs where consumers need different shapes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 vs GraphQL: GraphQL solves over- and under-fetching, at the cost of harder caching and per-field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Aliases and batching: one HTTP request can hold hundreds of aliased login attempts or ID lookups, so the rate limiter sees just one request. CSRF: if the server accepts GET or form-encoded for mutations, cookie-based auth may be exploitable. Many WAFs and scanners cannot parse GraphQL, so all requests look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owasp.org for a newer edition before the session. 2023 is the current edition as of this draft. PortSwigger labs will be mapped to these in the labs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big share of the list is authorization at three levels: object (API1), property (API3), and function (API5). That ties back to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Handler mental model column ties each risk to the missing line of code in the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API4, API6 and API10 have only partial lab coverage on PortSwigger; the labs sheet will say so where it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labs. The lab sheet is a separate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A99A8"/>
                </a:solidFill>
                <a:latin typeface="Calibri"/>
                <a:ea typeface="Calibri"/>
                <a:cs typeface="Calibri"/>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8.png"/></Relationships>
</file>

<file path=ppt/slides/_rels/slide23.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xml"/><Relationship Id="rId3" Type="http://schemas.openxmlformats.org/officeDocument/2006/relationships/image" Target="../media/image32.png"/><Relationship Id="rId2" Type="http://schemas.openxmlformats.org/officeDocument/2006/relationships/image" Target="../media/image15.png"/><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image" Target="../media/image33.png"/><Relationship Id="rId2" Type="http://schemas.openxmlformats.org/officeDocument/2006/relationships/image" Target="../media/image12.png"/><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xml"/><Relationship Id="rId3"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image" Target="../media/image3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36.pn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1.xml"/><Relationship Id="rId4" Type="http://schemas.openxmlformats.org/officeDocument/2006/relationships/image" Target="../media/image39.png"/><Relationship Id="rId3" Type="http://schemas.openxmlformats.org/officeDocument/2006/relationships/image" Target="../media/image31.png"/><Relationship Id="rId2" Type="http://schemas.openxmlformats.org/officeDocument/2006/relationships/image" Target="../media/image38.png"/><Relationship Id="rId1"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1.xml"/><Relationship Id="rId3" Type="http://schemas.openxmlformats.org/officeDocument/2006/relationships/image" Target="../media/image42.png"/><Relationship Id="rId2" Type="http://schemas.openxmlformats.org/officeDocument/2006/relationships/image" Target="../media/image18.png"/><Relationship Id="rId1" Type="http://schemas.openxmlformats.org/officeDocument/2006/relationships/image" Target="../media/image41.png"/></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1.xml"/><Relationship Id="rId4" Type="http://schemas.openxmlformats.org/officeDocument/2006/relationships/image" Target="../media/image43.png"/><Relationship Id="rId3" Type="http://schemas.openxmlformats.org/officeDocument/2006/relationships/image" Target="../media/image31.png"/><Relationship Id="rId2" Type="http://schemas.openxmlformats.org/officeDocument/2006/relationships/image" Target="../media/image18.png"/><Relationship Id="rId1" Type="http://schemas.openxmlformats.org/officeDocument/2006/relationships/image" Target="../media/image1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4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8" Type="http://schemas.openxmlformats.org/officeDocument/2006/relationships/notesSlide" Target="../notesSlides/notesSlide47.xml"/><Relationship Id="rId7"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43.png"/><Relationship Id="rId4" Type="http://schemas.openxmlformats.org/officeDocument/2006/relationships/image" Target="../media/image24.png"/><Relationship Id="rId3" Type="http://schemas.openxmlformats.org/officeDocument/2006/relationships/image" Target="../media/image30.png"/><Relationship Id="rId2" Type="http://schemas.openxmlformats.org/officeDocument/2006/relationships/image" Target="../media/image18.png"/><Relationship Id="rId1" Type="http://schemas.openxmlformats.org/officeDocument/2006/relationships/image" Target="../media/image16.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xml"/><Relationship Id="rId2" Type="http://schemas.openxmlformats.org/officeDocument/2006/relationships/image" Target="../media/image46.png"/><Relationship Id="rId1" Type="http://schemas.openxmlformats.org/officeDocument/2006/relationships/image" Target="../media/image45.png"/></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slideLayout" Target="../slideLayouts/slideLayout1.xml"/><Relationship Id="rId4" Type="http://schemas.openxmlformats.org/officeDocument/2006/relationships/image" Target="../media/image48.png"/><Relationship Id="rId3" Type="http://schemas.openxmlformats.org/officeDocument/2006/relationships/image" Target="../media/image46.png"/><Relationship Id="rId2" Type="http://schemas.openxmlformats.org/officeDocument/2006/relationships/image" Target="../media/image47.png"/><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49.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50.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image" Target="../media/image36.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1.xml"/><Relationship Id="rId2" Type="http://schemas.openxmlformats.org/officeDocument/2006/relationships/image" Target="../media/image51.png"/><Relationship Id="rId1" Type="http://schemas.openxmlformats.org/officeDocument/2006/relationships/image" Target="../media/image48.png"/></Relationships>
</file>

<file path=ppt/slides/_rels/slide62.xml.rels><?xml version="1.0" encoding="UTF-8" standalone="yes"?>
<Relationships xmlns="http://schemas.openxmlformats.org/package/2006/relationships"><Relationship Id="rId8" Type="http://schemas.openxmlformats.org/officeDocument/2006/relationships/notesSlide" Target="../notesSlides/notesSlide62.xml"/><Relationship Id="rId7"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18.png"/><Relationship Id="rId4" Type="http://schemas.openxmlformats.org/officeDocument/2006/relationships/image" Target="../media/image52.png"/><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image" Target="../media/image4.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30.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image" Target="../media/image53.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54.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xml"/><Relationship Id="rId1" Type="http://schemas.openxmlformats.org/officeDocument/2006/relationships/image" Target="../media/image55.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1.xml"/><Relationship Id="rId2" Type="http://schemas.openxmlformats.org/officeDocument/2006/relationships/image" Target="../media/image51.png"/><Relationship Id="rId1" Type="http://schemas.openxmlformats.org/officeDocument/2006/relationships/image" Target="../media/image48.png"/></Relationships>
</file>

<file path=ppt/slides/_rels/slide71.xml.rels><?xml version="1.0" encoding="UTF-8" standalone="yes"?>
<Relationships xmlns="http://schemas.openxmlformats.org/package/2006/relationships"><Relationship Id="rId8" Type="http://schemas.openxmlformats.org/officeDocument/2006/relationships/notesSlide" Target="../notesSlides/notesSlide71.xml"/><Relationship Id="rId7"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png"/><Relationship Id="rId4" Type="http://schemas.openxmlformats.org/officeDocument/2006/relationships/image" Target="../media/image21.png"/><Relationship Id="rId3" Type="http://schemas.openxmlformats.org/officeDocument/2006/relationships/image" Target="../media/image30.png"/><Relationship Id="rId2" Type="http://schemas.openxmlformats.org/officeDocument/2006/relationships/image" Target="../media/image15.png"/><Relationship Id="rId1" Type="http://schemas.openxmlformats.org/officeDocument/2006/relationships/image" Target="../media/image2.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5" Type="http://schemas.openxmlformats.org/officeDocument/2006/relationships/notesSlide" Target="../notesSlides/notesSlide74.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33.png"/><Relationship Id="rId1" Type="http://schemas.openxmlformats.org/officeDocument/2006/relationships/image" Target="../media/image16.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1B3F"/>
        </a:solidFill>
        <a:effectLst/>
      </p:bgPr>
    </p:bg>
    <p:spTree>
      <p:nvGrpSpPr>
        <p:cNvPr id="1" name=""/>
        <p:cNvGrpSpPr/>
        <p:nvPr/>
      </p:nvGrpSpPr>
      <p:grpSpPr>
        <a:xfrm>
          <a:off x="0" y="0"/>
          <a:ext cx="0" cy="0"/>
          <a:chOff x="0" y="0"/>
          <a:chExt cx="0" cy="0"/>
        </a:xfrm>
      </p:grpSpPr>
      <p:sp>
        <p:nvSpPr>
          <p:cNvPr id="4" name="Shape 2"/>
          <p:cNvSpPr/>
          <p:nvPr/>
        </p:nvSpPr>
        <p:spPr>
          <a:xfrm>
            <a:off x="640080" y="731520"/>
            <a:ext cx="822960" cy="822960"/>
          </a:xfrm>
          <a:prstGeom prst="roundRect">
            <a:avLst>
              <a:gd name="adj" fmla="val 24000"/>
            </a:avLst>
          </a:prstGeom>
          <a:solidFill>
            <a:srgbClr val="F2705A"/>
          </a:solidFill>
          <a:ln w="12700">
            <a:solidFill>
              <a:srgbClr val="F2705A"/>
            </a:solidFill>
            <a:prstDash val="solid"/>
          </a:ln>
        </p:spPr>
      </p:sp>
      <p:pic>
        <p:nvPicPr>
          <p:cNvPr id="5" name="Image 0" descr="preencoded.png"/>
          <p:cNvPicPr>
            <a:picLocks noChangeAspect="1"/>
          </p:cNvPicPr>
          <p:nvPr/>
        </p:nvPicPr>
        <p:blipFill>
          <a:blip r:embed="rId1"/>
          <a:stretch>
            <a:fillRect/>
          </a:stretch>
        </p:blipFill>
        <p:spPr>
          <a:xfrm>
            <a:off x="845820" y="937260"/>
            <a:ext cx="411480" cy="411480"/>
          </a:xfrm>
          <a:prstGeom prst="rect">
            <a:avLst/>
          </a:prstGeom>
        </p:spPr>
      </p:pic>
      <p:sp>
        <p:nvSpPr>
          <p:cNvPr id="6" name="Text 3"/>
          <p:cNvSpPr txBox="1"/>
          <p:nvPr/>
        </p:nvSpPr>
        <p:spPr>
          <a:xfrm>
            <a:off x="640080" y="1737360"/>
            <a:ext cx="6766560" cy="1188720"/>
          </a:xfrm>
          <a:prstGeom prst="rect">
            <a:avLst/>
          </a:prstGeom>
          <a:noFill/>
        </p:spPr>
        <p:txBody>
          <a:bodyPr wrap="square" lIns="0" tIns="0" rIns="0" bIns="0" rtlCol="0" anchor="t"/>
          <a:lstStyle/>
          <a:p>
            <a:pPr marL="0" indent="0">
              <a:buNone/>
            </a:pPr>
            <a:r>
              <a:rPr lang="en-US" sz="4400" b="1" dirty="0">
                <a:solidFill>
                  <a:srgbClr val="FFFFFF"/>
                </a:solidFill>
                <a:latin typeface="Arial" pitchFamily="34" charset="0"/>
                <a:ea typeface="Arial" pitchFamily="34" charset="-122"/>
                <a:cs typeface="Arial" pitchFamily="34" charset="-120"/>
              </a:rPr>
              <a:t>API Security Bootcamp</a:t>
            </a:r>
            <a:endParaRPr lang="en-US" sz="4400" dirty="0"/>
          </a:p>
        </p:txBody>
      </p:sp>
      <p:sp>
        <p:nvSpPr>
          <p:cNvPr id="7" name="Text 4"/>
          <p:cNvSpPr txBox="1"/>
          <p:nvPr/>
        </p:nvSpPr>
        <p:spPr>
          <a:xfrm>
            <a:off x="640080" y="2971800"/>
            <a:ext cx="6583680" cy="822960"/>
          </a:xfrm>
          <a:prstGeom prst="rect">
            <a:avLst/>
          </a:prstGeom>
          <a:noFill/>
        </p:spPr>
        <p:txBody>
          <a:bodyPr wrap="square" lIns="0" tIns="0" rIns="0" bIns="0" rtlCol="0" anchor="t"/>
          <a:lstStyle/>
          <a:p>
            <a:pPr marL="0" indent="0">
              <a:buNone/>
            </a:pPr>
            <a:r>
              <a:rPr lang="en-US" sz="2000" dirty="0">
                <a:solidFill>
                  <a:srgbClr val="D9CCF2"/>
                </a:solidFill>
                <a:latin typeface="Calibri" pitchFamily="34" charset="0"/>
                <a:ea typeface="Calibri" pitchFamily="34" charset="-122"/>
                <a:cs typeface="Calibri" pitchFamily="34" charset="-120"/>
              </a:rPr>
              <a:t>Day 1: APIs from the ground up, to the OWASP API Top 10</a:t>
            </a:r>
            <a:endParaRPr lang="en-US" sz="2000" dirty="0"/>
          </a:p>
        </p:txBody>
      </p:sp>
      <p:sp>
        <p:nvSpPr>
          <p:cNvPr id="8" name="Text 5"/>
          <p:cNvSpPr txBox="1"/>
          <p:nvPr/>
        </p:nvSpPr>
        <p:spPr>
          <a:xfrm>
            <a:off x="640080" y="4343400"/>
            <a:ext cx="7315200" cy="320040"/>
          </a:xfrm>
          <a:prstGeom prst="rect">
            <a:avLst/>
          </a:prstGeom>
          <a:noFill/>
        </p:spPr>
        <p:txBody>
          <a:bodyPr wrap="square" lIns="0" tIns="0" rIns="0" bIns="0" rtlCol="0" anchor="ctr"/>
          <a:lstStyle/>
          <a:p>
            <a:pPr marL="0" indent="0">
              <a:buNone/>
            </a:pPr>
            <a:r>
              <a:rPr lang="en-US" sz="1200" dirty="0">
                <a:solidFill>
                  <a:srgbClr val="A99BC6"/>
                </a:solidFill>
                <a:latin typeface="Calibri" pitchFamily="34" charset="0"/>
                <a:ea typeface="Calibri" pitchFamily="34" charset="-122"/>
                <a:cs typeface="Calibri" pitchFamily="34" charset="-120"/>
              </a:rPr>
              <a:t>AppSec onboarding  ·  6-hour session</a:t>
            </a:r>
            <a:endParaRPr lang="en-US" sz="1200" dirty="0"/>
          </a:p>
        </p:txBody>
      </p:sp>
      <p:sp>
        <p:nvSpPr>
          <p:cNvPr id="9" name="Deco 0"/>
          <p:cNvSpPr/>
          <p:nvPr/>
        </p:nvSpPr>
        <p:spPr>
          <a:xfrm>
            <a:off x="6784848" y="411480"/>
            <a:ext cx="146304" cy="146304"/>
          </a:xfrm>
          <a:prstGeom prst="rect">
            <a:avLst/>
          </a:prstGeom>
          <a:solidFill>
            <a:srgbClr val="F2705A"/>
          </a:solidFill>
          <a:ln>
            <a:noFill/>
          </a:ln>
        </p:spPr>
      </p:sp>
      <p:sp>
        <p:nvSpPr>
          <p:cNvPr id="10" name="Deco 1"/>
          <p:cNvSpPr/>
          <p:nvPr/>
        </p:nvSpPr>
        <p:spPr>
          <a:xfrm>
            <a:off x="7022592" y="411480"/>
            <a:ext cx="146304" cy="146304"/>
          </a:xfrm>
          <a:prstGeom prst="rect">
            <a:avLst/>
          </a:prstGeom>
          <a:solidFill>
            <a:srgbClr val="FFFFFF">
              <a:alpha val="14000"/>
            </a:srgbClr>
          </a:solidFill>
          <a:ln>
            <a:noFill/>
          </a:ln>
        </p:spPr>
      </p:sp>
      <p:sp>
        <p:nvSpPr>
          <p:cNvPr id="11" name="Deco 2"/>
          <p:cNvSpPr/>
          <p:nvPr/>
        </p:nvSpPr>
        <p:spPr>
          <a:xfrm>
            <a:off x="7260336" y="411480"/>
            <a:ext cx="146304" cy="146304"/>
          </a:xfrm>
          <a:prstGeom prst="rect">
            <a:avLst/>
          </a:prstGeom>
          <a:solidFill>
            <a:srgbClr val="FFFFFF">
              <a:alpha val="14000"/>
            </a:srgbClr>
          </a:solidFill>
          <a:ln>
            <a:noFill/>
          </a:ln>
        </p:spPr>
      </p:sp>
      <p:sp>
        <p:nvSpPr>
          <p:cNvPr id="12" name="Deco 3"/>
          <p:cNvSpPr/>
          <p:nvPr/>
        </p:nvSpPr>
        <p:spPr>
          <a:xfrm>
            <a:off x="7498080" y="411480"/>
            <a:ext cx="146304" cy="146304"/>
          </a:xfrm>
          <a:prstGeom prst="rect">
            <a:avLst/>
          </a:prstGeom>
          <a:solidFill>
            <a:srgbClr val="FFFFFF">
              <a:alpha val="14000"/>
            </a:srgbClr>
          </a:solidFill>
          <a:ln>
            <a:noFill/>
          </a:ln>
        </p:spPr>
      </p:sp>
      <p:sp>
        <p:nvSpPr>
          <p:cNvPr id="13" name="Deco 4"/>
          <p:cNvSpPr/>
          <p:nvPr/>
        </p:nvSpPr>
        <p:spPr>
          <a:xfrm>
            <a:off x="7735824" y="411480"/>
            <a:ext cx="146304" cy="146304"/>
          </a:xfrm>
          <a:prstGeom prst="rect">
            <a:avLst/>
          </a:prstGeom>
          <a:solidFill>
            <a:srgbClr val="9C7AD6">
              <a:alpha val="70000"/>
            </a:srgbClr>
          </a:solidFill>
          <a:ln>
            <a:noFill/>
          </a:ln>
        </p:spPr>
      </p:sp>
      <p:sp>
        <p:nvSpPr>
          <p:cNvPr id="14" name="Deco 5"/>
          <p:cNvSpPr/>
          <p:nvPr/>
        </p:nvSpPr>
        <p:spPr>
          <a:xfrm>
            <a:off x="7973568" y="411480"/>
            <a:ext cx="146304" cy="146304"/>
          </a:xfrm>
          <a:prstGeom prst="rect">
            <a:avLst/>
          </a:prstGeom>
          <a:solidFill>
            <a:srgbClr val="F2705A"/>
          </a:solidFill>
          <a:ln>
            <a:noFill/>
          </a:ln>
        </p:spPr>
      </p:sp>
      <p:sp>
        <p:nvSpPr>
          <p:cNvPr id="15" name="Deco 6"/>
          <p:cNvSpPr/>
          <p:nvPr/>
        </p:nvSpPr>
        <p:spPr>
          <a:xfrm>
            <a:off x="8211312" y="411480"/>
            <a:ext cx="146304" cy="146304"/>
          </a:xfrm>
          <a:prstGeom prst="rect">
            <a:avLst/>
          </a:prstGeom>
          <a:solidFill>
            <a:srgbClr val="FFFFFF">
              <a:alpha val="14000"/>
            </a:srgbClr>
          </a:solidFill>
          <a:ln>
            <a:noFill/>
          </a:ln>
        </p:spPr>
      </p:sp>
      <p:sp>
        <p:nvSpPr>
          <p:cNvPr id="16" name="Deco 7"/>
          <p:cNvSpPr/>
          <p:nvPr/>
        </p:nvSpPr>
        <p:spPr>
          <a:xfrm>
            <a:off x="8449056" y="411480"/>
            <a:ext cx="146304" cy="146304"/>
          </a:xfrm>
          <a:prstGeom prst="rect">
            <a:avLst/>
          </a:prstGeom>
          <a:solidFill>
            <a:srgbClr val="FFFFFF">
              <a:alpha val="14000"/>
            </a:srgbClr>
          </a:solidFill>
          <a:ln>
            <a:noFill/>
          </a:ln>
        </p:spPr>
      </p:sp>
      <p:sp>
        <p:nvSpPr>
          <p:cNvPr id="17" name="Deco 8"/>
          <p:cNvSpPr/>
          <p:nvPr/>
        </p:nvSpPr>
        <p:spPr>
          <a:xfrm>
            <a:off x="6784848" y="649224"/>
            <a:ext cx="146304" cy="146304"/>
          </a:xfrm>
          <a:prstGeom prst="rect">
            <a:avLst/>
          </a:prstGeom>
          <a:solidFill>
            <a:srgbClr val="FFFFFF">
              <a:alpha val="14000"/>
            </a:srgbClr>
          </a:solidFill>
          <a:ln>
            <a:noFill/>
          </a:ln>
        </p:spPr>
      </p:sp>
      <p:sp>
        <p:nvSpPr>
          <p:cNvPr id="18" name="Deco 9"/>
          <p:cNvSpPr/>
          <p:nvPr/>
        </p:nvSpPr>
        <p:spPr>
          <a:xfrm>
            <a:off x="7022592" y="649224"/>
            <a:ext cx="146304" cy="146304"/>
          </a:xfrm>
          <a:prstGeom prst="rect">
            <a:avLst/>
          </a:prstGeom>
          <a:solidFill>
            <a:srgbClr val="9C7AD6">
              <a:alpha val="70000"/>
            </a:srgbClr>
          </a:solidFill>
          <a:ln>
            <a:noFill/>
          </a:ln>
        </p:spPr>
      </p:sp>
      <p:sp>
        <p:nvSpPr>
          <p:cNvPr id="19" name="Deco 10"/>
          <p:cNvSpPr/>
          <p:nvPr/>
        </p:nvSpPr>
        <p:spPr>
          <a:xfrm>
            <a:off x="7260336" y="649224"/>
            <a:ext cx="146304" cy="146304"/>
          </a:xfrm>
          <a:prstGeom prst="rect">
            <a:avLst/>
          </a:prstGeom>
          <a:solidFill>
            <a:srgbClr val="FFFFFF">
              <a:alpha val="14000"/>
            </a:srgbClr>
          </a:solidFill>
          <a:ln>
            <a:noFill/>
          </a:ln>
        </p:spPr>
      </p:sp>
      <p:sp>
        <p:nvSpPr>
          <p:cNvPr id="20" name="Deco 11"/>
          <p:cNvSpPr/>
          <p:nvPr/>
        </p:nvSpPr>
        <p:spPr>
          <a:xfrm>
            <a:off x="7498080" y="649224"/>
            <a:ext cx="146304" cy="146304"/>
          </a:xfrm>
          <a:prstGeom prst="rect">
            <a:avLst/>
          </a:prstGeom>
          <a:solidFill>
            <a:srgbClr val="FFFFFF">
              <a:alpha val="14000"/>
            </a:srgbClr>
          </a:solidFill>
          <a:ln>
            <a:noFill/>
          </a:ln>
        </p:spPr>
      </p:sp>
      <p:sp>
        <p:nvSpPr>
          <p:cNvPr id="21" name="Deco 12"/>
          <p:cNvSpPr/>
          <p:nvPr/>
        </p:nvSpPr>
        <p:spPr>
          <a:xfrm>
            <a:off x="7735824" y="649224"/>
            <a:ext cx="146304" cy="146304"/>
          </a:xfrm>
          <a:prstGeom prst="rect">
            <a:avLst/>
          </a:prstGeom>
          <a:solidFill>
            <a:srgbClr val="F2705A"/>
          </a:solidFill>
          <a:ln>
            <a:noFill/>
          </a:ln>
        </p:spPr>
      </p:sp>
      <p:sp>
        <p:nvSpPr>
          <p:cNvPr id="22" name="Deco 13"/>
          <p:cNvSpPr/>
          <p:nvPr/>
        </p:nvSpPr>
        <p:spPr>
          <a:xfrm>
            <a:off x="7973568" y="649224"/>
            <a:ext cx="146304" cy="146304"/>
          </a:xfrm>
          <a:prstGeom prst="rect">
            <a:avLst/>
          </a:prstGeom>
          <a:solidFill>
            <a:srgbClr val="9C7AD6">
              <a:alpha val="70000"/>
            </a:srgbClr>
          </a:solidFill>
          <a:ln>
            <a:noFill/>
          </a:ln>
        </p:spPr>
      </p:sp>
      <p:sp>
        <p:nvSpPr>
          <p:cNvPr id="23" name="Deco 14"/>
          <p:cNvSpPr/>
          <p:nvPr/>
        </p:nvSpPr>
        <p:spPr>
          <a:xfrm>
            <a:off x="8211312" y="649224"/>
            <a:ext cx="146304" cy="146304"/>
          </a:xfrm>
          <a:prstGeom prst="rect">
            <a:avLst/>
          </a:prstGeom>
          <a:solidFill>
            <a:srgbClr val="FFFFFF">
              <a:alpha val="14000"/>
            </a:srgbClr>
          </a:solidFill>
          <a:ln>
            <a:noFill/>
          </a:ln>
        </p:spPr>
      </p:sp>
      <p:sp>
        <p:nvSpPr>
          <p:cNvPr id="24" name="Deco 15"/>
          <p:cNvSpPr/>
          <p:nvPr/>
        </p:nvSpPr>
        <p:spPr>
          <a:xfrm>
            <a:off x="8449056" y="649224"/>
            <a:ext cx="146304" cy="146304"/>
          </a:xfrm>
          <a:prstGeom prst="rect">
            <a:avLst/>
          </a:prstGeom>
          <a:solidFill>
            <a:srgbClr val="FFFFFF">
              <a:alpha val="14000"/>
            </a:srgbClr>
          </a:solidFill>
          <a:ln>
            <a:noFill/>
          </a:ln>
        </p:spPr>
      </p:sp>
      <p:sp>
        <p:nvSpPr>
          <p:cNvPr id="25" name="Deco 16"/>
          <p:cNvSpPr/>
          <p:nvPr/>
        </p:nvSpPr>
        <p:spPr>
          <a:xfrm>
            <a:off x="6784848" y="886968"/>
            <a:ext cx="146304" cy="146304"/>
          </a:xfrm>
          <a:prstGeom prst="rect">
            <a:avLst/>
          </a:prstGeom>
          <a:solidFill>
            <a:srgbClr val="FFFFFF">
              <a:alpha val="14000"/>
            </a:srgbClr>
          </a:solidFill>
          <a:ln>
            <a:noFill/>
          </a:ln>
        </p:spPr>
      </p:sp>
      <p:sp>
        <p:nvSpPr>
          <p:cNvPr id="26" name="Deco 17"/>
          <p:cNvSpPr/>
          <p:nvPr/>
        </p:nvSpPr>
        <p:spPr>
          <a:xfrm>
            <a:off x="7022592" y="886968"/>
            <a:ext cx="146304" cy="146304"/>
          </a:xfrm>
          <a:prstGeom prst="rect">
            <a:avLst/>
          </a:prstGeom>
          <a:solidFill>
            <a:srgbClr val="FFFFFF">
              <a:alpha val="14000"/>
            </a:srgbClr>
          </a:solidFill>
          <a:ln>
            <a:noFill/>
          </a:ln>
        </p:spPr>
      </p:sp>
      <p:sp>
        <p:nvSpPr>
          <p:cNvPr id="27" name="Deco 18"/>
          <p:cNvSpPr/>
          <p:nvPr/>
        </p:nvSpPr>
        <p:spPr>
          <a:xfrm>
            <a:off x="7260336" y="886968"/>
            <a:ext cx="146304" cy="146304"/>
          </a:xfrm>
          <a:prstGeom prst="rect">
            <a:avLst/>
          </a:prstGeom>
          <a:solidFill>
            <a:srgbClr val="9C7AD6">
              <a:alpha val="70000"/>
            </a:srgbClr>
          </a:solidFill>
          <a:ln>
            <a:noFill/>
          </a:ln>
        </p:spPr>
      </p:sp>
      <p:sp>
        <p:nvSpPr>
          <p:cNvPr id="28" name="Deco 19"/>
          <p:cNvSpPr/>
          <p:nvPr/>
        </p:nvSpPr>
        <p:spPr>
          <a:xfrm>
            <a:off x="7498080" y="886968"/>
            <a:ext cx="146304" cy="146304"/>
          </a:xfrm>
          <a:prstGeom prst="rect">
            <a:avLst/>
          </a:prstGeom>
          <a:solidFill>
            <a:srgbClr val="F2705A"/>
          </a:solidFill>
          <a:ln>
            <a:noFill/>
          </a:ln>
        </p:spPr>
      </p:sp>
      <p:sp>
        <p:nvSpPr>
          <p:cNvPr id="29" name="Deco 20"/>
          <p:cNvSpPr/>
          <p:nvPr/>
        </p:nvSpPr>
        <p:spPr>
          <a:xfrm>
            <a:off x="7735824" y="886968"/>
            <a:ext cx="146304" cy="146304"/>
          </a:xfrm>
          <a:prstGeom prst="rect">
            <a:avLst/>
          </a:prstGeom>
          <a:solidFill>
            <a:srgbClr val="FFFFFF">
              <a:alpha val="14000"/>
            </a:srgbClr>
          </a:solidFill>
          <a:ln>
            <a:noFill/>
          </a:ln>
        </p:spPr>
      </p:sp>
      <p:sp>
        <p:nvSpPr>
          <p:cNvPr id="30" name="Deco 21"/>
          <p:cNvSpPr/>
          <p:nvPr/>
        </p:nvSpPr>
        <p:spPr>
          <a:xfrm>
            <a:off x="7973568" y="886968"/>
            <a:ext cx="146304" cy="146304"/>
          </a:xfrm>
          <a:prstGeom prst="rect">
            <a:avLst/>
          </a:prstGeom>
          <a:solidFill>
            <a:srgbClr val="FFFFFF">
              <a:alpha val="14000"/>
            </a:srgbClr>
          </a:solidFill>
          <a:ln>
            <a:noFill/>
          </a:ln>
        </p:spPr>
      </p:sp>
      <p:sp>
        <p:nvSpPr>
          <p:cNvPr id="31" name="Deco 22"/>
          <p:cNvSpPr/>
          <p:nvPr/>
        </p:nvSpPr>
        <p:spPr>
          <a:xfrm>
            <a:off x="8211312" y="886968"/>
            <a:ext cx="146304" cy="146304"/>
          </a:xfrm>
          <a:prstGeom prst="rect">
            <a:avLst/>
          </a:prstGeom>
          <a:solidFill>
            <a:srgbClr val="9C7AD6">
              <a:alpha val="70000"/>
            </a:srgbClr>
          </a:solidFill>
          <a:ln>
            <a:noFill/>
          </a:ln>
        </p:spPr>
      </p:sp>
      <p:sp>
        <p:nvSpPr>
          <p:cNvPr id="32" name="Deco 23"/>
          <p:cNvSpPr/>
          <p:nvPr/>
        </p:nvSpPr>
        <p:spPr>
          <a:xfrm>
            <a:off x="8449056" y="886968"/>
            <a:ext cx="146304" cy="146304"/>
          </a:xfrm>
          <a:prstGeom prst="rect">
            <a:avLst/>
          </a:prstGeom>
          <a:solidFill>
            <a:srgbClr val="FFFFFF">
              <a:alpha val="14000"/>
            </a:srgbClr>
          </a:solidFill>
          <a:ln>
            <a:no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TODAY</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What we will cover</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71600"/>
            <a:ext cx="1920240" cy="2194560"/>
          </a:xfrm>
          <a:prstGeom prst="rect">
            <a:avLst/>
          </a:prstGeom>
          <a:solidFill>
            <a:srgbClr val="FFFFFF"/>
          </a:solidFill>
          <a:ln w="9525">
            <a:solidFill>
              <a:srgbClr val="D6CCE6"/>
            </a:solidFill>
          </a:ln>
        </p:spPr>
      </p:sp>
      <p:sp>
        <p:nvSpPr>
          <p:cNvPr id="7" name="Shape 4"/>
          <p:cNvSpPr/>
          <p:nvPr/>
        </p:nvSpPr>
        <p:spPr>
          <a:xfrm>
            <a:off x="621792" y="153619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50492"/>
            <a:ext cx="228600" cy="228600"/>
          </a:xfrm>
          <a:prstGeom prst="rect">
            <a:avLst/>
          </a:prstGeom>
        </p:spPr>
      </p:pic>
      <p:sp>
        <p:nvSpPr>
          <p:cNvPr id="9" name="Text 5"/>
          <p:cNvSpPr txBox="1"/>
          <p:nvPr/>
        </p:nvSpPr>
        <p:spPr>
          <a:xfrm>
            <a:off x="621792" y="2084832"/>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Part 1: Fundamentals</a:t>
            </a:r>
            <a:endParaRPr lang="en-US" sz="1400" dirty="0"/>
          </a:p>
        </p:txBody>
      </p:sp>
      <p:sp>
        <p:nvSpPr>
          <p:cNvPr id="10" name="Text 6"/>
          <p:cNvSpPr txBox="1"/>
          <p:nvPr/>
        </p:nvSpPr>
        <p:spPr>
          <a:xfrm>
            <a:off x="621792" y="2389378"/>
            <a:ext cx="1591056" cy="108534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Requests, responses, data formats, authentication, documentation</a:t>
            </a:r>
            <a:endParaRPr lang="en-US" sz="1200" dirty="0"/>
          </a:p>
        </p:txBody>
      </p:sp>
      <p:sp>
        <p:nvSpPr>
          <p:cNvPr id="11" name="Shape 7"/>
          <p:cNvSpPr/>
          <p:nvPr/>
        </p:nvSpPr>
        <p:spPr>
          <a:xfrm>
            <a:off x="2560320" y="1371600"/>
            <a:ext cx="1920240" cy="2194560"/>
          </a:xfrm>
          <a:prstGeom prst="rect">
            <a:avLst/>
          </a:prstGeom>
          <a:solidFill>
            <a:srgbClr val="FFFFFF"/>
          </a:solidFill>
          <a:ln w="9525">
            <a:solidFill>
              <a:srgbClr val="D6CCE6"/>
            </a:solidFill>
          </a:ln>
        </p:spPr>
      </p:sp>
      <p:sp>
        <p:nvSpPr>
          <p:cNvPr id="12" name="Shape 8"/>
          <p:cNvSpPr/>
          <p:nvPr/>
        </p:nvSpPr>
        <p:spPr>
          <a:xfrm>
            <a:off x="2724912" y="153619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2839212" y="1650492"/>
            <a:ext cx="228600" cy="228600"/>
          </a:xfrm>
          <a:prstGeom prst="rect">
            <a:avLst/>
          </a:prstGeom>
        </p:spPr>
      </p:pic>
      <p:sp>
        <p:nvSpPr>
          <p:cNvPr id="14" name="Text 9"/>
          <p:cNvSpPr txBox="1"/>
          <p:nvPr/>
        </p:nvSpPr>
        <p:spPr>
          <a:xfrm>
            <a:off x="2724912" y="2084832"/>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Part 2: API types</a:t>
            </a:r>
            <a:endParaRPr lang="en-US" sz="1400" dirty="0"/>
          </a:p>
        </p:txBody>
      </p:sp>
      <p:sp>
        <p:nvSpPr>
          <p:cNvPr id="15" name="Text 10"/>
          <p:cNvSpPr txBox="1"/>
          <p:nvPr/>
        </p:nvSpPr>
        <p:spPr>
          <a:xfrm>
            <a:off x="2724912" y="2389378"/>
            <a:ext cx="1591056" cy="108534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REST, SOAP, GraphQL: how to read and recognise each</a:t>
            </a:r>
            <a:endParaRPr lang="en-US" sz="1200" dirty="0"/>
          </a:p>
        </p:txBody>
      </p:sp>
      <p:sp>
        <p:nvSpPr>
          <p:cNvPr id="16" name="Shape 11"/>
          <p:cNvSpPr/>
          <p:nvPr/>
        </p:nvSpPr>
        <p:spPr>
          <a:xfrm>
            <a:off x="4663440" y="1371600"/>
            <a:ext cx="1920240" cy="2194560"/>
          </a:xfrm>
          <a:prstGeom prst="rect">
            <a:avLst/>
          </a:prstGeom>
          <a:solidFill>
            <a:srgbClr val="FFFFFF"/>
          </a:solidFill>
          <a:ln w="9525">
            <a:solidFill>
              <a:srgbClr val="D6CCE6"/>
            </a:solidFill>
          </a:ln>
        </p:spPr>
      </p:sp>
      <p:sp>
        <p:nvSpPr>
          <p:cNvPr id="17" name="Shape 12"/>
          <p:cNvSpPr/>
          <p:nvPr/>
        </p:nvSpPr>
        <p:spPr>
          <a:xfrm>
            <a:off x="4828032" y="1536192"/>
            <a:ext cx="457200" cy="45720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4942332" y="1650492"/>
            <a:ext cx="228600" cy="228600"/>
          </a:xfrm>
          <a:prstGeom prst="rect">
            <a:avLst/>
          </a:prstGeom>
        </p:spPr>
      </p:pic>
      <p:sp>
        <p:nvSpPr>
          <p:cNvPr id="19" name="Text 13"/>
          <p:cNvSpPr txBox="1"/>
          <p:nvPr/>
        </p:nvSpPr>
        <p:spPr>
          <a:xfrm>
            <a:off x="4828032" y="2084832"/>
            <a:ext cx="1591056" cy="48107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Part 3: OWASP API Top 10</a:t>
            </a:r>
            <a:endParaRPr lang="en-US" sz="1400" dirty="0"/>
          </a:p>
        </p:txBody>
      </p:sp>
      <p:sp>
        <p:nvSpPr>
          <p:cNvPr id="20" name="Text 14"/>
          <p:cNvSpPr txBox="1"/>
          <p:nvPr/>
        </p:nvSpPr>
        <p:spPr>
          <a:xfrm>
            <a:off x="4828032" y="2611628"/>
            <a:ext cx="1591056" cy="86309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Where APIs break, in ten categories</a:t>
            </a:r>
            <a:endParaRPr lang="en-US" sz="1200" dirty="0"/>
          </a:p>
        </p:txBody>
      </p:sp>
      <p:sp>
        <p:nvSpPr>
          <p:cNvPr id="21" name="Shape 15"/>
          <p:cNvSpPr/>
          <p:nvPr/>
        </p:nvSpPr>
        <p:spPr>
          <a:xfrm>
            <a:off x="6766560" y="1371600"/>
            <a:ext cx="1920240" cy="2194560"/>
          </a:xfrm>
          <a:prstGeom prst="rect">
            <a:avLst/>
          </a:prstGeom>
          <a:solidFill>
            <a:srgbClr val="FFFFFF"/>
          </a:solidFill>
          <a:ln w="9525">
            <a:solidFill>
              <a:srgbClr val="D6CCE6"/>
            </a:solidFill>
          </a:ln>
        </p:spPr>
      </p:sp>
      <p:sp>
        <p:nvSpPr>
          <p:cNvPr id="22" name="Shape 16"/>
          <p:cNvSpPr/>
          <p:nvPr/>
        </p:nvSpPr>
        <p:spPr>
          <a:xfrm>
            <a:off x="6931152" y="1536192"/>
            <a:ext cx="457200" cy="45720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7045452" y="1650492"/>
            <a:ext cx="228600" cy="228600"/>
          </a:xfrm>
          <a:prstGeom prst="rect">
            <a:avLst/>
          </a:prstGeom>
        </p:spPr>
      </p:pic>
      <p:sp>
        <p:nvSpPr>
          <p:cNvPr id="24" name="Text 17"/>
          <p:cNvSpPr txBox="1"/>
          <p:nvPr/>
        </p:nvSpPr>
        <p:spPr>
          <a:xfrm>
            <a:off x="6931152" y="2084832"/>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Hands-on labs</a:t>
            </a:r>
            <a:endParaRPr lang="en-US" sz="1400" dirty="0"/>
          </a:p>
        </p:txBody>
      </p:sp>
      <p:sp>
        <p:nvSpPr>
          <p:cNvPr id="25" name="Text 18"/>
          <p:cNvSpPr txBox="1"/>
          <p:nvPr/>
        </p:nvSpPr>
        <p:spPr>
          <a:xfrm>
            <a:off x="6931152" y="2389378"/>
            <a:ext cx="1591056" cy="108534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Practising on PortSwigger labs and public demo APIs</a:t>
            </a:r>
            <a:endParaRPr lang="en-US" sz="1200" dirty="0"/>
          </a:p>
        </p:txBody>
      </p:sp>
      <p:sp>
        <p:nvSpPr>
          <p:cNvPr id="26" name="Shape 19"/>
          <p:cNvSpPr/>
          <p:nvPr/>
        </p:nvSpPr>
        <p:spPr>
          <a:xfrm>
            <a:off x="457200" y="3794760"/>
            <a:ext cx="8229600" cy="777240"/>
          </a:xfrm>
          <a:prstGeom prst="rect">
            <a:avLst/>
          </a:prstGeom>
          <a:solidFill>
            <a:srgbClr val="FDEAE5"/>
          </a:solidFill>
          <a:ln w="12700">
            <a:solidFill>
              <a:srgbClr val="FDEAE5"/>
            </a:solidFill>
            <a:prstDash val="solid"/>
          </a:ln>
        </p:spPr>
      </p:sp>
      <p:sp>
        <p:nvSpPr>
          <p:cNvPr id="27" name="Shape 20"/>
          <p:cNvSpPr/>
          <p:nvPr/>
        </p:nvSpPr>
        <p:spPr>
          <a:xfrm>
            <a:off x="640080" y="3954780"/>
            <a:ext cx="457200" cy="457200"/>
          </a:xfrm>
          <a:prstGeom prst="roundRect">
            <a:avLst>
              <a:gd name="adj" fmla="val 24000"/>
            </a:avLst>
          </a:prstGeom>
          <a:solidFill>
            <a:srgbClr val="F2705A"/>
          </a:solidFill>
          <a:ln w="12700">
            <a:solidFill>
              <a:srgbClr val="F2705A"/>
            </a:solidFill>
            <a:prstDash val="solid"/>
          </a:ln>
        </p:spPr>
      </p:sp>
      <p:pic>
        <p:nvPicPr>
          <p:cNvPr id="28" name="Image 4" descr="preencoded.png"/>
          <p:cNvPicPr>
            <a:picLocks noChangeAspect="1"/>
          </p:cNvPicPr>
          <p:nvPr/>
        </p:nvPicPr>
        <p:blipFill>
          <a:blip r:embed="rId5"/>
          <a:stretch>
            <a:fillRect/>
          </a:stretch>
        </p:blipFill>
        <p:spPr>
          <a:xfrm>
            <a:off x="754380" y="4069080"/>
            <a:ext cx="228600" cy="228600"/>
          </a:xfrm>
          <a:prstGeom prst="rect">
            <a:avLst/>
          </a:prstGeom>
        </p:spPr>
      </p:pic>
      <p:sp>
        <p:nvSpPr>
          <p:cNvPr id="29" name="Text 21"/>
          <p:cNvSpPr txBox="1"/>
          <p:nvPr/>
        </p:nvSpPr>
        <p:spPr>
          <a:xfrm>
            <a:off x="1280160" y="3794760"/>
            <a:ext cx="7223760" cy="777240"/>
          </a:xfrm>
          <a:prstGeom prst="rect">
            <a:avLst/>
          </a:prstGeom>
          <a:noFill/>
        </p:spPr>
        <p:txBody>
          <a:bodyPr wrap="square" lIns="0" tIns="0" rIns="0" bIns="0" rtlCol="0" anchor="ctr"/>
          <a:lstStyle/>
          <a:p>
            <a:pPr marL="0" indent="0" algn="l">
              <a:buNone/>
            </a:pPr>
            <a:r>
              <a:rPr lang="en-US" sz="1400" b="1" dirty="0">
                <a:solidFill>
                  <a:srgbClr val="2A2433"/>
                </a:solidFill>
                <a:latin typeface="Calibri" pitchFamily="34" charset="0"/>
                <a:ea typeface="Calibri" pitchFamily="34" charset="-122"/>
                <a:cs typeface="Calibri" pitchFamily="34" charset="-120"/>
              </a:rPr>
              <a:t>How the day works:</a:t>
            </a:r>
            <a:r>
              <a:rPr lang="en-US" sz="1400" dirty="0">
                <a:solidFill>
                  <a:srgbClr val="2A2433"/>
                </a:solidFill>
                <a:latin typeface="Calibri" pitchFamily="34" charset="0"/>
                <a:ea typeface="Calibri" pitchFamily="34" charset="-122"/>
                <a:cs typeface="Calibri" pitchFamily="34" charset="-120"/>
              </a:rPr>
              <a:t> short explanations, "check your understanding" questions after each section, and live exercises. Ask questions any time.</a:t>
            </a:r>
            <a:endParaRPr lang="en-US" sz="14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B1B3F"/>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4572000" cy="457200"/>
          </a:xfrm>
          <a:prstGeom prst="rect">
            <a:avLst/>
          </a:prstGeom>
          <a:noFill/>
        </p:spPr>
        <p:txBody>
          <a:bodyPr wrap="square" lIns="0" tIns="0" rIns="0" bIns="0" rtlCol="0" anchor="ctr"/>
          <a:lstStyle/>
          <a:p>
            <a:pPr marL="0" indent="0">
              <a:buNone/>
            </a:pPr>
            <a:r>
              <a:rPr lang="en-US" sz="1600" b="1" kern="0" spc="400" dirty="0">
                <a:solidFill>
                  <a:srgbClr val="F2705A"/>
                </a:solidFill>
                <a:latin typeface="Calibri" pitchFamily="34" charset="0"/>
                <a:ea typeface="Calibri" pitchFamily="34" charset="-122"/>
                <a:cs typeface="Calibri" pitchFamily="34" charset="-120"/>
              </a:rPr>
              <a:t>PART 1</a:t>
            </a:r>
            <a:endParaRPr lang="en-US" sz="1600" dirty="0"/>
          </a:p>
        </p:txBody>
      </p:sp>
      <p:sp>
        <p:nvSpPr>
          <p:cNvPr id="3" name="Text 1"/>
          <p:cNvSpPr txBox="1"/>
          <p:nvPr/>
        </p:nvSpPr>
        <p:spPr>
          <a:xfrm>
            <a:off x="640080" y="1600200"/>
            <a:ext cx="7498080" cy="1005840"/>
          </a:xfrm>
          <a:prstGeom prst="rect">
            <a:avLst/>
          </a:prstGeom>
          <a:noFill/>
        </p:spPr>
        <p:txBody>
          <a:bodyPr wrap="square" lIns="0" tIns="0" rIns="0" bIns="0" rtlCol="0" anchor="t"/>
          <a:lstStyle/>
          <a:p>
            <a:pPr marL="0" indent="0">
              <a:buNone/>
            </a:pPr>
            <a:r>
              <a:rPr lang="en-US" sz="4200" b="1" dirty="0">
                <a:solidFill>
                  <a:srgbClr val="FFFFFF"/>
                </a:solidFill>
                <a:latin typeface="Arial" pitchFamily="34" charset="0"/>
                <a:ea typeface="Arial" pitchFamily="34" charset="-122"/>
                <a:cs typeface="Arial" pitchFamily="34" charset="-120"/>
              </a:rPr>
              <a:t>API Fundamentals</a:t>
            </a:r>
            <a:endParaRPr lang="en-US" sz="4200" dirty="0"/>
          </a:p>
        </p:txBody>
      </p:sp>
      <p:sp>
        <p:nvSpPr>
          <p:cNvPr id="4" name="Text 2"/>
          <p:cNvSpPr txBox="1"/>
          <p:nvPr/>
        </p:nvSpPr>
        <p:spPr>
          <a:xfrm>
            <a:off x="640080" y="2743200"/>
            <a:ext cx="6949440" cy="1005840"/>
          </a:xfrm>
          <a:prstGeom prst="rect">
            <a:avLst/>
          </a:prstGeom>
          <a:noFill/>
        </p:spPr>
        <p:txBody>
          <a:bodyPr wrap="square" lIns="0" tIns="0" rIns="0" bIns="0" rtlCol="0" anchor="t"/>
          <a:lstStyle/>
          <a:p>
            <a:pPr marL="0" indent="0">
              <a:buNone/>
            </a:pPr>
            <a:r>
              <a:rPr lang="en-US" sz="1800" dirty="0">
                <a:solidFill>
                  <a:srgbClr val="D9CCF2"/>
                </a:solidFill>
                <a:latin typeface="Calibri" pitchFamily="34" charset="0"/>
                <a:ea typeface="Calibri" pitchFamily="34" charset="-122"/>
                <a:cs typeface="Calibri" pitchFamily="34" charset="-120"/>
              </a:rPr>
              <a:t>What an API is, how requests and responses look, and how to read them like a tester.</a:t>
            </a:r>
            <a:endParaRPr lang="en-US" sz="1800" dirty="0"/>
          </a:p>
        </p:txBody>
      </p:sp>
      <p:sp>
        <p:nvSpPr>
          <p:cNvPr id="5" name="Text 3"/>
          <p:cNvSpPr txBox="1"/>
          <p:nvPr/>
        </p:nvSpPr>
        <p:spPr>
          <a:xfrm>
            <a:off x="640080" y="4206240"/>
            <a:ext cx="5486400" cy="320040"/>
          </a:xfrm>
          <a:prstGeom prst="rect">
            <a:avLst/>
          </a:prstGeom>
          <a:noFill/>
        </p:spPr>
        <p:txBody>
          <a:bodyPr wrap="square" lIns="0" tIns="0" rIns="0" bIns="0" rtlCol="0" anchor="ctr"/>
          <a:lstStyle/>
          <a:p>
            <a:pPr marL="0" indent="0">
              <a:buNone/>
            </a:pPr>
            <a:r>
              <a:rPr lang="en-US" sz="1200" dirty="0">
                <a:solidFill>
                  <a:srgbClr val="A99BC6"/>
                </a:solidFill>
                <a:latin typeface="Calibri" pitchFamily="34" charset="0"/>
                <a:ea typeface="Calibri" pitchFamily="34" charset="-122"/>
                <a:cs typeface="Calibri" pitchFamily="34" charset="-120"/>
              </a:rPr>
              <a:t>About 120 minutes</a:t>
            </a:r>
            <a:endParaRPr lang="en-US" sz="1200" dirty="0"/>
          </a:p>
        </p:txBody>
      </p:sp>
      <p:sp>
        <p:nvSpPr>
          <p:cNvPr id="6" name="Deco 0"/>
          <p:cNvSpPr/>
          <p:nvPr/>
        </p:nvSpPr>
        <p:spPr>
          <a:xfrm>
            <a:off x="6784848" y="411480"/>
            <a:ext cx="146304" cy="146304"/>
          </a:xfrm>
          <a:prstGeom prst="rect">
            <a:avLst/>
          </a:prstGeom>
          <a:solidFill>
            <a:srgbClr val="F2705A"/>
          </a:solidFill>
          <a:ln>
            <a:noFill/>
          </a:ln>
        </p:spPr>
      </p:sp>
      <p:sp>
        <p:nvSpPr>
          <p:cNvPr id="7" name="Deco 1"/>
          <p:cNvSpPr/>
          <p:nvPr/>
        </p:nvSpPr>
        <p:spPr>
          <a:xfrm>
            <a:off x="7022592" y="411480"/>
            <a:ext cx="146304" cy="146304"/>
          </a:xfrm>
          <a:prstGeom prst="rect">
            <a:avLst/>
          </a:prstGeom>
          <a:solidFill>
            <a:srgbClr val="FFFFFF">
              <a:alpha val="14000"/>
            </a:srgbClr>
          </a:solidFill>
          <a:ln>
            <a:noFill/>
          </a:ln>
        </p:spPr>
      </p:sp>
      <p:sp>
        <p:nvSpPr>
          <p:cNvPr id="8" name="Deco 2"/>
          <p:cNvSpPr/>
          <p:nvPr/>
        </p:nvSpPr>
        <p:spPr>
          <a:xfrm>
            <a:off x="7260336" y="411480"/>
            <a:ext cx="146304" cy="146304"/>
          </a:xfrm>
          <a:prstGeom prst="rect">
            <a:avLst/>
          </a:prstGeom>
          <a:solidFill>
            <a:srgbClr val="FFFFFF">
              <a:alpha val="14000"/>
            </a:srgbClr>
          </a:solidFill>
          <a:ln>
            <a:noFill/>
          </a:ln>
        </p:spPr>
      </p:sp>
      <p:sp>
        <p:nvSpPr>
          <p:cNvPr id="9" name="Deco 3"/>
          <p:cNvSpPr/>
          <p:nvPr/>
        </p:nvSpPr>
        <p:spPr>
          <a:xfrm>
            <a:off x="7498080" y="411480"/>
            <a:ext cx="146304" cy="146304"/>
          </a:xfrm>
          <a:prstGeom prst="rect">
            <a:avLst/>
          </a:prstGeom>
          <a:solidFill>
            <a:srgbClr val="FFFFFF">
              <a:alpha val="14000"/>
            </a:srgbClr>
          </a:solidFill>
          <a:ln>
            <a:noFill/>
          </a:ln>
        </p:spPr>
      </p:sp>
      <p:sp>
        <p:nvSpPr>
          <p:cNvPr id="10" name="Deco 4"/>
          <p:cNvSpPr/>
          <p:nvPr/>
        </p:nvSpPr>
        <p:spPr>
          <a:xfrm>
            <a:off x="7735824" y="411480"/>
            <a:ext cx="146304" cy="146304"/>
          </a:xfrm>
          <a:prstGeom prst="rect">
            <a:avLst/>
          </a:prstGeom>
          <a:solidFill>
            <a:srgbClr val="9C7AD6">
              <a:alpha val="70000"/>
            </a:srgbClr>
          </a:solidFill>
          <a:ln>
            <a:noFill/>
          </a:ln>
        </p:spPr>
      </p:sp>
      <p:sp>
        <p:nvSpPr>
          <p:cNvPr id="11" name="Deco 5"/>
          <p:cNvSpPr/>
          <p:nvPr/>
        </p:nvSpPr>
        <p:spPr>
          <a:xfrm>
            <a:off x="7973568" y="411480"/>
            <a:ext cx="146304" cy="146304"/>
          </a:xfrm>
          <a:prstGeom prst="rect">
            <a:avLst/>
          </a:prstGeom>
          <a:solidFill>
            <a:srgbClr val="F2705A"/>
          </a:solidFill>
          <a:ln>
            <a:noFill/>
          </a:ln>
        </p:spPr>
      </p:sp>
      <p:sp>
        <p:nvSpPr>
          <p:cNvPr id="12" name="Deco 6"/>
          <p:cNvSpPr/>
          <p:nvPr/>
        </p:nvSpPr>
        <p:spPr>
          <a:xfrm>
            <a:off x="8211312" y="411480"/>
            <a:ext cx="146304" cy="146304"/>
          </a:xfrm>
          <a:prstGeom prst="rect">
            <a:avLst/>
          </a:prstGeom>
          <a:solidFill>
            <a:srgbClr val="FFFFFF">
              <a:alpha val="14000"/>
            </a:srgbClr>
          </a:solidFill>
          <a:ln>
            <a:noFill/>
          </a:ln>
        </p:spPr>
      </p:sp>
      <p:sp>
        <p:nvSpPr>
          <p:cNvPr id="13" name="Deco 7"/>
          <p:cNvSpPr/>
          <p:nvPr/>
        </p:nvSpPr>
        <p:spPr>
          <a:xfrm>
            <a:off x="8449056" y="411480"/>
            <a:ext cx="146304" cy="146304"/>
          </a:xfrm>
          <a:prstGeom prst="rect">
            <a:avLst/>
          </a:prstGeom>
          <a:solidFill>
            <a:srgbClr val="FFFFFF">
              <a:alpha val="14000"/>
            </a:srgbClr>
          </a:solidFill>
          <a:ln>
            <a:noFill/>
          </a:ln>
        </p:spPr>
      </p:sp>
      <p:sp>
        <p:nvSpPr>
          <p:cNvPr id="14" name="Deco 8"/>
          <p:cNvSpPr/>
          <p:nvPr/>
        </p:nvSpPr>
        <p:spPr>
          <a:xfrm>
            <a:off x="6784848" y="649224"/>
            <a:ext cx="146304" cy="146304"/>
          </a:xfrm>
          <a:prstGeom prst="rect">
            <a:avLst/>
          </a:prstGeom>
          <a:solidFill>
            <a:srgbClr val="FFFFFF">
              <a:alpha val="14000"/>
            </a:srgbClr>
          </a:solidFill>
          <a:ln>
            <a:noFill/>
          </a:ln>
        </p:spPr>
      </p:sp>
      <p:sp>
        <p:nvSpPr>
          <p:cNvPr id="15" name="Deco 9"/>
          <p:cNvSpPr/>
          <p:nvPr/>
        </p:nvSpPr>
        <p:spPr>
          <a:xfrm>
            <a:off x="7022592" y="649224"/>
            <a:ext cx="146304" cy="146304"/>
          </a:xfrm>
          <a:prstGeom prst="rect">
            <a:avLst/>
          </a:prstGeom>
          <a:solidFill>
            <a:srgbClr val="9C7AD6">
              <a:alpha val="70000"/>
            </a:srgbClr>
          </a:solidFill>
          <a:ln>
            <a:noFill/>
          </a:ln>
        </p:spPr>
      </p:sp>
      <p:sp>
        <p:nvSpPr>
          <p:cNvPr id="16" name="Deco 10"/>
          <p:cNvSpPr/>
          <p:nvPr/>
        </p:nvSpPr>
        <p:spPr>
          <a:xfrm>
            <a:off x="7260336" y="649224"/>
            <a:ext cx="146304" cy="146304"/>
          </a:xfrm>
          <a:prstGeom prst="rect">
            <a:avLst/>
          </a:prstGeom>
          <a:solidFill>
            <a:srgbClr val="FFFFFF">
              <a:alpha val="14000"/>
            </a:srgbClr>
          </a:solidFill>
          <a:ln>
            <a:noFill/>
          </a:ln>
        </p:spPr>
      </p:sp>
      <p:sp>
        <p:nvSpPr>
          <p:cNvPr id="17" name="Deco 11"/>
          <p:cNvSpPr/>
          <p:nvPr/>
        </p:nvSpPr>
        <p:spPr>
          <a:xfrm>
            <a:off x="7498080" y="649224"/>
            <a:ext cx="146304" cy="146304"/>
          </a:xfrm>
          <a:prstGeom prst="rect">
            <a:avLst/>
          </a:prstGeom>
          <a:solidFill>
            <a:srgbClr val="FFFFFF">
              <a:alpha val="14000"/>
            </a:srgbClr>
          </a:solidFill>
          <a:ln>
            <a:noFill/>
          </a:ln>
        </p:spPr>
      </p:sp>
      <p:sp>
        <p:nvSpPr>
          <p:cNvPr id="18" name="Deco 12"/>
          <p:cNvSpPr/>
          <p:nvPr/>
        </p:nvSpPr>
        <p:spPr>
          <a:xfrm>
            <a:off x="7735824" y="649224"/>
            <a:ext cx="146304" cy="146304"/>
          </a:xfrm>
          <a:prstGeom prst="rect">
            <a:avLst/>
          </a:prstGeom>
          <a:solidFill>
            <a:srgbClr val="F2705A"/>
          </a:solidFill>
          <a:ln>
            <a:noFill/>
          </a:ln>
        </p:spPr>
      </p:sp>
      <p:sp>
        <p:nvSpPr>
          <p:cNvPr id="19" name="Deco 13"/>
          <p:cNvSpPr/>
          <p:nvPr/>
        </p:nvSpPr>
        <p:spPr>
          <a:xfrm>
            <a:off x="7973568" y="649224"/>
            <a:ext cx="146304" cy="146304"/>
          </a:xfrm>
          <a:prstGeom prst="rect">
            <a:avLst/>
          </a:prstGeom>
          <a:solidFill>
            <a:srgbClr val="9C7AD6">
              <a:alpha val="70000"/>
            </a:srgbClr>
          </a:solidFill>
          <a:ln>
            <a:noFill/>
          </a:ln>
        </p:spPr>
      </p:sp>
      <p:sp>
        <p:nvSpPr>
          <p:cNvPr id="20" name="Deco 14"/>
          <p:cNvSpPr/>
          <p:nvPr/>
        </p:nvSpPr>
        <p:spPr>
          <a:xfrm>
            <a:off x="8211312" y="649224"/>
            <a:ext cx="146304" cy="146304"/>
          </a:xfrm>
          <a:prstGeom prst="rect">
            <a:avLst/>
          </a:prstGeom>
          <a:solidFill>
            <a:srgbClr val="FFFFFF">
              <a:alpha val="14000"/>
            </a:srgbClr>
          </a:solidFill>
          <a:ln>
            <a:noFill/>
          </a:ln>
        </p:spPr>
      </p:sp>
      <p:sp>
        <p:nvSpPr>
          <p:cNvPr id="21" name="Deco 15"/>
          <p:cNvSpPr/>
          <p:nvPr/>
        </p:nvSpPr>
        <p:spPr>
          <a:xfrm>
            <a:off x="8449056" y="649224"/>
            <a:ext cx="146304" cy="146304"/>
          </a:xfrm>
          <a:prstGeom prst="rect">
            <a:avLst/>
          </a:prstGeom>
          <a:solidFill>
            <a:srgbClr val="FFFFFF">
              <a:alpha val="14000"/>
            </a:srgbClr>
          </a:solidFill>
          <a:ln>
            <a:noFill/>
          </a:ln>
        </p:spPr>
      </p:sp>
      <p:sp>
        <p:nvSpPr>
          <p:cNvPr id="22" name="Deco 16"/>
          <p:cNvSpPr/>
          <p:nvPr/>
        </p:nvSpPr>
        <p:spPr>
          <a:xfrm>
            <a:off x="6784848" y="886968"/>
            <a:ext cx="146304" cy="146304"/>
          </a:xfrm>
          <a:prstGeom prst="rect">
            <a:avLst/>
          </a:prstGeom>
          <a:solidFill>
            <a:srgbClr val="FFFFFF">
              <a:alpha val="14000"/>
            </a:srgbClr>
          </a:solidFill>
          <a:ln>
            <a:noFill/>
          </a:ln>
        </p:spPr>
      </p:sp>
      <p:sp>
        <p:nvSpPr>
          <p:cNvPr id="23" name="Deco 17"/>
          <p:cNvSpPr/>
          <p:nvPr/>
        </p:nvSpPr>
        <p:spPr>
          <a:xfrm>
            <a:off x="7022592" y="886968"/>
            <a:ext cx="146304" cy="146304"/>
          </a:xfrm>
          <a:prstGeom prst="rect">
            <a:avLst/>
          </a:prstGeom>
          <a:solidFill>
            <a:srgbClr val="FFFFFF">
              <a:alpha val="14000"/>
            </a:srgbClr>
          </a:solidFill>
          <a:ln>
            <a:noFill/>
          </a:ln>
        </p:spPr>
      </p:sp>
      <p:sp>
        <p:nvSpPr>
          <p:cNvPr id="24" name="Deco 18"/>
          <p:cNvSpPr/>
          <p:nvPr/>
        </p:nvSpPr>
        <p:spPr>
          <a:xfrm>
            <a:off x="7260336" y="886968"/>
            <a:ext cx="146304" cy="146304"/>
          </a:xfrm>
          <a:prstGeom prst="rect">
            <a:avLst/>
          </a:prstGeom>
          <a:solidFill>
            <a:srgbClr val="9C7AD6">
              <a:alpha val="70000"/>
            </a:srgbClr>
          </a:solidFill>
          <a:ln>
            <a:noFill/>
          </a:ln>
        </p:spPr>
      </p:sp>
      <p:sp>
        <p:nvSpPr>
          <p:cNvPr id="25" name="Deco 19"/>
          <p:cNvSpPr/>
          <p:nvPr/>
        </p:nvSpPr>
        <p:spPr>
          <a:xfrm>
            <a:off x="7498080" y="886968"/>
            <a:ext cx="146304" cy="146304"/>
          </a:xfrm>
          <a:prstGeom prst="rect">
            <a:avLst/>
          </a:prstGeom>
          <a:solidFill>
            <a:srgbClr val="F2705A"/>
          </a:solidFill>
          <a:ln>
            <a:noFill/>
          </a:ln>
        </p:spPr>
      </p:sp>
      <p:sp>
        <p:nvSpPr>
          <p:cNvPr id="26" name="Deco 20"/>
          <p:cNvSpPr/>
          <p:nvPr/>
        </p:nvSpPr>
        <p:spPr>
          <a:xfrm>
            <a:off x="7735824" y="886968"/>
            <a:ext cx="146304" cy="146304"/>
          </a:xfrm>
          <a:prstGeom prst="rect">
            <a:avLst/>
          </a:prstGeom>
          <a:solidFill>
            <a:srgbClr val="FFFFFF">
              <a:alpha val="14000"/>
            </a:srgbClr>
          </a:solidFill>
          <a:ln>
            <a:noFill/>
          </a:ln>
        </p:spPr>
      </p:sp>
      <p:sp>
        <p:nvSpPr>
          <p:cNvPr id="27" name="Deco 21"/>
          <p:cNvSpPr/>
          <p:nvPr/>
        </p:nvSpPr>
        <p:spPr>
          <a:xfrm>
            <a:off x="7973568" y="886968"/>
            <a:ext cx="146304" cy="146304"/>
          </a:xfrm>
          <a:prstGeom prst="rect">
            <a:avLst/>
          </a:prstGeom>
          <a:solidFill>
            <a:srgbClr val="FFFFFF">
              <a:alpha val="14000"/>
            </a:srgbClr>
          </a:solidFill>
          <a:ln>
            <a:noFill/>
          </a:ln>
        </p:spPr>
      </p:sp>
      <p:sp>
        <p:nvSpPr>
          <p:cNvPr id="28" name="Deco 22"/>
          <p:cNvSpPr/>
          <p:nvPr/>
        </p:nvSpPr>
        <p:spPr>
          <a:xfrm>
            <a:off x="8211312" y="886968"/>
            <a:ext cx="146304" cy="146304"/>
          </a:xfrm>
          <a:prstGeom prst="rect">
            <a:avLst/>
          </a:prstGeom>
          <a:solidFill>
            <a:srgbClr val="9C7AD6">
              <a:alpha val="70000"/>
            </a:srgbClr>
          </a:solidFill>
          <a:ln>
            <a:noFill/>
          </a:ln>
        </p:spPr>
      </p:sp>
      <p:sp>
        <p:nvSpPr>
          <p:cNvPr id="29" name="Deco 23"/>
          <p:cNvSpPr/>
          <p:nvPr/>
        </p:nvSpPr>
        <p:spPr>
          <a:xfrm>
            <a:off x="8449056" y="886968"/>
            <a:ext cx="146304" cy="146304"/>
          </a:xfrm>
          <a:prstGeom prst="rect">
            <a:avLst/>
          </a:prstGeom>
          <a:solidFill>
            <a:srgbClr val="FFFFFF">
              <a:alpha val="14000"/>
            </a:srgbClr>
          </a:solidFill>
          <a:ln>
            <a:no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1.1 · WHAT IS AN API</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What is an API?</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364361"/>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280160"/>
            <a:ext cx="7973568" cy="49225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An </a:t>
            </a:r>
            <a:r>
              <a:rPr lang="en-US" sz="1500" b="1" dirty="0">
                <a:solidFill>
                  <a:srgbClr val="2A2433"/>
                </a:solidFill>
                <a:latin typeface="Calibri" pitchFamily="34" charset="0"/>
                <a:ea typeface="Calibri" pitchFamily="34" charset="-122"/>
                <a:cs typeface="Calibri" pitchFamily="34" charset="-120"/>
              </a:rPr>
              <a:t>API (Application Programming Interface)</a:t>
            </a:r>
            <a:r>
              <a:rPr lang="en-US" sz="1500" dirty="0">
                <a:solidFill>
                  <a:srgbClr val="2A2433"/>
                </a:solidFill>
                <a:latin typeface="Calibri" pitchFamily="34" charset="0"/>
                <a:ea typeface="Calibri" pitchFamily="34" charset="-122"/>
                <a:cs typeface="Calibri" pitchFamily="34" charset="-120"/>
              </a:rPr>
              <a:t> is a defined way for one piece of software to ask another to do something, or to hand over data</a:t>
            </a:r>
            <a:endParaRPr lang="en-US" sz="1500" dirty="0"/>
          </a:p>
        </p:txBody>
      </p:sp>
      <p:sp>
        <p:nvSpPr>
          <p:cNvPr id="8" name="Shape 5"/>
          <p:cNvSpPr/>
          <p:nvPr/>
        </p:nvSpPr>
        <p:spPr>
          <a:xfrm>
            <a:off x="502920" y="1948053"/>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863852"/>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The key word is </a:t>
            </a:r>
            <a:r>
              <a:rPr lang="en-US" sz="1500" b="1" dirty="0">
                <a:solidFill>
                  <a:srgbClr val="2A2433"/>
                </a:solidFill>
                <a:latin typeface="Calibri" pitchFamily="34" charset="0"/>
                <a:ea typeface="Calibri" pitchFamily="34" charset="-122"/>
                <a:cs typeface="Calibri" pitchFamily="34" charset="-120"/>
              </a:rPr>
              <a:t>contract</a:t>
            </a:r>
            <a:r>
              <a:rPr lang="en-US" sz="1500" dirty="0">
                <a:solidFill>
                  <a:srgbClr val="2A2433"/>
                </a:solidFill>
                <a:latin typeface="Calibri" pitchFamily="34" charset="0"/>
                <a:ea typeface="Calibri" pitchFamily="34" charset="-122"/>
                <a:cs typeface="Calibri" pitchFamily="34" charset="-120"/>
              </a:rPr>
              <a:t>: send a request in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this</a:t>
            </a:r>
            <a:r>
              <a:rPr lang="en-US" sz="1500" dirty="0">
                <a:solidFill>
                  <a:srgbClr val="2A2433"/>
                </a:solidFill>
                <a:latin typeface="Calibri" pitchFamily="34" charset="0"/>
                <a:ea typeface="Calibri" pitchFamily="34" charset="-122"/>
                <a:cs typeface="Calibri" pitchFamily="34" charset="-120"/>
              </a:rPr>
              <a:t> shape, get a response in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that</a:t>
            </a:r>
            <a:r>
              <a:rPr lang="en-US" sz="1500" dirty="0">
                <a:solidFill>
                  <a:srgbClr val="2A2433"/>
                </a:solidFill>
                <a:latin typeface="Calibri" pitchFamily="34" charset="0"/>
                <a:ea typeface="Calibri" pitchFamily="34" charset="-122"/>
                <a:cs typeface="Calibri" pitchFamily="34" charset="-120"/>
              </a:rPr>
              <a:t> shape</a:t>
            </a:r>
            <a:endParaRPr lang="en-US" sz="1500" dirty="0"/>
          </a:p>
        </p:txBody>
      </p:sp>
      <p:sp>
        <p:nvSpPr>
          <p:cNvPr id="10" name="Shape 7"/>
          <p:cNvSpPr/>
          <p:nvPr/>
        </p:nvSpPr>
        <p:spPr>
          <a:xfrm>
            <a:off x="502920" y="2299335"/>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215134"/>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Everything behind the contract stays hidden</a:t>
            </a:r>
            <a:endParaRPr lang="en-US" sz="1500" dirty="0"/>
          </a:p>
        </p:txBody>
      </p:sp>
      <p:sp>
        <p:nvSpPr>
          <p:cNvPr id="12" name="Shape 9"/>
          <p:cNvSpPr/>
          <p:nvPr/>
        </p:nvSpPr>
        <p:spPr>
          <a:xfrm>
            <a:off x="502920" y="2650617"/>
            <a:ext cx="82296" cy="82296"/>
          </a:xfrm>
          <a:prstGeom prst="rect">
            <a:avLst/>
          </a:prstGeom>
          <a:solidFill>
            <a:srgbClr val="F2705A"/>
          </a:solidFill>
          <a:ln w="12700">
            <a:solidFill>
              <a:srgbClr val="F2705A"/>
            </a:solidFill>
            <a:prstDash val="solid"/>
          </a:ln>
        </p:spPr>
      </p:sp>
      <p:sp>
        <p:nvSpPr>
          <p:cNvPr id="13" name="Text 10"/>
          <p:cNvSpPr txBox="1"/>
          <p:nvPr/>
        </p:nvSpPr>
        <p:spPr>
          <a:xfrm>
            <a:off x="713232" y="2566416"/>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In this bootcamp, </a:t>
            </a:r>
            <a:r>
              <a:rPr lang="en-US" sz="1500" b="1" dirty="0">
                <a:solidFill>
                  <a:srgbClr val="2A2433"/>
                </a:solidFill>
                <a:latin typeface="Calibri" pitchFamily="34" charset="0"/>
                <a:ea typeface="Calibri" pitchFamily="34" charset="-122"/>
                <a:cs typeface="Calibri" pitchFamily="34" charset="-120"/>
              </a:rPr>
              <a:t>API = web API</a:t>
            </a:r>
            <a:r>
              <a:rPr lang="en-US" sz="1500" dirty="0">
                <a:solidFill>
                  <a:srgbClr val="2A2433"/>
                </a:solidFill>
                <a:latin typeface="Calibri" pitchFamily="34" charset="0"/>
                <a:ea typeface="Calibri" pitchFamily="34" charset="-122"/>
                <a:cs typeface="Calibri" pitchFamily="34" charset="-120"/>
              </a:rPr>
              <a:t>: reached over HTTP(S) with requests and responses</a:t>
            </a:r>
            <a:endParaRPr lang="en-US" sz="1500" dirty="0"/>
          </a:p>
        </p:txBody>
      </p:sp>
      <p:sp>
        <p:nvSpPr>
          <p:cNvPr id="14" name="Shape 11"/>
          <p:cNvSpPr/>
          <p:nvPr/>
        </p:nvSpPr>
        <p:spPr>
          <a:xfrm>
            <a:off x="457200" y="3246120"/>
            <a:ext cx="2529840" cy="1371600"/>
          </a:xfrm>
          <a:prstGeom prst="rect">
            <a:avLst/>
          </a:prstGeom>
          <a:solidFill>
            <a:srgbClr val="FFFFFF"/>
          </a:solidFill>
          <a:ln w="9525">
            <a:solidFill>
              <a:srgbClr val="D6CCE6"/>
            </a:solidFill>
          </a:ln>
        </p:spPr>
      </p:sp>
      <p:sp>
        <p:nvSpPr>
          <p:cNvPr id="15" name="Shape 12"/>
          <p:cNvSpPr/>
          <p:nvPr/>
        </p:nvSpPr>
        <p:spPr>
          <a:xfrm>
            <a:off x="1493520" y="3383280"/>
            <a:ext cx="457200" cy="457200"/>
          </a:xfrm>
          <a:prstGeom prst="roundRect">
            <a:avLst>
              <a:gd name="adj" fmla="val 24000"/>
            </a:avLst>
          </a:prstGeom>
          <a:solidFill>
            <a:srgbClr val="6B35B5"/>
          </a:solidFill>
          <a:ln w="12700">
            <a:solidFill>
              <a:srgbClr val="6B35B5"/>
            </a:solidFill>
            <a:prstDash val="solid"/>
          </a:ln>
        </p:spPr>
      </p:sp>
      <p:pic>
        <p:nvPicPr>
          <p:cNvPr id="16" name="Image 0" descr="preencoded.png"/>
          <p:cNvPicPr>
            <a:picLocks noChangeAspect="1"/>
          </p:cNvPicPr>
          <p:nvPr/>
        </p:nvPicPr>
        <p:blipFill>
          <a:blip r:embed="rId1"/>
          <a:stretch>
            <a:fillRect/>
          </a:stretch>
        </p:blipFill>
        <p:spPr>
          <a:xfrm>
            <a:off x="1607820" y="3497580"/>
            <a:ext cx="228600" cy="228600"/>
          </a:xfrm>
          <a:prstGeom prst="rect">
            <a:avLst/>
          </a:prstGeom>
        </p:spPr>
      </p:pic>
      <p:sp>
        <p:nvSpPr>
          <p:cNvPr id="17" name="Text 13"/>
          <p:cNvSpPr txBox="1"/>
          <p:nvPr/>
        </p:nvSpPr>
        <p:spPr>
          <a:xfrm>
            <a:off x="548640" y="3904488"/>
            <a:ext cx="234696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Client</a:t>
            </a:r>
            <a:endParaRPr lang="en-US" sz="1300" dirty="0"/>
          </a:p>
        </p:txBody>
      </p:sp>
      <p:sp>
        <p:nvSpPr>
          <p:cNvPr id="18" name="Text 14"/>
          <p:cNvSpPr txBox="1"/>
          <p:nvPr/>
        </p:nvSpPr>
        <p:spPr>
          <a:xfrm>
            <a:off x="548640" y="4215384"/>
            <a:ext cx="2346960" cy="329184"/>
          </a:xfrm>
          <a:prstGeom prst="rect">
            <a:avLst/>
          </a:prstGeom>
          <a:noFill/>
        </p:spPr>
        <p:txBody>
          <a:bodyPr wrap="square" lIns="0" tIns="0" rIns="0" bIns="0" rtlCol="0" anchor="t"/>
          <a:lstStyle/>
          <a:p>
            <a:pPr marL="0" indent="0" algn="ctr">
              <a:buNone/>
            </a:pPr>
            <a:r>
              <a:rPr lang="en-US" sz="1100" dirty="0">
                <a:solidFill>
                  <a:srgbClr val="2A2433"/>
                </a:solidFill>
                <a:latin typeface="Calibri" pitchFamily="34" charset="0"/>
                <a:ea typeface="Calibri" pitchFamily="34" charset="-122"/>
                <a:cs typeface="Calibri" pitchFamily="34" charset="-120"/>
              </a:rPr>
              <a:t>Browser, mobile app, script, another server</a:t>
            </a:r>
            <a:endParaRPr lang="en-US" sz="1100" dirty="0"/>
          </a:p>
        </p:txBody>
      </p:sp>
      <p:sp>
        <p:nvSpPr>
          <p:cNvPr id="19" name="Shape 15"/>
          <p:cNvSpPr/>
          <p:nvPr/>
        </p:nvSpPr>
        <p:spPr>
          <a:xfrm>
            <a:off x="3023616" y="3813048"/>
            <a:ext cx="246888" cy="237744"/>
          </a:xfrm>
          <a:prstGeom prst="rightArrow">
            <a:avLst/>
          </a:prstGeom>
          <a:solidFill>
            <a:srgbClr val="F2705A"/>
          </a:solidFill>
          <a:ln w="12700">
            <a:solidFill>
              <a:srgbClr val="F2705A"/>
            </a:solidFill>
            <a:prstDash val="solid"/>
          </a:ln>
        </p:spPr>
      </p:sp>
      <p:sp>
        <p:nvSpPr>
          <p:cNvPr id="20" name="Shape 16"/>
          <p:cNvSpPr/>
          <p:nvPr/>
        </p:nvSpPr>
        <p:spPr>
          <a:xfrm>
            <a:off x="3307080" y="3246120"/>
            <a:ext cx="2529840" cy="1371600"/>
          </a:xfrm>
          <a:prstGeom prst="rect">
            <a:avLst/>
          </a:prstGeom>
          <a:solidFill>
            <a:srgbClr val="FDEAE5"/>
          </a:solidFill>
          <a:ln w="12700">
            <a:solidFill>
              <a:srgbClr val="FDEAE5"/>
            </a:solidFill>
            <a:prstDash val="solid"/>
          </a:ln>
        </p:spPr>
      </p:sp>
      <p:sp>
        <p:nvSpPr>
          <p:cNvPr id="21" name="Shape 17"/>
          <p:cNvSpPr/>
          <p:nvPr/>
        </p:nvSpPr>
        <p:spPr>
          <a:xfrm>
            <a:off x="4343400" y="3383280"/>
            <a:ext cx="457200" cy="457200"/>
          </a:xfrm>
          <a:prstGeom prst="roundRect">
            <a:avLst>
              <a:gd name="adj" fmla="val 24000"/>
            </a:avLst>
          </a:prstGeom>
          <a:solidFill>
            <a:srgbClr val="F2705A"/>
          </a:solidFill>
          <a:ln w="12700">
            <a:solidFill>
              <a:srgbClr val="F2705A"/>
            </a:solidFill>
            <a:prstDash val="solid"/>
          </a:ln>
        </p:spPr>
      </p:sp>
      <p:pic>
        <p:nvPicPr>
          <p:cNvPr id="22" name="Image 1" descr="preencoded.png"/>
          <p:cNvPicPr>
            <a:picLocks noChangeAspect="1"/>
          </p:cNvPicPr>
          <p:nvPr/>
        </p:nvPicPr>
        <p:blipFill>
          <a:blip r:embed="rId2"/>
          <a:stretch>
            <a:fillRect/>
          </a:stretch>
        </p:blipFill>
        <p:spPr>
          <a:xfrm>
            <a:off x="4457700" y="3497580"/>
            <a:ext cx="228600" cy="228600"/>
          </a:xfrm>
          <a:prstGeom prst="rect">
            <a:avLst/>
          </a:prstGeom>
        </p:spPr>
      </p:pic>
      <p:sp>
        <p:nvSpPr>
          <p:cNvPr id="23" name="Text 18"/>
          <p:cNvSpPr txBox="1"/>
          <p:nvPr/>
        </p:nvSpPr>
        <p:spPr>
          <a:xfrm>
            <a:off x="3398520" y="3904488"/>
            <a:ext cx="234696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API (the contract)</a:t>
            </a:r>
            <a:endParaRPr lang="en-US" sz="1300" dirty="0"/>
          </a:p>
        </p:txBody>
      </p:sp>
      <p:sp>
        <p:nvSpPr>
          <p:cNvPr id="24" name="Text 19"/>
          <p:cNvSpPr txBox="1"/>
          <p:nvPr/>
        </p:nvSpPr>
        <p:spPr>
          <a:xfrm>
            <a:off x="3398520" y="4215384"/>
            <a:ext cx="2346960" cy="329184"/>
          </a:xfrm>
          <a:prstGeom prst="rect">
            <a:avLst/>
          </a:prstGeom>
          <a:noFill/>
        </p:spPr>
        <p:txBody>
          <a:bodyPr wrap="square" lIns="0" tIns="0" rIns="0" bIns="0" rtlCol="0" anchor="t"/>
          <a:lstStyle/>
          <a:p>
            <a:pPr marL="0" indent="0" algn="ctr">
              <a:buNone/>
            </a:pPr>
            <a:r>
              <a:rPr lang="en-US" sz="1100" dirty="0">
                <a:solidFill>
                  <a:srgbClr val="2A2433"/>
                </a:solidFill>
                <a:latin typeface="Calibri" pitchFamily="34" charset="0"/>
                <a:ea typeface="Calibri" pitchFamily="34" charset="-122"/>
                <a:cs typeface="Calibri" pitchFamily="34" charset="-120"/>
              </a:rPr>
              <a:t>Defined requests and responses</a:t>
            </a:r>
            <a:endParaRPr lang="en-US" sz="1100" dirty="0"/>
          </a:p>
        </p:txBody>
      </p:sp>
      <p:sp>
        <p:nvSpPr>
          <p:cNvPr id="25" name="Shape 20"/>
          <p:cNvSpPr/>
          <p:nvPr/>
        </p:nvSpPr>
        <p:spPr>
          <a:xfrm>
            <a:off x="5873496" y="3813048"/>
            <a:ext cx="246888" cy="237744"/>
          </a:xfrm>
          <a:prstGeom prst="rightArrow">
            <a:avLst/>
          </a:prstGeom>
          <a:solidFill>
            <a:srgbClr val="F2705A"/>
          </a:solidFill>
          <a:ln w="12700">
            <a:solidFill>
              <a:srgbClr val="F2705A"/>
            </a:solidFill>
            <a:prstDash val="solid"/>
          </a:ln>
        </p:spPr>
      </p:sp>
      <p:sp>
        <p:nvSpPr>
          <p:cNvPr id="26" name="Shape 21"/>
          <p:cNvSpPr/>
          <p:nvPr/>
        </p:nvSpPr>
        <p:spPr>
          <a:xfrm>
            <a:off x="6156960" y="3246120"/>
            <a:ext cx="2529840" cy="1371600"/>
          </a:xfrm>
          <a:prstGeom prst="rect">
            <a:avLst/>
          </a:prstGeom>
          <a:solidFill>
            <a:srgbClr val="FFFFFF"/>
          </a:solidFill>
          <a:ln w="9525">
            <a:solidFill>
              <a:srgbClr val="D6CCE6"/>
            </a:solidFill>
          </a:ln>
        </p:spPr>
      </p:sp>
      <p:sp>
        <p:nvSpPr>
          <p:cNvPr id="27" name="Shape 22"/>
          <p:cNvSpPr/>
          <p:nvPr/>
        </p:nvSpPr>
        <p:spPr>
          <a:xfrm>
            <a:off x="7193280" y="3383280"/>
            <a:ext cx="457200" cy="457200"/>
          </a:xfrm>
          <a:prstGeom prst="roundRect">
            <a:avLst>
              <a:gd name="adj" fmla="val 24000"/>
            </a:avLst>
          </a:prstGeom>
          <a:solidFill>
            <a:srgbClr val="6B35B5"/>
          </a:solidFill>
          <a:ln w="12700">
            <a:solidFill>
              <a:srgbClr val="6B35B5"/>
            </a:solidFill>
            <a:prstDash val="solid"/>
          </a:ln>
        </p:spPr>
      </p:sp>
      <p:pic>
        <p:nvPicPr>
          <p:cNvPr id="28" name="Image 2" descr="preencoded.png"/>
          <p:cNvPicPr>
            <a:picLocks noChangeAspect="1"/>
          </p:cNvPicPr>
          <p:nvPr/>
        </p:nvPicPr>
        <p:blipFill>
          <a:blip r:embed="rId3"/>
          <a:stretch>
            <a:fillRect/>
          </a:stretch>
        </p:blipFill>
        <p:spPr>
          <a:xfrm>
            <a:off x="7307580" y="3497580"/>
            <a:ext cx="228600" cy="228600"/>
          </a:xfrm>
          <a:prstGeom prst="rect">
            <a:avLst/>
          </a:prstGeom>
        </p:spPr>
      </p:pic>
      <p:sp>
        <p:nvSpPr>
          <p:cNvPr id="29" name="Text 23"/>
          <p:cNvSpPr txBox="1"/>
          <p:nvPr/>
        </p:nvSpPr>
        <p:spPr>
          <a:xfrm>
            <a:off x="6248400" y="3904488"/>
            <a:ext cx="234696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Backend</a:t>
            </a:r>
            <a:endParaRPr lang="en-US" sz="1300" dirty="0"/>
          </a:p>
        </p:txBody>
      </p:sp>
      <p:sp>
        <p:nvSpPr>
          <p:cNvPr id="30" name="Text 24"/>
          <p:cNvSpPr txBox="1"/>
          <p:nvPr/>
        </p:nvSpPr>
        <p:spPr>
          <a:xfrm>
            <a:off x="6248400" y="4215384"/>
            <a:ext cx="2346960" cy="329184"/>
          </a:xfrm>
          <a:prstGeom prst="rect">
            <a:avLst/>
          </a:prstGeom>
          <a:noFill/>
        </p:spPr>
        <p:txBody>
          <a:bodyPr wrap="square" lIns="0" tIns="0" rIns="0" bIns="0" rtlCol="0" anchor="t"/>
          <a:lstStyle/>
          <a:p>
            <a:pPr marL="0" indent="0" algn="ctr">
              <a:buNone/>
            </a:pPr>
            <a:r>
              <a:rPr lang="en-US" sz="1100" dirty="0">
                <a:solidFill>
                  <a:srgbClr val="2A2433"/>
                </a:solidFill>
                <a:latin typeface="Calibri" pitchFamily="34" charset="0"/>
                <a:ea typeface="Calibri" pitchFamily="34" charset="-122"/>
                <a:cs typeface="Calibri" pitchFamily="34" charset="-120"/>
              </a:rPr>
              <a:t>Business logic and data, hidden from the client</a:t>
            </a:r>
            <a:endParaRPr lang="en-US" sz="11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1.1 · WHAT IS AN API</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The restaurant analogy</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71600"/>
            <a:ext cx="2529840" cy="1600200"/>
          </a:xfrm>
          <a:prstGeom prst="rect">
            <a:avLst/>
          </a:prstGeom>
          <a:solidFill>
            <a:srgbClr val="FFFFFF"/>
          </a:solidFill>
          <a:ln w="9525">
            <a:solidFill>
              <a:srgbClr val="D6CCE6"/>
            </a:solidFill>
          </a:ln>
        </p:spPr>
      </p:sp>
      <p:sp>
        <p:nvSpPr>
          <p:cNvPr id="7" name="Shape 4"/>
          <p:cNvSpPr/>
          <p:nvPr/>
        </p:nvSpPr>
        <p:spPr>
          <a:xfrm>
            <a:off x="1493520" y="1508760"/>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1607820" y="1623060"/>
            <a:ext cx="228600" cy="228600"/>
          </a:xfrm>
          <a:prstGeom prst="rect">
            <a:avLst/>
          </a:prstGeom>
        </p:spPr>
      </p:pic>
      <p:sp>
        <p:nvSpPr>
          <p:cNvPr id="9" name="Text 5"/>
          <p:cNvSpPr txBox="1"/>
          <p:nvPr/>
        </p:nvSpPr>
        <p:spPr>
          <a:xfrm>
            <a:off x="548640" y="2029968"/>
            <a:ext cx="2346960" cy="274320"/>
          </a:xfrm>
          <a:prstGeom prst="rect">
            <a:avLst/>
          </a:prstGeom>
          <a:noFill/>
        </p:spPr>
        <p:txBody>
          <a:bodyPr wrap="square" lIns="0" tIns="0" rIns="0" bIns="0" rtlCol="0" anchor="ctr"/>
          <a:lstStyle/>
          <a:p>
            <a:pPr marL="0" indent="0" algn="ctr">
              <a:buNone/>
            </a:pPr>
            <a:r>
              <a:rPr lang="en-US" sz="1500" b="1" dirty="0">
                <a:solidFill>
                  <a:srgbClr val="2B1B3F"/>
                </a:solidFill>
                <a:latin typeface="Calibri" pitchFamily="34" charset="0"/>
                <a:ea typeface="Calibri" pitchFamily="34" charset="-122"/>
                <a:cs typeface="Calibri" pitchFamily="34" charset="-120"/>
              </a:rPr>
              <a:t>You</a:t>
            </a:r>
            <a:endParaRPr lang="en-US" sz="1500" dirty="0"/>
          </a:p>
        </p:txBody>
      </p:sp>
      <p:sp>
        <p:nvSpPr>
          <p:cNvPr id="10" name="Text 6"/>
          <p:cNvSpPr txBox="1"/>
          <p:nvPr/>
        </p:nvSpPr>
        <p:spPr>
          <a:xfrm>
            <a:off x="548640" y="2340864"/>
            <a:ext cx="2346960" cy="55778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the client</a:t>
            </a:r>
            <a:endParaRPr lang="en-US" sz="1200" dirty="0"/>
          </a:p>
        </p:txBody>
      </p:sp>
      <p:sp>
        <p:nvSpPr>
          <p:cNvPr id="11" name="Shape 7"/>
          <p:cNvSpPr/>
          <p:nvPr/>
        </p:nvSpPr>
        <p:spPr>
          <a:xfrm>
            <a:off x="3023616" y="2052828"/>
            <a:ext cx="246888" cy="237744"/>
          </a:xfrm>
          <a:prstGeom prst="rightArrow">
            <a:avLst/>
          </a:prstGeom>
          <a:solidFill>
            <a:srgbClr val="F2705A"/>
          </a:solidFill>
          <a:ln w="12700">
            <a:solidFill>
              <a:srgbClr val="F2705A"/>
            </a:solidFill>
            <a:prstDash val="solid"/>
          </a:ln>
        </p:spPr>
      </p:sp>
      <p:sp>
        <p:nvSpPr>
          <p:cNvPr id="12" name="Shape 8"/>
          <p:cNvSpPr/>
          <p:nvPr/>
        </p:nvSpPr>
        <p:spPr>
          <a:xfrm>
            <a:off x="3307080" y="1371600"/>
            <a:ext cx="2529840" cy="1600200"/>
          </a:xfrm>
          <a:prstGeom prst="rect">
            <a:avLst/>
          </a:prstGeom>
          <a:solidFill>
            <a:srgbClr val="FDEAE5"/>
          </a:solidFill>
          <a:ln w="12700">
            <a:solidFill>
              <a:srgbClr val="FDEAE5"/>
            </a:solidFill>
            <a:prstDash val="solid"/>
          </a:ln>
        </p:spPr>
      </p:sp>
      <p:sp>
        <p:nvSpPr>
          <p:cNvPr id="13" name="Shape 9"/>
          <p:cNvSpPr/>
          <p:nvPr/>
        </p:nvSpPr>
        <p:spPr>
          <a:xfrm>
            <a:off x="4343400" y="1508760"/>
            <a:ext cx="457200" cy="457200"/>
          </a:xfrm>
          <a:prstGeom prst="roundRect">
            <a:avLst>
              <a:gd name="adj" fmla="val 24000"/>
            </a:avLst>
          </a:prstGeom>
          <a:solidFill>
            <a:srgbClr val="F2705A"/>
          </a:solidFill>
          <a:ln w="12700">
            <a:solidFill>
              <a:srgbClr val="F2705A"/>
            </a:solidFill>
            <a:prstDash val="solid"/>
          </a:ln>
        </p:spPr>
      </p:sp>
      <p:pic>
        <p:nvPicPr>
          <p:cNvPr id="14" name="Image 1" descr="preencoded.png"/>
          <p:cNvPicPr>
            <a:picLocks noChangeAspect="1"/>
          </p:cNvPicPr>
          <p:nvPr/>
        </p:nvPicPr>
        <p:blipFill>
          <a:blip r:embed="rId2"/>
          <a:stretch>
            <a:fillRect/>
          </a:stretch>
        </p:blipFill>
        <p:spPr>
          <a:xfrm>
            <a:off x="4457700" y="1623060"/>
            <a:ext cx="228600" cy="228600"/>
          </a:xfrm>
          <a:prstGeom prst="rect">
            <a:avLst/>
          </a:prstGeom>
        </p:spPr>
      </p:pic>
      <p:sp>
        <p:nvSpPr>
          <p:cNvPr id="15" name="Text 10"/>
          <p:cNvSpPr txBox="1"/>
          <p:nvPr/>
        </p:nvSpPr>
        <p:spPr>
          <a:xfrm>
            <a:off x="3398520" y="2029968"/>
            <a:ext cx="2346960" cy="274320"/>
          </a:xfrm>
          <a:prstGeom prst="rect">
            <a:avLst/>
          </a:prstGeom>
          <a:noFill/>
        </p:spPr>
        <p:txBody>
          <a:bodyPr wrap="square" lIns="0" tIns="0" rIns="0" bIns="0" rtlCol="0" anchor="ctr"/>
          <a:lstStyle/>
          <a:p>
            <a:pPr marL="0" indent="0" algn="ctr">
              <a:buNone/>
            </a:pPr>
            <a:r>
              <a:rPr lang="en-US" sz="1500" b="1" dirty="0">
                <a:solidFill>
                  <a:srgbClr val="2B1B3F"/>
                </a:solidFill>
                <a:latin typeface="Calibri" pitchFamily="34" charset="0"/>
                <a:ea typeface="Calibri" pitchFamily="34" charset="-122"/>
                <a:cs typeface="Calibri" pitchFamily="34" charset="-120"/>
              </a:rPr>
              <a:t>The waiter</a:t>
            </a:r>
            <a:endParaRPr lang="en-US" sz="1500" dirty="0"/>
          </a:p>
        </p:txBody>
      </p:sp>
      <p:sp>
        <p:nvSpPr>
          <p:cNvPr id="16" name="Text 11"/>
          <p:cNvSpPr txBox="1"/>
          <p:nvPr/>
        </p:nvSpPr>
        <p:spPr>
          <a:xfrm>
            <a:off x="3398520" y="2340864"/>
            <a:ext cx="2346960" cy="55778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the API</a:t>
            </a:r>
            <a:endParaRPr lang="en-US" sz="1200" dirty="0"/>
          </a:p>
        </p:txBody>
      </p:sp>
      <p:sp>
        <p:nvSpPr>
          <p:cNvPr id="17" name="Shape 12"/>
          <p:cNvSpPr/>
          <p:nvPr/>
        </p:nvSpPr>
        <p:spPr>
          <a:xfrm>
            <a:off x="5873496" y="2052828"/>
            <a:ext cx="246888" cy="237744"/>
          </a:xfrm>
          <a:prstGeom prst="rightArrow">
            <a:avLst/>
          </a:prstGeom>
          <a:solidFill>
            <a:srgbClr val="F2705A"/>
          </a:solidFill>
          <a:ln w="12700">
            <a:solidFill>
              <a:srgbClr val="F2705A"/>
            </a:solidFill>
            <a:prstDash val="solid"/>
          </a:ln>
        </p:spPr>
      </p:sp>
      <p:sp>
        <p:nvSpPr>
          <p:cNvPr id="18" name="Shape 13"/>
          <p:cNvSpPr/>
          <p:nvPr/>
        </p:nvSpPr>
        <p:spPr>
          <a:xfrm>
            <a:off x="6156960" y="1371600"/>
            <a:ext cx="2529840" cy="1600200"/>
          </a:xfrm>
          <a:prstGeom prst="rect">
            <a:avLst/>
          </a:prstGeom>
          <a:solidFill>
            <a:srgbClr val="FFFFFF"/>
          </a:solidFill>
          <a:ln w="9525">
            <a:solidFill>
              <a:srgbClr val="D6CCE6"/>
            </a:solidFill>
          </a:ln>
        </p:spPr>
      </p:sp>
      <p:sp>
        <p:nvSpPr>
          <p:cNvPr id="19" name="Shape 14"/>
          <p:cNvSpPr/>
          <p:nvPr/>
        </p:nvSpPr>
        <p:spPr>
          <a:xfrm>
            <a:off x="7193280" y="1508760"/>
            <a:ext cx="457200" cy="457200"/>
          </a:xfrm>
          <a:prstGeom prst="roundRect">
            <a:avLst>
              <a:gd name="adj" fmla="val 24000"/>
            </a:avLst>
          </a:prstGeom>
          <a:solidFill>
            <a:srgbClr val="6B35B5"/>
          </a:solidFill>
          <a:ln w="12700">
            <a:solidFill>
              <a:srgbClr val="6B35B5"/>
            </a:solidFill>
            <a:prstDash val="solid"/>
          </a:ln>
        </p:spPr>
      </p:sp>
      <p:pic>
        <p:nvPicPr>
          <p:cNvPr id="20" name="Image 2" descr="preencoded.png"/>
          <p:cNvPicPr>
            <a:picLocks noChangeAspect="1"/>
          </p:cNvPicPr>
          <p:nvPr/>
        </p:nvPicPr>
        <p:blipFill>
          <a:blip r:embed="rId3"/>
          <a:stretch>
            <a:fillRect/>
          </a:stretch>
        </p:blipFill>
        <p:spPr>
          <a:xfrm>
            <a:off x="7307580" y="1623060"/>
            <a:ext cx="228600" cy="228600"/>
          </a:xfrm>
          <a:prstGeom prst="rect">
            <a:avLst/>
          </a:prstGeom>
        </p:spPr>
      </p:pic>
      <p:sp>
        <p:nvSpPr>
          <p:cNvPr id="21" name="Text 15"/>
          <p:cNvSpPr txBox="1"/>
          <p:nvPr/>
        </p:nvSpPr>
        <p:spPr>
          <a:xfrm>
            <a:off x="6248400" y="2029968"/>
            <a:ext cx="2346960" cy="274320"/>
          </a:xfrm>
          <a:prstGeom prst="rect">
            <a:avLst/>
          </a:prstGeom>
          <a:noFill/>
        </p:spPr>
        <p:txBody>
          <a:bodyPr wrap="square" lIns="0" tIns="0" rIns="0" bIns="0" rtlCol="0" anchor="ctr"/>
          <a:lstStyle/>
          <a:p>
            <a:pPr marL="0" indent="0" algn="ctr">
              <a:buNone/>
            </a:pPr>
            <a:r>
              <a:rPr lang="en-US" sz="1500" b="1" dirty="0">
                <a:solidFill>
                  <a:srgbClr val="2B1B3F"/>
                </a:solidFill>
                <a:latin typeface="Calibri" pitchFamily="34" charset="0"/>
                <a:ea typeface="Calibri" pitchFamily="34" charset="-122"/>
                <a:cs typeface="Calibri" pitchFamily="34" charset="-120"/>
              </a:rPr>
              <a:t>The kitchen</a:t>
            </a:r>
            <a:endParaRPr lang="en-US" sz="1500" dirty="0"/>
          </a:p>
        </p:txBody>
      </p:sp>
      <p:sp>
        <p:nvSpPr>
          <p:cNvPr id="22" name="Text 16"/>
          <p:cNvSpPr txBox="1"/>
          <p:nvPr/>
        </p:nvSpPr>
        <p:spPr>
          <a:xfrm>
            <a:off x="6248400" y="2340864"/>
            <a:ext cx="2346960" cy="55778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the backend: logic and databases</a:t>
            </a:r>
            <a:endParaRPr lang="en-US" sz="1200" dirty="0"/>
          </a:p>
        </p:txBody>
      </p:sp>
      <p:sp>
        <p:nvSpPr>
          <p:cNvPr id="23" name="Shape 17"/>
          <p:cNvSpPr/>
          <p:nvPr/>
        </p:nvSpPr>
        <p:spPr>
          <a:xfrm>
            <a:off x="457200" y="3291840"/>
            <a:ext cx="8229600" cy="731520"/>
          </a:xfrm>
          <a:prstGeom prst="rect">
            <a:avLst/>
          </a:prstGeom>
          <a:solidFill>
            <a:srgbClr val="FDEAE5"/>
          </a:solidFill>
          <a:ln w="12700">
            <a:solidFill>
              <a:srgbClr val="FDEAE5"/>
            </a:solidFill>
            <a:prstDash val="solid"/>
          </a:ln>
        </p:spPr>
      </p:sp>
      <p:sp>
        <p:nvSpPr>
          <p:cNvPr id="24" name="Shape 18"/>
          <p:cNvSpPr/>
          <p:nvPr/>
        </p:nvSpPr>
        <p:spPr>
          <a:xfrm>
            <a:off x="640080" y="3429000"/>
            <a:ext cx="457200" cy="457200"/>
          </a:xfrm>
          <a:prstGeom prst="roundRect">
            <a:avLst>
              <a:gd name="adj" fmla="val 24000"/>
            </a:avLst>
          </a:prstGeom>
          <a:solidFill>
            <a:srgbClr val="F2705A"/>
          </a:solidFill>
          <a:ln w="12700">
            <a:solidFill>
              <a:srgbClr val="F2705A"/>
            </a:solidFill>
            <a:prstDash val="solid"/>
          </a:ln>
        </p:spPr>
      </p:sp>
      <p:pic>
        <p:nvPicPr>
          <p:cNvPr id="25" name="Image 3" descr="preencoded.png"/>
          <p:cNvPicPr>
            <a:picLocks noChangeAspect="1"/>
          </p:cNvPicPr>
          <p:nvPr/>
        </p:nvPicPr>
        <p:blipFill>
          <a:blip r:embed="rId4"/>
          <a:stretch>
            <a:fillRect/>
          </a:stretch>
        </p:blipFill>
        <p:spPr>
          <a:xfrm>
            <a:off x="754380" y="3543300"/>
            <a:ext cx="228600" cy="228600"/>
          </a:xfrm>
          <a:prstGeom prst="rect">
            <a:avLst/>
          </a:prstGeom>
        </p:spPr>
      </p:pic>
      <p:sp>
        <p:nvSpPr>
          <p:cNvPr id="26" name="Text 19"/>
          <p:cNvSpPr txBox="1"/>
          <p:nvPr/>
        </p:nvSpPr>
        <p:spPr>
          <a:xfrm>
            <a:off x="1280160" y="3291840"/>
            <a:ext cx="7223760" cy="731520"/>
          </a:xfrm>
          <a:prstGeom prst="rect">
            <a:avLst/>
          </a:prstGeom>
          <a:noFill/>
        </p:spPr>
        <p:txBody>
          <a:bodyPr wrap="square" lIns="0" tIns="0" rIns="0" bIns="0" rtlCol="0" anchor="ctr"/>
          <a:lstStyle/>
          <a:p>
            <a:pPr marL="0" indent="0" algn="l">
              <a:buNone/>
            </a:pPr>
            <a:r>
              <a:rPr lang="en-US" sz="1500" b="1" dirty="0">
                <a:solidFill>
                  <a:srgbClr val="2A2433"/>
                </a:solidFill>
                <a:latin typeface="Calibri" pitchFamily="34" charset="0"/>
                <a:ea typeface="Calibri" pitchFamily="34" charset="-122"/>
                <a:cs typeface="Calibri" pitchFamily="34" charset="-120"/>
              </a:rPr>
              <a:t>The menu</a:t>
            </a:r>
            <a:r>
              <a:rPr lang="en-US" sz="1500" dirty="0">
                <a:solidFill>
                  <a:srgbClr val="2A2433"/>
                </a:solidFill>
                <a:latin typeface="Calibri" pitchFamily="34" charset="0"/>
                <a:ea typeface="Calibri" pitchFamily="34" charset="-122"/>
                <a:cs typeface="Calibri" pitchFamily="34" charset="-120"/>
              </a:rPr>
              <a:t> is the API documentation or specification: what you may ask for, and how.</a:t>
            </a:r>
            <a:endParaRPr lang="en-US" sz="1500" dirty="0"/>
          </a:p>
        </p:txBody>
      </p:sp>
      <p:sp>
        <p:nvSpPr>
          <p:cNvPr id="27" name="Text 20"/>
          <p:cNvSpPr txBox="1"/>
          <p:nvPr/>
        </p:nvSpPr>
        <p:spPr>
          <a:xfrm>
            <a:off x="457200" y="4206240"/>
            <a:ext cx="8229600" cy="457200"/>
          </a:xfrm>
          <a:prstGeom prst="rect">
            <a:avLst/>
          </a:prstGeom>
          <a:noFill/>
        </p:spPr>
        <p:txBody>
          <a:bodyPr wrap="square" lIns="0" tIns="0" rIns="0" bIns="0" rtlCol="0" anchor="t"/>
          <a:lstStyle/>
          <a:p>
            <a:pPr marL="0" indent="0" algn="l">
              <a:buNone/>
            </a:pPr>
            <a:r>
              <a:rPr lang="en-US" sz="1300" dirty="0">
                <a:solidFill>
                  <a:srgbClr val="655C73"/>
                </a:solidFill>
                <a:latin typeface="Calibri" pitchFamily="34" charset="0"/>
                <a:ea typeface="Calibri" pitchFamily="34" charset="-122"/>
                <a:cs typeface="Calibri" pitchFamily="34" charset="-120"/>
              </a:rPr>
              <a:t>Without an API, every client would need direct access to the database and business logic: unsafe, tightly coupled, hard to maintain.</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1.1 · WHAT IS AN API</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The analogy, security edition</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150876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367131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Does the waiter check who you are?</a:t>
            </a:r>
            <a:endParaRPr lang="en-US" sz="1400" dirty="0"/>
          </a:p>
        </p:txBody>
      </p:sp>
      <p:sp>
        <p:nvSpPr>
          <p:cNvPr id="10" name="Text 6"/>
          <p:cNvSpPr txBox="1"/>
          <p:nvPr/>
        </p:nvSpPr>
        <p:spPr>
          <a:xfrm>
            <a:off x="621792" y="2297938"/>
            <a:ext cx="3671316" cy="445262"/>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Authentication</a:t>
            </a:r>
            <a:endParaRPr lang="en-US" sz="1300" dirty="0"/>
          </a:p>
        </p:txBody>
      </p:sp>
      <p:sp>
        <p:nvSpPr>
          <p:cNvPr id="11" name="Shape 7"/>
          <p:cNvSpPr/>
          <p:nvPr/>
        </p:nvSpPr>
        <p:spPr>
          <a:xfrm>
            <a:off x="4686300" y="1325880"/>
            <a:ext cx="4000500" cy="1508760"/>
          </a:xfrm>
          <a:prstGeom prst="rect">
            <a:avLst/>
          </a:prstGeom>
          <a:solidFill>
            <a:srgbClr val="FFFFFF"/>
          </a:solidFill>
          <a:ln w="9525">
            <a:solidFill>
              <a:srgbClr val="D6CCE6"/>
            </a:solidFill>
          </a:ln>
        </p:spPr>
      </p:sp>
      <p:sp>
        <p:nvSpPr>
          <p:cNvPr id="12" name="Shape 8"/>
          <p:cNvSpPr/>
          <p:nvPr/>
        </p:nvSpPr>
        <p:spPr>
          <a:xfrm>
            <a:off x="485089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4953762" y="1593342"/>
            <a:ext cx="205740" cy="205740"/>
          </a:xfrm>
          <a:prstGeom prst="rect">
            <a:avLst/>
          </a:prstGeom>
        </p:spPr>
      </p:pic>
      <p:sp>
        <p:nvSpPr>
          <p:cNvPr id="14" name="Text 9"/>
          <p:cNvSpPr txBox="1"/>
          <p:nvPr/>
        </p:nvSpPr>
        <p:spPr>
          <a:xfrm>
            <a:off x="4850892" y="1993392"/>
            <a:ext cx="3671316" cy="48107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Are you allowed to order that, or see table 7's bill?</a:t>
            </a:r>
            <a:endParaRPr lang="en-US" sz="1400" dirty="0"/>
          </a:p>
        </p:txBody>
      </p:sp>
      <p:sp>
        <p:nvSpPr>
          <p:cNvPr id="15" name="Text 10"/>
          <p:cNvSpPr txBox="1"/>
          <p:nvPr/>
        </p:nvSpPr>
        <p:spPr>
          <a:xfrm>
            <a:off x="4850892" y="2520188"/>
            <a:ext cx="3671316" cy="274320"/>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Authorization</a:t>
            </a:r>
            <a:endParaRPr lang="en-US" sz="1300" dirty="0"/>
          </a:p>
        </p:txBody>
      </p:sp>
      <p:sp>
        <p:nvSpPr>
          <p:cNvPr id="16" name="Shape 11"/>
          <p:cNvSpPr/>
          <p:nvPr/>
        </p:nvSpPr>
        <p:spPr>
          <a:xfrm>
            <a:off x="457200" y="3063240"/>
            <a:ext cx="4000500" cy="1508760"/>
          </a:xfrm>
          <a:prstGeom prst="rect">
            <a:avLst/>
          </a:prstGeom>
          <a:solidFill>
            <a:srgbClr val="FFFFFF"/>
          </a:solidFill>
          <a:ln w="9525">
            <a:solidFill>
              <a:srgbClr val="D6CCE6"/>
            </a:solidFill>
          </a:ln>
        </p:spPr>
      </p:sp>
      <p:sp>
        <p:nvSpPr>
          <p:cNvPr id="17" name="Shape 12"/>
          <p:cNvSpPr/>
          <p:nvPr/>
        </p:nvSpPr>
        <p:spPr>
          <a:xfrm>
            <a:off x="621792" y="3227832"/>
            <a:ext cx="411480" cy="41148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724662" y="3330702"/>
            <a:ext cx="205740" cy="205740"/>
          </a:xfrm>
          <a:prstGeom prst="rect">
            <a:avLst/>
          </a:prstGeom>
        </p:spPr>
      </p:pic>
      <p:sp>
        <p:nvSpPr>
          <p:cNvPr id="19" name="Text 13"/>
          <p:cNvSpPr txBox="1"/>
          <p:nvPr/>
        </p:nvSpPr>
        <p:spPr>
          <a:xfrm>
            <a:off x="621792" y="3730752"/>
            <a:ext cx="367131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What if you order something not on the menu?</a:t>
            </a:r>
            <a:endParaRPr lang="en-US" sz="1400" dirty="0"/>
          </a:p>
        </p:txBody>
      </p:sp>
      <p:sp>
        <p:nvSpPr>
          <p:cNvPr id="20" name="Text 14"/>
          <p:cNvSpPr txBox="1"/>
          <p:nvPr/>
        </p:nvSpPr>
        <p:spPr>
          <a:xfrm>
            <a:off x="621792" y="4035298"/>
            <a:ext cx="3671316" cy="445262"/>
          </a:xfrm>
          <a:prstGeom prst="rect">
            <a:avLst/>
          </a:prstGeom>
          <a:noFill/>
        </p:spPr>
        <p:txBody>
          <a:bodyPr wrap="square" lIns="0" tIns="0" rIns="0" bIns="0" rtlCol="0" anchor="t"/>
          <a:lstStyle/>
          <a:p>
            <a:pPr marL="0" indent="0" algn="l">
              <a:buNone/>
            </a:pPr>
            <a:endParaRPr lang="en-US" sz="1300" dirty="0">
              <a:solidFill>
                <a:srgbClr val="2A2433"/>
              </a:solidFill>
              <a:latin typeface="Calibri" pitchFamily="34" charset="0"/>
              <a:ea typeface="Calibri" pitchFamily="34" charset="-122"/>
              <a:cs typeface="Calibri" pitchFamily="34" charset="-120"/>
            </a:endParaRPr>
          </a:p>
          <a:p>
            <a:pPr marL="0" indent="0" algn="l">
              <a:buNone/>
            </a:pPr>
            <a:r>
              <a:rPr lang="en-US" sz="1300" dirty="0">
                <a:solidFill>
                  <a:srgbClr val="2A2433"/>
                </a:solidFill>
                <a:latin typeface="Calibri" pitchFamily="34" charset="0"/>
                <a:ea typeface="Calibri" pitchFamily="34" charset="-122"/>
                <a:cs typeface="Calibri" pitchFamily="34" charset="-120"/>
              </a:rPr>
              <a:t>Input validation, hidden functionality</a:t>
            </a:r>
            <a:endParaRPr lang="en-US" sz="1300" dirty="0"/>
          </a:p>
        </p:txBody>
      </p:sp>
      <p:sp>
        <p:nvSpPr>
          <p:cNvPr id="21" name="Shape 15"/>
          <p:cNvSpPr/>
          <p:nvPr/>
        </p:nvSpPr>
        <p:spPr>
          <a:xfrm>
            <a:off x="4686300" y="3063240"/>
            <a:ext cx="4000500" cy="1508760"/>
          </a:xfrm>
          <a:prstGeom prst="rect">
            <a:avLst/>
          </a:prstGeom>
          <a:solidFill>
            <a:srgbClr val="FFFFFF"/>
          </a:solidFill>
          <a:ln w="9525">
            <a:solidFill>
              <a:srgbClr val="D6CCE6"/>
            </a:solidFill>
          </a:ln>
        </p:spPr>
      </p:sp>
      <p:sp>
        <p:nvSpPr>
          <p:cNvPr id="22" name="Shape 16"/>
          <p:cNvSpPr/>
          <p:nvPr/>
        </p:nvSpPr>
        <p:spPr>
          <a:xfrm>
            <a:off x="4850892" y="3227832"/>
            <a:ext cx="411480" cy="41148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4953762" y="3330702"/>
            <a:ext cx="205740" cy="205740"/>
          </a:xfrm>
          <a:prstGeom prst="rect">
            <a:avLst/>
          </a:prstGeom>
        </p:spPr>
      </p:pic>
      <p:sp>
        <p:nvSpPr>
          <p:cNvPr id="24" name="Text 17"/>
          <p:cNvSpPr txBox="1"/>
          <p:nvPr/>
        </p:nvSpPr>
        <p:spPr>
          <a:xfrm>
            <a:off x="4850892" y="3730752"/>
            <a:ext cx="367131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What if you order 10,000 steaks?</a:t>
            </a:r>
            <a:endParaRPr lang="en-US" sz="1400" dirty="0"/>
          </a:p>
        </p:txBody>
      </p:sp>
      <p:sp>
        <p:nvSpPr>
          <p:cNvPr id="25" name="Text 18"/>
          <p:cNvSpPr txBox="1"/>
          <p:nvPr/>
        </p:nvSpPr>
        <p:spPr>
          <a:xfrm>
            <a:off x="4850892" y="4035298"/>
            <a:ext cx="3671316" cy="445262"/>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Rate limiting, resource consumption</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1.2 · WHY APIS ARE USED</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Why APIs are used</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55448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Integration</a:t>
            </a:r>
            <a:endParaRPr lang="en-US" sz="1400" dirty="0"/>
          </a:p>
        </p:txBody>
      </p:sp>
      <p:sp>
        <p:nvSpPr>
          <p:cNvPr id="10" name="Text 6"/>
          <p:cNvSpPr txBox="1"/>
          <p:nvPr/>
        </p:nvSpPr>
        <p:spPr>
          <a:xfrm>
            <a:off x="621792" y="2297938"/>
            <a:ext cx="2292096" cy="4909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Systems exchange data. A shop calls a payment provider to charge a card.</a:t>
            </a:r>
            <a:endParaRPr lang="en-US" sz="1200" dirty="0"/>
          </a:p>
        </p:txBody>
      </p:sp>
      <p:sp>
        <p:nvSpPr>
          <p:cNvPr id="11" name="Shape 7"/>
          <p:cNvSpPr/>
          <p:nvPr/>
        </p:nvSpPr>
        <p:spPr>
          <a:xfrm>
            <a:off x="3261360" y="1325880"/>
            <a:ext cx="2621280" cy="1554480"/>
          </a:xfrm>
          <a:prstGeom prst="rect">
            <a:avLst/>
          </a:prstGeom>
          <a:solidFill>
            <a:srgbClr val="FFFFFF"/>
          </a:solidFill>
          <a:ln w="9525">
            <a:solidFill>
              <a:srgbClr val="D6CCE6"/>
            </a:solidFill>
          </a:ln>
        </p:spPr>
      </p:sp>
      <p:sp>
        <p:nvSpPr>
          <p:cNvPr id="12" name="Shape 8"/>
          <p:cNvSpPr/>
          <p:nvPr/>
        </p:nvSpPr>
        <p:spPr>
          <a:xfrm>
            <a:off x="342595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28822" y="1593342"/>
            <a:ext cx="205740" cy="205740"/>
          </a:xfrm>
          <a:prstGeom prst="rect">
            <a:avLst/>
          </a:prstGeom>
        </p:spPr>
      </p:pic>
      <p:sp>
        <p:nvSpPr>
          <p:cNvPr id="14" name="Text 9"/>
          <p:cNvSpPr txBox="1"/>
          <p:nvPr/>
        </p:nvSpPr>
        <p:spPr>
          <a:xfrm>
            <a:off x="3425952" y="1993392"/>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Decoupling</a:t>
            </a:r>
            <a:endParaRPr lang="en-US" sz="1400" dirty="0"/>
          </a:p>
        </p:txBody>
      </p:sp>
      <p:sp>
        <p:nvSpPr>
          <p:cNvPr id="15" name="Text 10"/>
          <p:cNvSpPr txBox="1"/>
          <p:nvPr/>
        </p:nvSpPr>
        <p:spPr>
          <a:xfrm>
            <a:off x="3425952" y="2297938"/>
            <a:ext cx="2292096" cy="4909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Frontend and backend evolve independently behind a stable contract.</a:t>
            </a:r>
            <a:endParaRPr lang="en-US" sz="1200" dirty="0"/>
          </a:p>
        </p:txBody>
      </p:sp>
      <p:sp>
        <p:nvSpPr>
          <p:cNvPr id="16" name="Shape 11"/>
          <p:cNvSpPr/>
          <p:nvPr/>
        </p:nvSpPr>
        <p:spPr>
          <a:xfrm>
            <a:off x="6065520" y="1325880"/>
            <a:ext cx="2621280" cy="1554480"/>
          </a:xfrm>
          <a:prstGeom prst="rect">
            <a:avLst/>
          </a:prstGeom>
          <a:solidFill>
            <a:srgbClr val="FFFFFF"/>
          </a:solidFill>
          <a:ln w="9525">
            <a:solidFill>
              <a:srgbClr val="D6CCE6"/>
            </a:solidFill>
          </a:ln>
        </p:spPr>
      </p:sp>
      <p:sp>
        <p:nvSpPr>
          <p:cNvPr id="17" name="Shape 12"/>
          <p:cNvSpPr/>
          <p:nvPr/>
        </p:nvSpPr>
        <p:spPr>
          <a:xfrm>
            <a:off x="6230112" y="1490472"/>
            <a:ext cx="411480" cy="41148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32982" y="1593342"/>
            <a:ext cx="205740" cy="205740"/>
          </a:xfrm>
          <a:prstGeom prst="rect">
            <a:avLst/>
          </a:prstGeom>
        </p:spPr>
      </p:pic>
      <p:sp>
        <p:nvSpPr>
          <p:cNvPr id="19" name="Text 13"/>
          <p:cNvSpPr txBox="1"/>
          <p:nvPr/>
        </p:nvSpPr>
        <p:spPr>
          <a:xfrm>
            <a:off x="6230112" y="1993392"/>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Mobile apps</a:t>
            </a:r>
            <a:endParaRPr lang="en-US" sz="1400" dirty="0"/>
          </a:p>
        </p:txBody>
      </p:sp>
      <p:sp>
        <p:nvSpPr>
          <p:cNvPr id="20" name="Text 14"/>
          <p:cNvSpPr txBox="1"/>
          <p:nvPr/>
        </p:nvSpPr>
        <p:spPr>
          <a:xfrm>
            <a:off x="6230112" y="2297938"/>
            <a:ext cx="2292096" cy="4909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No server-side rendering; the app fetches data over an API.</a:t>
            </a:r>
            <a:endParaRPr lang="en-US" sz="1200" dirty="0"/>
          </a:p>
        </p:txBody>
      </p:sp>
      <p:sp>
        <p:nvSpPr>
          <p:cNvPr id="21" name="Shape 15"/>
          <p:cNvSpPr/>
          <p:nvPr/>
        </p:nvSpPr>
        <p:spPr>
          <a:xfrm>
            <a:off x="457200" y="3063240"/>
            <a:ext cx="2621280" cy="1554480"/>
          </a:xfrm>
          <a:prstGeom prst="rect">
            <a:avLst/>
          </a:prstGeom>
          <a:solidFill>
            <a:srgbClr val="FFFFFF"/>
          </a:solidFill>
          <a:ln w="9525">
            <a:solidFill>
              <a:srgbClr val="D6CCE6"/>
            </a:solidFill>
          </a:ln>
        </p:spPr>
      </p:sp>
      <p:sp>
        <p:nvSpPr>
          <p:cNvPr id="22" name="Shape 16"/>
          <p:cNvSpPr/>
          <p:nvPr/>
        </p:nvSpPr>
        <p:spPr>
          <a:xfrm>
            <a:off x="621792" y="3227832"/>
            <a:ext cx="411480" cy="41148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724662" y="3330702"/>
            <a:ext cx="205740" cy="205740"/>
          </a:xfrm>
          <a:prstGeom prst="rect">
            <a:avLst/>
          </a:prstGeom>
        </p:spPr>
      </p:pic>
      <p:sp>
        <p:nvSpPr>
          <p:cNvPr id="24" name="Text 17"/>
          <p:cNvSpPr txBox="1"/>
          <p:nvPr/>
        </p:nvSpPr>
        <p:spPr>
          <a:xfrm>
            <a:off x="621792" y="3730752"/>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Microservices</a:t>
            </a:r>
            <a:endParaRPr lang="en-US" sz="1400" dirty="0"/>
          </a:p>
        </p:txBody>
      </p:sp>
      <p:sp>
        <p:nvSpPr>
          <p:cNvPr id="25" name="Text 18"/>
          <p:cNvSpPr txBox="1"/>
          <p:nvPr/>
        </p:nvSpPr>
        <p:spPr>
          <a:xfrm>
            <a:off x="621792" y="4035298"/>
            <a:ext cx="2292096" cy="4909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Small services call each other through APIs.</a:t>
            </a:r>
            <a:endParaRPr lang="en-US" sz="1200" dirty="0"/>
          </a:p>
        </p:txBody>
      </p:sp>
      <p:sp>
        <p:nvSpPr>
          <p:cNvPr id="26" name="Shape 19"/>
          <p:cNvSpPr/>
          <p:nvPr/>
        </p:nvSpPr>
        <p:spPr>
          <a:xfrm>
            <a:off x="3261360" y="3063240"/>
            <a:ext cx="2621280" cy="1554480"/>
          </a:xfrm>
          <a:prstGeom prst="rect">
            <a:avLst/>
          </a:prstGeom>
          <a:solidFill>
            <a:srgbClr val="FFFFFF"/>
          </a:solidFill>
          <a:ln w="9525">
            <a:solidFill>
              <a:srgbClr val="D6CCE6"/>
            </a:solidFill>
          </a:ln>
        </p:spPr>
      </p:sp>
      <p:sp>
        <p:nvSpPr>
          <p:cNvPr id="27" name="Shape 20"/>
          <p:cNvSpPr/>
          <p:nvPr/>
        </p:nvSpPr>
        <p:spPr>
          <a:xfrm>
            <a:off x="3425952" y="3227832"/>
            <a:ext cx="411480" cy="411480"/>
          </a:xfrm>
          <a:prstGeom prst="roundRect">
            <a:avLst>
              <a:gd name="adj" fmla="val 24000"/>
            </a:avLst>
          </a:prstGeom>
          <a:solidFill>
            <a:srgbClr val="6B35B5"/>
          </a:solidFill>
          <a:ln w="12700">
            <a:solidFill>
              <a:srgbClr val="6B35B5"/>
            </a:solidFill>
            <a:prstDash val="solid"/>
          </a:ln>
        </p:spPr>
      </p:sp>
      <p:pic>
        <p:nvPicPr>
          <p:cNvPr id="28" name="Image 4" descr="preencoded.png"/>
          <p:cNvPicPr>
            <a:picLocks noChangeAspect="1"/>
          </p:cNvPicPr>
          <p:nvPr/>
        </p:nvPicPr>
        <p:blipFill>
          <a:blip r:embed="rId5"/>
          <a:stretch>
            <a:fillRect/>
          </a:stretch>
        </p:blipFill>
        <p:spPr>
          <a:xfrm>
            <a:off x="3528822" y="3330702"/>
            <a:ext cx="205740" cy="205740"/>
          </a:xfrm>
          <a:prstGeom prst="rect">
            <a:avLst/>
          </a:prstGeom>
        </p:spPr>
      </p:pic>
      <p:sp>
        <p:nvSpPr>
          <p:cNvPr id="29" name="Text 21"/>
          <p:cNvSpPr txBox="1"/>
          <p:nvPr/>
        </p:nvSpPr>
        <p:spPr>
          <a:xfrm>
            <a:off x="3425952" y="3730752"/>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Third-party ecosystems</a:t>
            </a:r>
            <a:endParaRPr lang="en-US" sz="1400" dirty="0"/>
          </a:p>
        </p:txBody>
      </p:sp>
      <p:sp>
        <p:nvSpPr>
          <p:cNvPr id="30" name="Text 22"/>
          <p:cNvSpPr txBox="1"/>
          <p:nvPr/>
        </p:nvSpPr>
        <p:spPr>
          <a:xfrm>
            <a:off x="3425952" y="4035298"/>
            <a:ext cx="2292096" cy="4909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Stripe, Twilio, Google Maps, GitHub: others build on them.</a:t>
            </a:r>
            <a:endParaRPr lang="en-US" sz="1200" dirty="0"/>
          </a:p>
        </p:txBody>
      </p:sp>
      <p:sp>
        <p:nvSpPr>
          <p:cNvPr id="31" name="Shape 23"/>
          <p:cNvSpPr/>
          <p:nvPr/>
        </p:nvSpPr>
        <p:spPr>
          <a:xfrm>
            <a:off x="6065520" y="3063240"/>
            <a:ext cx="2621280" cy="1554480"/>
          </a:xfrm>
          <a:prstGeom prst="rect">
            <a:avLst/>
          </a:prstGeom>
          <a:solidFill>
            <a:srgbClr val="FFFFFF"/>
          </a:solidFill>
          <a:ln w="9525">
            <a:solidFill>
              <a:srgbClr val="D6CCE6"/>
            </a:solidFill>
          </a:ln>
        </p:spPr>
      </p:sp>
      <p:sp>
        <p:nvSpPr>
          <p:cNvPr id="32" name="Shape 24"/>
          <p:cNvSpPr/>
          <p:nvPr/>
        </p:nvSpPr>
        <p:spPr>
          <a:xfrm>
            <a:off x="6230112" y="3227832"/>
            <a:ext cx="411480" cy="411480"/>
          </a:xfrm>
          <a:prstGeom prst="roundRect">
            <a:avLst>
              <a:gd name="adj" fmla="val 24000"/>
            </a:avLst>
          </a:prstGeom>
          <a:solidFill>
            <a:srgbClr val="6B35B5"/>
          </a:solidFill>
          <a:ln w="12700">
            <a:solidFill>
              <a:srgbClr val="6B35B5"/>
            </a:solidFill>
            <a:prstDash val="solid"/>
          </a:ln>
        </p:spPr>
      </p:sp>
      <p:pic>
        <p:nvPicPr>
          <p:cNvPr id="33" name="Image 5" descr="preencoded.png"/>
          <p:cNvPicPr>
            <a:picLocks noChangeAspect="1"/>
          </p:cNvPicPr>
          <p:nvPr/>
        </p:nvPicPr>
        <p:blipFill>
          <a:blip r:embed="rId6"/>
          <a:stretch>
            <a:fillRect/>
          </a:stretch>
        </p:blipFill>
        <p:spPr>
          <a:xfrm>
            <a:off x="6332982" y="3330702"/>
            <a:ext cx="205740" cy="205740"/>
          </a:xfrm>
          <a:prstGeom prst="rect">
            <a:avLst/>
          </a:prstGeom>
        </p:spPr>
      </p:pic>
      <p:sp>
        <p:nvSpPr>
          <p:cNvPr id="34" name="Text 25"/>
          <p:cNvSpPr txBox="1"/>
          <p:nvPr/>
        </p:nvSpPr>
        <p:spPr>
          <a:xfrm>
            <a:off x="6230112" y="3730752"/>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Automation</a:t>
            </a:r>
            <a:endParaRPr lang="en-US" sz="1400" dirty="0"/>
          </a:p>
        </p:txBody>
      </p:sp>
      <p:sp>
        <p:nvSpPr>
          <p:cNvPr id="35" name="Text 26"/>
          <p:cNvSpPr txBox="1"/>
          <p:nvPr/>
        </p:nvSpPr>
        <p:spPr>
          <a:xfrm>
            <a:off x="6230112" y="4035298"/>
            <a:ext cx="2292096" cy="4909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Scripts, CI/CD and bots use APIs instead of clicking a UI.</a:t>
            </a:r>
            <a:endParaRPr lang="en-US" sz="12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1.3 · ARCHITECTURE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Who calls the API?</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13" name="Table 0"/>
          <p:cNvGraphicFramePr>
            <a:graphicFrameLocks noGrp="1"/>
          </p:cNvGraphicFramePr>
          <p:nvPr/>
        </p:nvGraphicFramePr>
        <p:xfrm>
          <a:off x="457200" y="1325880"/>
          <a:ext cx="8229600" cy="2011680"/>
        </p:xfrm>
        <a:graphic>
          <a:graphicData uri="http://schemas.openxmlformats.org/drawingml/2006/table">
            <a:tbl>
              <a:tblPr/>
              <a:tblGrid>
                <a:gridCol w="1554480"/>
                <a:gridCol w="2103120"/>
                <a:gridCol w="2377440"/>
                <a:gridCol w="2194560"/>
              </a:tblGrid>
              <a:tr h="402336">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Web app (SPA)</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Mobile app</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Typical auth</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Session cookie or JWT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Bearer token on device, jwt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How you see traffic</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DevTools, Burp proxy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Proxy on phone plus CA cert; may hit certificate pinning</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Client trust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JS code fully visible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App can be decompiled; secrets extractable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Common quirk</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UI hides buttons, API may still allow the action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Old app versions call old, weaker API versions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1.3 · ARCHITECTURE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Kinds of API, and trust boundaries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371600"/>
          </a:xfrm>
          <a:prstGeom prst="rect">
            <a:avLst/>
          </a:prstGeom>
          <a:solidFill>
            <a:srgbClr val="FFFFFF"/>
          </a:solidFill>
          <a:ln w="9525">
            <a:solidFill>
              <a:srgbClr val="D6CCE6"/>
            </a:solidFill>
          </a:ln>
        </p:spPr>
      </p:sp>
      <p:sp>
        <p:nvSpPr>
          <p:cNvPr id="7" name="Text 4"/>
          <p:cNvSpPr txBox="1"/>
          <p:nvPr/>
        </p:nvSpPr>
        <p:spPr>
          <a:xfrm>
            <a:off x="621792" y="1463040"/>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Public / open</a:t>
            </a:r>
            <a:endParaRPr lang="en-US" sz="1400" dirty="0"/>
          </a:p>
        </p:txBody>
      </p:sp>
      <p:sp>
        <p:nvSpPr>
          <p:cNvPr id="8" name="Text 5"/>
          <p:cNvSpPr txBox="1"/>
          <p:nvPr/>
        </p:nvSpPr>
        <p:spPr>
          <a:xfrm>
            <a:off x="621792" y="1767586"/>
            <a:ext cx="2292096" cy="838454"/>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Anyone can sign up: weather, maps.</a:t>
            </a:r>
            <a:endParaRPr lang="en-US" sz="1200" dirty="0"/>
          </a:p>
        </p:txBody>
      </p:sp>
      <p:sp>
        <p:nvSpPr>
          <p:cNvPr id="9" name="Shape 6"/>
          <p:cNvSpPr/>
          <p:nvPr/>
        </p:nvSpPr>
        <p:spPr>
          <a:xfrm>
            <a:off x="3261360" y="1325880"/>
            <a:ext cx="2621280" cy="1371600"/>
          </a:xfrm>
          <a:prstGeom prst="rect">
            <a:avLst/>
          </a:prstGeom>
          <a:solidFill>
            <a:srgbClr val="FFFFFF"/>
          </a:solidFill>
          <a:ln w="9525">
            <a:solidFill>
              <a:srgbClr val="D6CCE6"/>
            </a:solidFill>
          </a:ln>
        </p:spPr>
      </p:sp>
      <p:sp>
        <p:nvSpPr>
          <p:cNvPr id="10" name="Text 7"/>
          <p:cNvSpPr txBox="1"/>
          <p:nvPr/>
        </p:nvSpPr>
        <p:spPr>
          <a:xfrm>
            <a:off x="3425952" y="1463040"/>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Partner</a:t>
            </a:r>
            <a:endParaRPr lang="en-US" sz="1400" dirty="0"/>
          </a:p>
        </p:txBody>
      </p:sp>
      <p:sp>
        <p:nvSpPr>
          <p:cNvPr id="11" name="Text 8"/>
          <p:cNvSpPr txBox="1"/>
          <p:nvPr/>
        </p:nvSpPr>
        <p:spPr>
          <a:xfrm>
            <a:off x="3425952" y="1767586"/>
            <a:ext cx="2292096" cy="838454"/>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Shared with specific business partners.</a:t>
            </a:r>
            <a:endParaRPr lang="en-US" sz="1200" dirty="0"/>
          </a:p>
        </p:txBody>
      </p:sp>
      <p:sp>
        <p:nvSpPr>
          <p:cNvPr id="12" name="Shape 9"/>
          <p:cNvSpPr/>
          <p:nvPr/>
        </p:nvSpPr>
        <p:spPr>
          <a:xfrm>
            <a:off x="6065520" y="1325880"/>
            <a:ext cx="2621280" cy="1371600"/>
          </a:xfrm>
          <a:prstGeom prst="rect">
            <a:avLst/>
          </a:prstGeom>
          <a:solidFill>
            <a:srgbClr val="FFFFFF"/>
          </a:solidFill>
          <a:ln w="9525">
            <a:solidFill>
              <a:srgbClr val="D6CCE6"/>
            </a:solidFill>
          </a:ln>
        </p:spPr>
      </p:sp>
      <p:sp>
        <p:nvSpPr>
          <p:cNvPr id="13" name="Text 10"/>
          <p:cNvSpPr txBox="1"/>
          <p:nvPr/>
        </p:nvSpPr>
        <p:spPr>
          <a:xfrm>
            <a:off x="6230112" y="1463040"/>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Private / internal</a:t>
            </a:r>
            <a:endParaRPr lang="en-US" sz="1400" dirty="0"/>
          </a:p>
        </p:txBody>
      </p:sp>
      <p:sp>
        <p:nvSpPr>
          <p:cNvPr id="14" name="Text 11"/>
          <p:cNvSpPr txBox="1"/>
          <p:nvPr/>
        </p:nvSpPr>
        <p:spPr>
          <a:xfrm>
            <a:off x="6230112" y="1767586"/>
            <a:ext cx="2292096" cy="838454"/>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Used by the company's own apps. Often still internet-facing.</a:t>
            </a:r>
            <a:endParaRPr lang="en-US" sz="1200" dirty="0"/>
          </a:p>
        </p:txBody>
      </p:sp>
      <p:sp>
        <p:nvSpPr>
          <p:cNvPr id="15" name="Shape 12"/>
          <p:cNvSpPr/>
          <p:nvPr/>
        </p:nvSpPr>
        <p:spPr>
          <a:xfrm>
            <a:off x="457200" y="2971800"/>
            <a:ext cx="8229600" cy="1600200"/>
          </a:xfrm>
          <a:prstGeom prst="rect">
            <a:avLst/>
          </a:prstGeom>
          <a:solidFill>
            <a:srgbClr val="EFE8FA"/>
          </a:solidFill>
          <a:ln w="12700">
            <a:solidFill>
              <a:srgbClr val="EFE8FA"/>
            </a:solidFill>
            <a:prstDash val="solid"/>
          </a:ln>
        </p:spPr>
      </p:sp>
      <p:sp>
        <p:nvSpPr>
          <p:cNvPr id="16" name="Shape 13"/>
          <p:cNvSpPr/>
          <p:nvPr/>
        </p:nvSpPr>
        <p:spPr>
          <a:xfrm>
            <a:off x="640080" y="3543300"/>
            <a:ext cx="457200" cy="457200"/>
          </a:xfrm>
          <a:prstGeom prst="roundRect">
            <a:avLst>
              <a:gd name="adj" fmla="val 24000"/>
            </a:avLst>
          </a:prstGeom>
          <a:solidFill>
            <a:srgbClr val="6B35B5"/>
          </a:solidFill>
          <a:ln w="12700">
            <a:solidFill>
              <a:srgbClr val="6B35B5"/>
            </a:solidFill>
            <a:prstDash val="solid"/>
          </a:ln>
        </p:spPr>
      </p:sp>
      <p:pic>
        <p:nvPicPr>
          <p:cNvPr id="17" name="Image 0" descr="preencoded.png"/>
          <p:cNvPicPr>
            <a:picLocks noChangeAspect="1"/>
          </p:cNvPicPr>
          <p:nvPr/>
        </p:nvPicPr>
        <p:blipFill>
          <a:blip r:embed="rId1"/>
          <a:stretch>
            <a:fillRect/>
          </a:stretch>
        </p:blipFill>
        <p:spPr>
          <a:xfrm>
            <a:off x="754380" y="3657600"/>
            <a:ext cx="228600" cy="228600"/>
          </a:xfrm>
          <a:prstGeom prst="rect">
            <a:avLst/>
          </a:prstGeom>
        </p:spPr>
      </p:pic>
      <p:sp>
        <p:nvSpPr>
          <p:cNvPr id="18" name="Text 14"/>
          <p:cNvSpPr txBox="1"/>
          <p:nvPr/>
        </p:nvSpPr>
        <p:spPr>
          <a:xfrm>
            <a:off x="1280160" y="2971800"/>
            <a:ext cx="7223760" cy="1600200"/>
          </a:xfrm>
          <a:prstGeom prst="rect">
            <a:avLst/>
          </a:prstGeom>
          <a:noFill/>
        </p:spPr>
        <p:txBody>
          <a:bodyPr wrap="square" lIns="0" tIns="0" rIns="0" bIns="0" rtlCol="0" anchor="ctr"/>
          <a:lstStyle/>
          <a:p>
            <a:pPr marL="0" indent="0" algn="l">
              <a:buNone/>
            </a:pPr>
            <a:r>
              <a:rPr lang="en-US" sz="1500" b="1" dirty="0">
                <a:solidFill>
                  <a:srgbClr val="2A2433"/>
                </a:solidFill>
                <a:latin typeface="Calibri" pitchFamily="34" charset="0"/>
                <a:ea typeface="Calibri" pitchFamily="34" charset="-122"/>
                <a:cs typeface="Calibri" pitchFamily="34" charset="-120"/>
              </a:rPr>
              <a:t>Trust boundary:</a:t>
            </a:r>
            <a:r>
              <a:rPr lang="en-US" sz="1500" dirty="0">
                <a:solidFill>
                  <a:srgbClr val="2A2433"/>
                </a:solidFill>
                <a:latin typeface="Calibri" pitchFamily="34" charset="0"/>
                <a:ea typeface="Calibri" pitchFamily="34" charset="-122"/>
                <a:cs typeface="Calibri" pitchFamily="34" charset="-120"/>
              </a:rPr>
              <a:t> the line where data moves from less trusted to more trusted. here it sits between "the internet / client" and "our API". Never assume anything on the client side is honest: parameters, headers, hidden fields.</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 complete API request and response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233172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REQUEST</a:t>
            </a:r>
            <a:endParaRPr lang="en-US" sz="1000" dirty="0"/>
          </a:p>
        </p:txBody>
      </p:sp>
      <p:sp>
        <p:nvSpPr>
          <p:cNvPr id="8" name="Text 5"/>
          <p:cNvSpPr txBox="1"/>
          <p:nvPr/>
        </p:nvSpPr>
        <p:spPr>
          <a:xfrm>
            <a:off x="640080" y="1627632"/>
            <a:ext cx="3657600" cy="18928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POST /api/v1/orders?expand=items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Host: shop.example.com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Accept: application/json</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User-Agent: ShopApp/4.2.1 (Android 14)</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{"productId": 552, "quantity": 2,</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"shippingAddressId": 91,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"coupon": "SPRING"}</a:t>
            </a:r>
            <a:endParaRPr lang="en-US" sz="1000" dirty="0"/>
          </a:p>
        </p:txBody>
      </p:sp>
      <p:sp>
        <p:nvSpPr>
          <p:cNvPr id="9" name="Shape 6"/>
          <p:cNvSpPr/>
          <p:nvPr/>
        </p:nvSpPr>
        <p:spPr>
          <a:xfrm>
            <a:off x="4663440" y="1280160"/>
            <a:ext cx="4023360" cy="2331720"/>
          </a:xfrm>
          <a:prstGeom prst="rect">
            <a:avLst/>
          </a:prstGeom>
          <a:solidFill>
            <a:srgbClr val="241733"/>
          </a:solidFill>
          <a:ln w="12700">
            <a:solidFill>
              <a:srgbClr val="24173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RESPONSE</a:t>
            </a:r>
            <a:endParaRPr lang="en-US" sz="1000" dirty="0"/>
          </a:p>
        </p:txBody>
      </p:sp>
      <p:sp>
        <p:nvSpPr>
          <p:cNvPr id="11" name="Text 8"/>
          <p:cNvSpPr txBox="1"/>
          <p:nvPr/>
        </p:nvSpPr>
        <p:spPr>
          <a:xfrm>
            <a:off x="4846320" y="1627632"/>
            <a:ext cx="3657600" cy="18928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HTTP/1.1 201 Created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Location: /api/v1/orders/88104</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Cache-Control: no-store</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X-RateLimit-Remaining: 97</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88104,</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"status": "pending",</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"total": 59.98</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sp>
        <p:nvSpPr>
          <p:cNvPr id="12" name="Shape 9"/>
          <p:cNvSpPr/>
          <p:nvPr/>
        </p:nvSpPr>
        <p:spPr>
          <a:xfrm>
            <a:off x="457200" y="3840480"/>
            <a:ext cx="8229600" cy="731520"/>
          </a:xfrm>
          <a:prstGeom prst="rect">
            <a:avLst/>
          </a:prstGeom>
          <a:solidFill>
            <a:srgbClr val="FDEAE5"/>
          </a:solidFill>
          <a:ln w="12700">
            <a:solidFill>
              <a:srgbClr val="FDEAE5"/>
            </a:solidFill>
            <a:prstDash val="solid"/>
          </a:ln>
        </p:spPr>
      </p:sp>
      <p:sp>
        <p:nvSpPr>
          <p:cNvPr id="13" name="Shape 10"/>
          <p:cNvSpPr/>
          <p:nvPr/>
        </p:nvSpPr>
        <p:spPr>
          <a:xfrm>
            <a:off x="640080" y="3977640"/>
            <a:ext cx="457200" cy="457200"/>
          </a:xfrm>
          <a:prstGeom prst="roundRect">
            <a:avLst>
              <a:gd name="adj" fmla="val 24000"/>
            </a:avLst>
          </a:prstGeom>
          <a:solidFill>
            <a:srgbClr val="F2705A"/>
          </a:solidFill>
          <a:ln w="12700">
            <a:solidFill>
              <a:srgbClr val="F2705A"/>
            </a:solidFill>
            <a:prstDash val="solid"/>
          </a:ln>
        </p:spPr>
      </p:sp>
      <p:pic>
        <p:nvPicPr>
          <p:cNvPr id="14" name="Image 0" descr="preencoded.png"/>
          <p:cNvPicPr>
            <a:picLocks noChangeAspect="1"/>
          </p:cNvPicPr>
          <p:nvPr/>
        </p:nvPicPr>
        <p:blipFill>
          <a:blip r:embed="rId1"/>
          <a:stretch>
            <a:fillRect/>
          </a:stretch>
        </p:blipFill>
        <p:spPr>
          <a:xfrm>
            <a:off x="754380" y="4091940"/>
            <a:ext cx="228600" cy="228600"/>
          </a:xfrm>
          <a:prstGeom prst="rect">
            <a:avLst/>
          </a:prstGeom>
        </p:spPr>
      </p:pic>
      <p:sp>
        <p:nvSpPr>
          <p:cNvPr id="15" name="Text 11"/>
          <p:cNvSpPr txBox="1"/>
          <p:nvPr/>
        </p:nvSpPr>
        <p:spPr>
          <a:xfrm>
            <a:off x="1280160" y="3840480"/>
            <a:ext cx="7223760" cy="731520"/>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Every part of a request is </a:t>
            </a:r>
            <a:r>
              <a:rPr lang="en-US" sz="1400" b="1" dirty="0">
                <a:solidFill>
                  <a:srgbClr val="2A2433"/>
                </a:solidFill>
                <a:latin typeface="Calibri" pitchFamily="34" charset="0"/>
                <a:ea typeface="Calibri" pitchFamily="34" charset="-122"/>
                <a:cs typeface="Calibri" pitchFamily="34" charset="-120"/>
              </a:rPr>
              <a:t>input you control</a:t>
            </a:r>
            <a:r>
              <a:rPr lang="en-US" sz="1400" dirty="0">
                <a:solidFill>
                  <a:srgbClr val="2A2433"/>
                </a:solidFill>
                <a:latin typeface="Calibri" pitchFamily="34" charset="0"/>
                <a:ea typeface="Calibri" pitchFamily="34" charset="-122"/>
                <a:cs typeface="Calibri" pitchFamily="34" charset="-120"/>
              </a:rPr>
              <a:t>: method, path, query string, headers, body, cookies and tokens.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Anatomy of a URL and the endpoint</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8229600" cy="548640"/>
          </a:xfrm>
          <a:prstGeom prst="rect">
            <a:avLst/>
          </a:prstGeom>
          <a:solidFill>
            <a:srgbClr val="241733"/>
          </a:solidFill>
          <a:ln w="12700">
            <a:solidFill>
              <a:srgbClr val="241733"/>
            </a:solidFill>
            <a:prstDash val="solid"/>
          </a:ln>
        </p:spPr>
      </p:sp>
      <p:sp>
        <p:nvSpPr>
          <p:cNvPr id="7" name="Text 4"/>
          <p:cNvSpPr txBox="1"/>
          <p:nvPr/>
        </p:nvSpPr>
        <p:spPr>
          <a:xfrm>
            <a:off x="640080" y="1389888"/>
            <a:ext cx="7863840" cy="347472"/>
          </a:xfrm>
          <a:prstGeom prst="rect">
            <a:avLst/>
          </a:prstGeom>
          <a:noFill/>
        </p:spPr>
        <p:txBody>
          <a:bodyPr wrap="square" lIns="0" tIns="0" rIns="0" bIns="0" rtlCol="0" anchor="t"/>
          <a:lstStyle/>
          <a:p>
            <a:pPr marL="0" indent="0">
              <a:lnSpc>
                <a:spcPct val="100000"/>
              </a:lnSpc>
              <a:buNone/>
            </a:pPr>
            <a:r>
              <a:rPr lang="en-US" sz="12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https://api.example.com:443/v1/users/1042/orders?status=shipped&amp;limit=20#section</a:t>
            </a:r>
            <a:endParaRPr lang="en-US" sz="1200" dirty="0"/>
          </a:p>
        </p:txBody>
      </p:sp>
      <p:graphicFrame>
        <p:nvGraphicFramePr>
          <p:cNvPr id="17" name="Table 0"/>
          <p:cNvGraphicFramePr>
            <a:graphicFrameLocks noGrp="1"/>
          </p:cNvGraphicFramePr>
          <p:nvPr/>
        </p:nvGraphicFramePr>
        <p:xfrm>
          <a:off x="457200" y="2011680"/>
          <a:ext cx="8229600" cy="914400"/>
        </p:xfrm>
        <a:graphic>
          <a:graphicData uri="http://schemas.openxmlformats.org/drawingml/2006/table">
            <a:tbl>
              <a:tblPr/>
              <a:tblGrid>
                <a:gridCol w="731520"/>
                <a:gridCol w="1463040"/>
                <a:gridCol w="548640"/>
                <a:gridCol w="2011680"/>
                <a:gridCol w="2194560"/>
                <a:gridCol w="1280160"/>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Scheme</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Host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Port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Path</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Query</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Fragment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47472">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https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api.example.com</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443</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/v1/users/1042/orders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status=shipped&amp;limit=20</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9" name="Shape 5"/>
          <p:cNvSpPr/>
          <p:nvPr/>
        </p:nvSpPr>
        <p:spPr>
          <a:xfrm>
            <a:off x="502920" y="2956814"/>
            <a:ext cx="82296" cy="82296"/>
          </a:xfrm>
          <a:prstGeom prst="rect">
            <a:avLst/>
          </a:prstGeom>
          <a:solidFill>
            <a:srgbClr val="F2705A"/>
          </a:solidFill>
          <a:ln w="12700">
            <a:solidFill>
              <a:srgbClr val="F2705A"/>
            </a:solidFill>
            <a:prstDash val="solid"/>
          </a:ln>
        </p:spPr>
      </p:sp>
      <p:sp>
        <p:nvSpPr>
          <p:cNvPr id="10" name="Text 6"/>
          <p:cNvSpPr txBox="1"/>
          <p:nvPr/>
        </p:nvSpPr>
        <p:spPr>
          <a:xfrm>
            <a:off x="713232" y="2880360"/>
            <a:ext cx="7973568" cy="244348"/>
          </a:xfrm>
          <a:prstGeom prst="rect">
            <a:avLst/>
          </a:prstGeom>
          <a:noFill/>
        </p:spPr>
        <p:txBody>
          <a:bodyPr wrap="square" lIns="0" tIns="0" rIns="0" bIns="0" rtlCol="0" anchor="t"/>
          <a:lstStyle/>
          <a:p>
            <a:pPr marL="0" indent="0" algn="l">
              <a:buNone/>
            </a:pPr>
            <a:r>
              <a:rPr lang="en-US" sz="1400" b="1" dirty="0">
                <a:solidFill>
                  <a:srgbClr val="2A2433"/>
                </a:solidFill>
                <a:latin typeface="Calibri" pitchFamily="34" charset="0"/>
                <a:ea typeface="Calibri" pitchFamily="34" charset="-122"/>
                <a:cs typeface="Calibri" pitchFamily="34" charset="-120"/>
              </a:rPr>
              <a:t>Endpoint</a:t>
            </a:r>
            <a:r>
              <a:rPr lang="en-US" sz="1400" dirty="0">
                <a:solidFill>
                  <a:srgbClr val="2A2433"/>
                </a:solidFill>
                <a:latin typeface="Calibri" pitchFamily="34" charset="0"/>
                <a:ea typeface="Calibri" pitchFamily="34" charset="-122"/>
                <a:cs typeface="Calibri" pitchFamily="34" charset="-120"/>
              </a:rPr>
              <a:t> = path + HTTP method: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/users/5</a:t>
            </a:r>
            <a:r>
              <a:rPr lang="en-US" sz="1400" dirty="0">
                <a:solidFill>
                  <a:srgbClr val="2A2433"/>
                </a:solidFill>
                <a:latin typeface="Calibri" pitchFamily="34" charset="0"/>
                <a:ea typeface="Calibri" pitchFamily="34" charset="-122"/>
                <a:cs typeface="Calibri" pitchFamily="34" charset="-120"/>
              </a:rPr>
              <a:t> and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 /users/5</a:t>
            </a:r>
            <a:r>
              <a:rPr lang="en-US" sz="1400" dirty="0">
                <a:solidFill>
                  <a:srgbClr val="2A2433"/>
                </a:solidFill>
                <a:latin typeface="Calibri" pitchFamily="34" charset="0"/>
                <a:ea typeface="Calibri" pitchFamily="34" charset="-122"/>
                <a:cs typeface="Calibri" pitchFamily="34" charset="-120"/>
              </a:rPr>
              <a:t> </a:t>
            </a:r>
            <a:endParaRPr lang="en-US" sz="1400" dirty="0"/>
          </a:p>
        </p:txBody>
      </p:sp>
      <p:sp>
        <p:nvSpPr>
          <p:cNvPr id="11" name="Shape 7"/>
          <p:cNvSpPr/>
          <p:nvPr/>
        </p:nvSpPr>
        <p:spPr>
          <a:xfrm>
            <a:off x="502920" y="3292602"/>
            <a:ext cx="82296" cy="82296"/>
          </a:xfrm>
          <a:prstGeom prst="rect">
            <a:avLst/>
          </a:prstGeom>
          <a:solidFill>
            <a:srgbClr val="F2705A"/>
          </a:solidFill>
          <a:ln w="12700">
            <a:solidFill>
              <a:srgbClr val="F2705A"/>
            </a:solidFill>
            <a:prstDash val="solid"/>
          </a:ln>
        </p:spPr>
      </p:sp>
      <p:sp>
        <p:nvSpPr>
          <p:cNvPr id="12" name="Text 8"/>
          <p:cNvSpPr txBox="1"/>
          <p:nvPr/>
        </p:nvSpPr>
        <p:spPr>
          <a:xfrm>
            <a:off x="713232" y="3216148"/>
            <a:ext cx="797356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The </a:t>
            </a:r>
            <a:r>
              <a:rPr lang="en-US" sz="1400" b="1" dirty="0">
                <a:solidFill>
                  <a:srgbClr val="2A2433"/>
                </a:solidFill>
                <a:latin typeface="Calibri" pitchFamily="34" charset="0"/>
                <a:ea typeface="Calibri" pitchFamily="34" charset="-122"/>
                <a:cs typeface="Calibri" pitchFamily="34" charset="-120"/>
              </a:rPr>
              <a:t>fragment</a:t>
            </a:r>
            <a:r>
              <a:rPr lang="en-US" sz="1400" dirty="0">
                <a:solidFill>
                  <a:srgbClr val="2A2433"/>
                </a:solidFill>
                <a:latin typeface="Calibri" pitchFamily="34" charset="0"/>
                <a:ea typeface="Calibri" pitchFamily="34" charset="-122"/>
                <a:cs typeface="Calibri" pitchFamily="34" charset="-120"/>
              </a:rPr>
              <a:t> never reaches the server</a:t>
            </a:r>
            <a:endParaRPr lang="en-US" sz="1400" dirty="0"/>
          </a:p>
        </p:txBody>
      </p:sp>
      <p:sp>
        <p:nvSpPr>
          <p:cNvPr id="13" name="Shape 9"/>
          <p:cNvSpPr/>
          <p:nvPr/>
        </p:nvSpPr>
        <p:spPr>
          <a:xfrm>
            <a:off x="502920" y="3628390"/>
            <a:ext cx="82296" cy="82296"/>
          </a:xfrm>
          <a:prstGeom prst="rect">
            <a:avLst/>
          </a:prstGeom>
          <a:solidFill>
            <a:srgbClr val="F2705A"/>
          </a:solidFill>
          <a:ln w="12700">
            <a:solidFill>
              <a:srgbClr val="F2705A"/>
            </a:solidFill>
            <a:prstDash val="solid"/>
          </a:ln>
        </p:spPr>
      </p:sp>
      <p:sp>
        <p:nvSpPr>
          <p:cNvPr id="14" name="Text 10"/>
          <p:cNvSpPr txBox="1"/>
          <p:nvPr/>
        </p:nvSpPr>
        <p:spPr>
          <a:xfrm>
            <a:off x="713232" y="3551936"/>
            <a:ext cx="797356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Paths often carry a </a:t>
            </a:r>
            <a:r>
              <a:rPr lang="en-US" sz="1400" b="1" dirty="0">
                <a:solidFill>
                  <a:srgbClr val="2A2433"/>
                </a:solidFill>
                <a:latin typeface="Calibri" pitchFamily="34" charset="0"/>
                <a:ea typeface="Calibri" pitchFamily="34" charset="-122"/>
                <a:cs typeface="Calibri" pitchFamily="34" charset="-120"/>
              </a:rPr>
              <a:t>version</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/v1/</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/v2/</a:t>
            </a:r>
            <a:r>
              <a:rPr lang="en-US" sz="1400" dirty="0">
                <a:solidFill>
                  <a:srgbClr val="2A2433"/>
                </a:solidFill>
                <a:latin typeface="Calibri" pitchFamily="34" charset="0"/>
                <a:ea typeface="Calibri" pitchFamily="34" charset="-122"/>
                <a:cs typeface="Calibri" pitchFamily="34" charset="-120"/>
              </a:rPr>
              <a:t>). Old versions linger with weaker security</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HTTP methods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18" name="Table 0"/>
          <p:cNvGraphicFramePr>
            <a:graphicFrameLocks noGrp="1"/>
          </p:cNvGraphicFramePr>
          <p:nvPr/>
        </p:nvGraphicFramePr>
        <p:xfrm>
          <a:off x="457200" y="1280160"/>
          <a:ext cx="8229600" cy="2240280"/>
        </p:xfrm>
        <a:graphic>
          <a:graphicData uri="http://schemas.openxmlformats.org/drawingml/2006/table">
            <a:tbl>
              <a:tblPr/>
              <a:tblGrid>
                <a:gridCol w="1554480"/>
                <a:gridCol w="3291840"/>
                <a:gridCol w="822960"/>
                <a:gridCol w="1371600"/>
                <a:gridCol w="1188720"/>
              </a:tblGrid>
              <a:tr h="3200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Typical 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Safe?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Idempotent?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Body?</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20040">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Read a resource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Normally 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0040">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Create a resource / trigger an action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20040">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PUT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Replace a resource fully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0040">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PATCH</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Partially update a resource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Not guaranteed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20040">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Remove a resource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Usually 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0040">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HEAD</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OPTIONS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Headers only / what is allowed (CORS preflight)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7" name="Shape 3"/>
          <p:cNvSpPr/>
          <p:nvPr/>
        </p:nvSpPr>
        <p:spPr>
          <a:xfrm>
            <a:off x="457200" y="3611880"/>
            <a:ext cx="8229600" cy="960120"/>
          </a:xfrm>
          <a:prstGeom prst="rect">
            <a:avLst/>
          </a:prstGeom>
          <a:solidFill>
            <a:srgbClr val="FDEAE5"/>
          </a:solidFill>
          <a:ln w="12700">
            <a:solidFill>
              <a:srgbClr val="FDEAE5"/>
            </a:solidFill>
            <a:prstDash val="solid"/>
          </a:ln>
        </p:spPr>
      </p:sp>
      <p:sp>
        <p:nvSpPr>
          <p:cNvPr id="8" name="Shape 4"/>
          <p:cNvSpPr/>
          <p:nvPr/>
        </p:nvSpPr>
        <p:spPr>
          <a:xfrm>
            <a:off x="640080" y="3863340"/>
            <a:ext cx="457200" cy="457200"/>
          </a:xfrm>
          <a:prstGeom prst="roundRect">
            <a:avLst>
              <a:gd name="adj" fmla="val 24000"/>
            </a:avLst>
          </a:prstGeom>
          <a:solidFill>
            <a:srgbClr val="F2705A"/>
          </a:solidFill>
          <a:ln w="12700">
            <a:solidFill>
              <a:srgbClr val="F2705A"/>
            </a:solidFill>
            <a:prstDash val="solid"/>
          </a:ln>
        </p:spPr>
      </p:sp>
      <p:pic>
        <p:nvPicPr>
          <p:cNvPr id="9" name="Image 0" descr="preencoded.png"/>
          <p:cNvPicPr>
            <a:picLocks noChangeAspect="1"/>
          </p:cNvPicPr>
          <p:nvPr/>
        </p:nvPicPr>
        <p:blipFill>
          <a:blip r:embed="rId1"/>
          <a:stretch>
            <a:fillRect/>
          </a:stretch>
        </p:blipFill>
        <p:spPr>
          <a:xfrm>
            <a:off x="754380" y="3977640"/>
            <a:ext cx="228600" cy="228600"/>
          </a:xfrm>
          <a:prstGeom prst="rect">
            <a:avLst/>
          </a:prstGeom>
        </p:spPr>
      </p:pic>
      <p:sp>
        <p:nvSpPr>
          <p:cNvPr id="10" name="Text 5"/>
          <p:cNvSpPr txBox="1"/>
          <p:nvPr/>
        </p:nvSpPr>
        <p:spPr>
          <a:xfrm>
            <a:off x="1280160" y="3611880"/>
            <a:ext cx="7223760" cy="960120"/>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These are </a:t>
            </a:r>
            <a:r>
              <a:rPr lang="en-US" sz="1400" b="1" dirty="0">
                <a:solidFill>
                  <a:srgbClr val="2A2433"/>
                </a:solidFill>
                <a:latin typeface="Calibri" pitchFamily="34" charset="0"/>
                <a:ea typeface="Calibri" pitchFamily="34" charset="-122"/>
                <a:cs typeface="Calibri" pitchFamily="34" charset="-120"/>
              </a:rPr>
              <a:t>conventions, not enforcement.</a:t>
            </a:r>
            <a:r>
              <a:rPr lang="en-US" sz="1400" dirty="0">
                <a:solidFill>
                  <a:srgbClr val="2A2433"/>
                </a:solidFill>
                <a:latin typeface="Calibri" pitchFamily="34" charset="0"/>
                <a:ea typeface="Calibri" pitchFamily="34" charset="-122"/>
                <a:cs typeface="Calibri" pitchFamily="34" charset="-120"/>
              </a:rPr>
              <a:t> A server may accept a state-changing action on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a:t>
            </a:r>
            <a:r>
              <a:rPr lang="en-US" sz="1400" dirty="0">
                <a:solidFill>
                  <a:srgbClr val="2A2433"/>
                </a:solidFill>
                <a:latin typeface="Calibri" pitchFamily="34" charset="0"/>
                <a:ea typeface="Calibri" pitchFamily="34" charset="-122"/>
                <a:cs typeface="Calibri" pitchFamily="34" charset="-120"/>
              </a:rPr>
              <a:t>, or leave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PUT</a:t>
            </a:r>
            <a:r>
              <a:rPr lang="en-US" sz="1400" dirty="0">
                <a:solidFill>
                  <a:srgbClr val="2A2433"/>
                </a:solidFill>
                <a:latin typeface="Calibri" pitchFamily="34" charset="0"/>
                <a:ea typeface="Calibri" pitchFamily="34" charset="-122"/>
                <a:cs typeface="Calibri" pitchFamily="34" charset="-120"/>
              </a:rPr>
              <a:t>/</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400" dirty="0">
                <a:solidFill>
                  <a:srgbClr val="2A2433"/>
                </a:solidFill>
                <a:latin typeface="Calibri" pitchFamily="34" charset="0"/>
                <a:ea typeface="Calibri" pitchFamily="34" charset="-122"/>
                <a:cs typeface="Calibri" pitchFamily="34" charset="-120"/>
              </a:rPr>
              <a:t> enabled where only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a:t>
            </a:r>
            <a:r>
              <a:rPr lang="en-US" sz="1400" dirty="0">
                <a:solidFill>
                  <a:srgbClr val="2A2433"/>
                </a:solidFill>
                <a:latin typeface="Calibri" pitchFamily="34" charset="0"/>
                <a:ea typeface="Calibri" pitchFamily="34" charset="-122"/>
                <a:cs typeface="Calibri" pitchFamily="34" charset="-120"/>
              </a:rPr>
              <a:t> is documented. Always try other methods on the same path.</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Headers you will see constantly</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19" name="Table 0"/>
          <p:cNvGraphicFramePr>
            <a:graphicFrameLocks noGrp="1"/>
          </p:cNvGraphicFramePr>
          <p:nvPr/>
        </p:nvGraphicFramePr>
        <p:xfrm>
          <a:off x="457200" y="1280160"/>
          <a:ext cx="8229600" cy="3337560"/>
        </p:xfrm>
        <a:graphic>
          <a:graphicData uri="http://schemas.openxmlformats.org/drawingml/2006/table">
            <a:tbl>
              <a:tblPr/>
              <a:tblGrid>
                <a:gridCol w="3108960"/>
                <a:gridCol w="5120640"/>
              </a:tblGrid>
              <a:tr h="33375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Header</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Authorization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Credentials: Bearer token, Basic, or an API key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Content-Type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Format of the body </a:t>
                      </a:r>
                      <a:r>
                        <a:rPr lang="en-US" sz="1200" b="1" dirty="0">
                          <a:solidFill>
                            <a:srgbClr val="2A2433"/>
                          </a:solidFill>
                          <a:latin typeface="Calibri" pitchFamily="34" charset="0"/>
                          <a:ea typeface="Calibri" pitchFamily="34" charset="-122"/>
                          <a:cs typeface="Calibri" pitchFamily="34" charset="-120"/>
                        </a:rPr>
                        <a:t>being sent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Accept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Format the client </a:t>
                      </a:r>
                      <a:r>
                        <a:rPr lang="en-US" sz="1200" b="1" dirty="0">
                          <a:solidFill>
                            <a:srgbClr val="2A2433"/>
                          </a:solidFill>
                          <a:latin typeface="Calibri" pitchFamily="34" charset="0"/>
                          <a:ea typeface="Calibri" pitchFamily="34" charset="-122"/>
                          <a:cs typeface="Calibri" pitchFamily="34" charset="-120"/>
                        </a:rPr>
                        <a:t>wants back</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Cookie</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Set-Cookie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Session cookies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X-API-Key</a:t>
                      </a:r>
                      <a:r>
                        <a:rPr lang="en-US" sz="1200" dirty="0">
                          <a:solidFill>
                            <a:srgbClr val="2A2433"/>
                          </a:solidFill>
                          <a:latin typeface="Calibri" pitchFamily="34" charset="0"/>
                          <a:ea typeface="Calibri" pitchFamily="34" charset="-122"/>
                          <a:cs typeface="Calibri" pitchFamily="34" charset="-120"/>
                        </a:rPr>
                        <a:t> (custom)</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 common place to put API keys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Origin</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Access-Control-Allow-Origin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Browser origin and CORS permission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Location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URL of a new resource, or a redirect target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X-RateLimit-*</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Retry-After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Rate-limit information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3375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X-Forwarded-For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Original client IP; often trusted wrongly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Where does the data go?</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1920240" cy="1737360"/>
          </a:xfrm>
          <a:prstGeom prst="rect">
            <a:avLst/>
          </a:prstGeom>
          <a:solidFill>
            <a:srgbClr val="FFFFFF"/>
          </a:solidFill>
          <a:ln w="9525">
            <a:solidFill>
              <a:srgbClr val="D6CCE6"/>
            </a:solidFill>
          </a:ln>
        </p:spPr>
      </p:sp>
      <p:sp>
        <p:nvSpPr>
          <p:cNvPr id="7" name="Text 4"/>
          <p:cNvSpPr txBox="1"/>
          <p:nvPr/>
        </p:nvSpPr>
        <p:spPr>
          <a:xfrm>
            <a:off x="621792" y="1463040"/>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Path parameter</a:t>
            </a:r>
            <a:endParaRPr lang="en-US" sz="1400" dirty="0"/>
          </a:p>
        </p:txBody>
      </p:sp>
      <p:sp>
        <p:nvSpPr>
          <p:cNvPr id="8" name="Text 5"/>
          <p:cNvSpPr txBox="1"/>
          <p:nvPr/>
        </p:nvSpPr>
        <p:spPr>
          <a:xfrm>
            <a:off x="621792" y="1767586"/>
            <a:ext cx="1591056" cy="1204214"/>
          </a:xfrm>
          <a:prstGeom prst="rect">
            <a:avLst/>
          </a:prstGeom>
          <a:noFill/>
        </p:spPr>
        <p:txBody>
          <a:bodyPr wrap="square" lIns="0" tIns="0" rIns="0" bIns="0" rtlCol="0" anchor="t"/>
          <a:lstStyle/>
          <a:p>
            <a:pPr marL="0" indent="0" algn="l">
              <a:spcAft>
                <a:spcPts val="400"/>
              </a:spcAft>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/users/1042</a:t>
            </a:r>
            <a:endParaRPr lang="en-US" sz="1100" dirty="0"/>
          </a:p>
          <a:p>
            <a:pPr marL="0" indent="0" algn="l">
              <a:buNone/>
            </a:pPr>
            <a:r>
              <a:rPr lang="en-US" sz="1200" dirty="0">
                <a:solidFill>
                  <a:srgbClr val="2A2433"/>
                </a:solidFill>
                <a:latin typeface="Calibri" pitchFamily="34" charset="0"/>
                <a:ea typeface="Calibri" pitchFamily="34" charset="-122"/>
                <a:cs typeface="Calibri" pitchFamily="34" charset="-120"/>
              </a:rPr>
              <a:t>Which resource</a:t>
            </a:r>
            <a:endParaRPr lang="en-US" sz="1100" dirty="0"/>
          </a:p>
        </p:txBody>
      </p:sp>
      <p:sp>
        <p:nvSpPr>
          <p:cNvPr id="9" name="Shape 6"/>
          <p:cNvSpPr/>
          <p:nvPr/>
        </p:nvSpPr>
        <p:spPr>
          <a:xfrm>
            <a:off x="2560320" y="1325880"/>
            <a:ext cx="1920240" cy="1737360"/>
          </a:xfrm>
          <a:prstGeom prst="rect">
            <a:avLst/>
          </a:prstGeom>
          <a:solidFill>
            <a:srgbClr val="FFFFFF"/>
          </a:solidFill>
          <a:ln w="9525">
            <a:solidFill>
              <a:srgbClr val="D6CCE6"/>
            </a:solidFill>
          </a:ln>
        </p:spPr>
      </p:sp>
      <p:sp>
        <p:nvSpPr>
          <p:cNvPr id="10" name="Text 7"/>
          <p:cNvSpPr txBox="1"/>
          <p:nvPr/>
        </p:nvSpPr>
        <p:spPr>
          <a:xfrm>
            <a:off x="2724912" y="1463040"/>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Query parameter</a:t>
            </a:r>
            <a:endParaRPr lang="en-US" sz="1400" dirty="0"/>
          </a:p>
        </p:txBody>
      </p:sp>
      <p:sp>
        <p:nvSpPr>
          <p:cNvPr id="11" name="Text 8"/>
          <p:cNvSpPr txBox="1"/>
          <p:nvPr/>
        </p:nvSpPr>
        <p:spPr>
          <a:xfrm>
            <a:off x="2724912" y="1767586"/>
            <a:ext cx="1591056" cy="1204214"/>
          </a:xfrm>
          <a:prstGeom prst="rect">
            <a:avLst/>
          </a:prstGeom>
          <a:noFill/>
        </p:spPr>
        <p:txBody>
          <a:bodyPr wrap="square" lIns="0" tIns="0" rIns="0" bIns="0" rtlCol="0" anchor="t"/>
          <a:lstStyle/>
          <a:p>
            <a:pPr marL="0" indent="0" algn="l">
              <a:spcAft>
                <a:spcPts val="400"/>
              </a:spcAft>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?status=shipped</a:t>
            </a:r>
            <a:endParaRPr lang="en-US" sz="1100" dirty="0"/>
          </a:p>
          <a:p>
            <a:pPr marL="0" indent="0" algn="l">
              <a:buNone/>
            </a:pPr>
            <a:r>
              <a:rPr lang="en-US" sz="1200" dirty="0">
                <a:solidFill>
                  <a:srgbClr val="2A2433"/>
                </a:solidFill>
                <a:latin typeface="Calibri" pitchFamily="34" charset="0"/>
                <a:ea typeface="Calibri" pitchFamily="34" charset="-122"/>
                <a:cs typeface="Calibri" pitchFamily="34" charset="-120"/>
              </a:rPr>
              <a:t>Filter, sort, paginate, search</a:t>
            </a:r>
            <a:endParaRPr lang="en-US" sz="1100" dirty="0"/>
          </a:p>
        </p:txBody>
      </p:sp>
      <p:sp>
        <p:nvSpPr>
          <p:cNvPr id="12" name="Shape 9"/>
          <p:cNvSpPr/>
          <p:nvPr/>
        </p:nvSpPr>
        <p:spPr>
          <a:xfrm>
            <a:off x="4663440" y="1325880"/>
            <a:ext cx="1920240" cy="1737360"/>
          </a:xfrm>
          <a:prstGeom prst="rect">
            <a:avLst/>
          </a:prstGeom>
          <a:solidFill>
            <a:srgbClr val="FFFFFF"/>
          </a:solidFill>
          <a:ln w="9525">
            <a:solidFill>
              <a:srgbClr val="D6CCE6"/>
            </a:solidFill>
          </a:ln>
        </p:spPr>
      </p:sp>
      <p:sp>
        <p:nvSpPr>
          <p:cNvPr id="13" name="Text 10"/>
          <p:cNvSpPr txBox="1"/>
          <p:nvPr/>
        </p:nvSpPr>
        <p:spPr>
          <a:xfrm>
            <a:off x="4828032" y="1463040"/>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Body</a:t>
            </a:r>
            <a:endParaRPr lang="en-US" sz="1400" dirty="0"/>
          </a:p>
        </p:txBody>
      </p:sp>
      <p:sp>
        <p:nvSpPr>
          <p:cNvPr id="14" name="Text 11"/>
          <p:cNvSpPr txBox="1"/>
          <p:nvPr/>
        </p:nvSpPr>
        <p:spPr>
          <a:xfrm>
            <a:off x="4828032" y="1767586"/>
            <a:ext cx="1591056" cy="1204214"/>
          </a:xfrm>
          <a:prstGeom prst="rect">
            <a:avLst/>
          </a:prstGeom>
          <a:noFill/>
        </p:spPr>
        <p:txBody>
          <a:bodyPr wrap="square" lIns="0" tIns="0" rIns="0" bIns="0" rtlCol="0" anchor="t"/>
          <a:lstStyle/>
          <a:p>
            <a:pPr marL="0" indent="0" algn="l">
              <a:spcAft>
                <a:spcPts val="400"/>
              </a:spcAft>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{"quantity": 2}</a:t>
            </a:r>
            <a:endParaRPr lang="en-US" sz="1100" dirty="0"/>
          </a:p>
          <a:p>
            <a:pPr marL="0" indent="0" algn="l">
              <a:buNone/>
            </a:pPr>
            <a:r>
              <a:rPr lang="en-US" sz="1200" dirty="0">
                <a:solidFill>
                  <a:srgbClr val="2A2433"/>
                </a:solidFill>
                <a:latin typeface="Calibri" pitchFamily="34" charset="0"/>
                <a:ea typeface="Calibri" pitchFamily="34" charset="-122"/>
                <a:cs typeface="Calibri" pitchFamily="34" charset="-120"/>
              </a:rPr>
              <a:t>Data being created or changed</a:t>
            </a:r>
            <a:endParaRPr lang="en-US" sz="1100" dirty="0"/>
          </a:p>
        </p:txBody>
      </p:sp>
      <p:sp>
        <p:nvSpPr>
          <p:cNvPr id="15" name="Shape 12"/>
          <p:cNvSpPr/>
          <p:nvPr/>
        </p:nvSpPr>
        <p:spPr>
          <a:xfrm>
            <a:off x="6766560" y="1325880"/>
            <a:ext cx="1920240" cy="1737360"/>
          </a:xfrm>
          <a:prstGeom prst="rect">
            <a:avLst/>
          </a:prstGeom>
          <a:solidFill>
            <a:srgbClr val="FFFFFF"/>
          </a:solidFill>
          <a:ln w="9525">
            <a:solidFill>
              <a:srgbClr val="D6CCE6"/>
            </a:solidFill>
          </a:ln>
        </p:spPr>
      </p:sp>
      <p:sp>
        <p:nvSpPr>
          <p:cNvPr id="16" name="Text 13"/>
          <p:cNvSpPr txBox="1"/>
          <p:nvPr/>
        </p:nvSpPr>
        <p:spPr>
          <a:xfrm>
            <a:off x="6931152" y="1463040"/>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Header</a:t>
            </a:r>
            <a:endParaRPr lang="en-US" sz="1400" dirty="0"/>
          </a:p>
        </p:txBody>
      </p:sp>
      <p:sp>
        <p:nvSpPr>
          <p:cNvPr id="17" name="Text 14"/>
          <p:cNvSpPr txBox="1"/>
          <p:nvPr/>
        </p:nvSpPr>
        <p:spPr>
          <a:xfrm>
            <a:off x="6931152" y="1767586"/>
            <a:ext cx="1591056" cy="1204214"/>
          </a:xfrm>
          <a:prstGeom prst="rect">
            <a:avLst/>
          </a:prstGeom>
          <a:noFill/>
        </p:spPr>
        <p:txBody>
          <a:bodyPr wrap="square" lIns="0" tIns="0" rIns="0" bIns="0" rtlCol="0" anchor="t"/>
          <a:lstStyle/>
          <a:p>
            <a:pPr marL="0" indent="0" algn="l">
              <a:spcAft>
                <a:spcPts val="400"/>
              </a:spcAft>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X-Tenant-Id: 7</a:t>
            </a:r>
            <a:endParaRPr lang="en-US" sz="1100" dirty="0"/>
          </a:p>
          <a:p>
            <a:pPr marL="0" indent="0" algn="l">
              <a:buNone/>
            </a:pPr>
            <a:r>
              <a:rPr lang="en-US" sz="1200" dirty="0">
                <a:solidFill>
                  <a:srgbClr val="2A2433"/>
                </a:solidFill>
                <a:latin typeface="Calibri" pitchFamily="34" charset="0"/>
                <a:ea typeface="Calibri" pitchFamily="34" charset="-122"/>
                <a:cs typeface="Calibri" pitchFamily="34" charset="-120"/>
              </a:rPr>
              <a:t>Metadata, context, auth</a:t>
            </a:r>
            <a:endParaRPr lang="en-US" sz="1100" dirty="0"/>
          </a:p>
        </p:txBody>
      </p:sp>
      <p:sp>
        <p:nvSpPr>
          <p:cNvPr id="18" name="Shape 15"/>
          <p:cNvSpPr/>
          <p:nvPr/>
        </p:nvSpPr>
        <p:spPr>
          <a:xfrm>
            <a:off x="457200" y="3337560"/>
            <a:ext cx="8229600" cy="914400"/>
          </a:xfrm>
          <a:prstGeom prst="rect">
            <a:avLst/>
          </a:prstGeom>
          <a:solidFill>
            <a:srgbClr val="FDEAE5"/>
          </a:solidFill>
          <a:ln w="12700">
            <a:solidFill>
              <a:srgbClr val="FDEAE5"/>
            </a:solidFill>
            <a:prstDash val="solid"/>
          </a:ln>
        </p:spPr>
      </p:sp>
      <p:sp>
        <p:nvSpPr>
          <p:cNvPr id="19" name="Shape 16"/>
          <p:cNvSpPr/>
          <p:nvPr/>
        </p:nvSpPr>
        <p:spPr>
          <a:xfrm>
            <a:off x="640080" y="3566160"/>
            <a:ext cx="457200" cy="457200"/>
          </a:xfrm>
          <a:prstGeom prst="roundRect">
            <a:avLst>
              <a:gd name="adj" fmla="val 24000"/>
            </a:avLst>
          </a:prstGeom>
          <a:solidFill>
            <a:srgbClr val="F2705A"/>
          </a:solidFill>
          <a:ln w="12700">
            <a:solidFill>
              <a:srgbClr val="F2705A"/>
            </a:solidFill>
            <a:prstDash val="solid"/>
          </a:ln>
        </p:spPr>
      </p:sp>
      <p:pic>
        <p:nvPicPr>
          <p:cNvPr id="20" name="Image 0" descr="preencoded.png"/>
          <p:cNvPicPr>
            <a:picLocks noChangeAspect="1"/>
          </p:cNvPicPr>
          <p:nvPr/>
        </p:nvPicPr>
        <p:blipFill>
          <a:blip r:embed="rId1"/>
          <a:stretch>
            <a:fillRect/>
          </a:stretch>
        </p:blipFill>
        <p:spPr>
          <a:xfrm>
            <a:off x="754380" y="3680460"/>
            <a:ext cx="228600" cy="228600"/>
          </a:xfrm>
          <a:prstGeom prst="rect">
            <a:avLst/>
          </a:prstGeom>
        </p:spPr>
      </p:pic>
      <p:sp>
        <p:nvSpPr>
          <p:cNvPr id="21" name="Text 17"/>
          <p:cNvSpPr txBox="1"/>
          <p:nvPr/>
        </p:nvSpPr>
        <p:spPr>
          <a:xfrm>
            <a:off x="1280160" y="3337560"/>
            <a:ext cx="7223760" cy="914400"/>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Object IDs in </a:t>
            </a:r>
            <a:r>
              <a:rPr lang="en-US" sz="1400" b="1" dirty="0">
                <a:solidFill>
                  <a:srgbClr val="2A2433"/>
                </a:solidFill>
                <a:latin typeface="Calibri" pitchFamily="34" charset="0"/>
                <a:ea typeface="Calibri" pitchFamily="34" charset="-122"/>
                <a:cs typeface="Calibri" pitchFamily="34" charset="-120"/>
              </a:rPr>
              <a:t>path parameters</a:t>
            </a:r>
            <a:r>
              <a:rPr lang="en-US" sz="1400" dirty="0">
                <a:solidFill>
                  <a:srgbClr val="2A2433"/>
                </a:solidFill>
                <a:latin typeface="Calibri" pitchFamily="34" charset="0"/>
                <a:ea typeface="Calibri" pitchFamily="34" charset="-122"/>
                <a:cs typeface="Calibri" pitchFamily="34" charset="-120"/>
              </a:rPr>
              <a:t> are prime targets for authorization testing. Secrets in </a:t>
            </a:r>
            <a:r>
              <a:rPr lang="en-US" sz="1400" b="1" dirty="0">
                <a:solidFill>
                  <a:srgbClr val="2A2433"/>
                </a:solidFill>
                <a:latin typeface="Calibri" pitchFamily="34" charset="0"/>
                <a:ea typeface="Calibri" pitchFamily="34" charset="-122"/>
                <a:cs typeface="Calibri" pitchFamily="34" charset="-120"/>
              </a:rPr>
              <a:t>query strings</a:t>
            </a:r>
            <a:r>
              <a:rPr lang="en-US" sz="1400" dirty="0">
                <a:solidFill>
                  <a:srgbClr val="2A2433"/>
                </a:solidFill>
                <a:latin typeface="Calibri" pitchFamily="34" charset="0"/>
                <a:ea typeface="Calibri" pitchFamily="34" charset="-122"/>
                <a:cs typeface="Calibri" pitchFamily="34" charset="-120"/>
              </a:rPr>
              <a:t> leak into logs, history and proxies.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Status codes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21" name="Table 0"/>
          <p:cNvGraphicFramePr>
            <a:graphicFrameLocks noGrp="1"/>
          </p:cNvGraphicFramePr>
          <p:nvPr/>
        </p:nvGraphicFramePr>
        <p:xfrm>
          <a:off x="457200" y="1280160"/>
          <a:ext cx="8229600" cy="1645920"/>
        </p:xfrm>
        <a:graphic>
          <a:graphicData uri="http://schemas.openxmlformats.org/drawingml/2006/table">
            <a:tbl>
              <a:tblPr/>
              <a:tblGrid>
                <a:gridCol w="822960"/>
                <a:gridCol w="1463040"/>
                <a:gridCol w="5943600"/>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Common codes in APIs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29184">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2xx</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Success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200 OK</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201 Created</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204 No Content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9184">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3xx</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Redirect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301</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302</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304 Not Modified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29184">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4xx</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Client error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400</a:t>
                      </a:r>
                      <a:r>
                        <a:rPr lang="en-US" sz="1200" dirty="0">
                          <a:solidFill>
                            <a:srgbClr val="2A2433"/>
                          </a:solidFill>
                          <a:latin typeface="Calibri" pitchFamily="34" charset="0"/>
                          <a:ea typeface="Calibri" pitchFamily="34" charset="-122"/>
                          <a:cs typeface="Calibri" pitchFamily="34" charset="-120"/>
                        </a:rPr>
                        <a:t> malformed,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401</a:t>
                      </a:r>
                      <a:r>
                        <a:rPr lang="en-US" sz="1200" dirty="0">
                          <a:solidFill>
                            <a:srgbClr val="2A2433"/>
                          </a:solidFill>
                          <a:latin typeface="Calibri" pitchFamily="34" charset="0"/>
                          <a:ea typeface="Calibri" pitchFamily="34" charset="-122"/>
                          <a:cs typeface="Calibri" pitchFamily="34" charset="-120"/>
                        </a:rPr>
                        <a:t> not authenticated,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403</a:t>
                      </a:r>
                      <a:r>
                        <a:rPr lang="en-US" sz="1200" dirty="0">
                          <a:solidFill>
                            <a:srgbClr val="2A2433"/>
                          </a:solidFill>
                          <a:latin typeface="Calibri" pitchFamily="34" charset="0"/>
                          <a:ea typeface="Calibri" pitchFamily="34" charset="-122"/>
                          <a:cs typeface="Calibri" pitchFamily="34" charset="-120"/>
                        </a:rPr>
                        <a:t> not allowed,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404</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405</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409</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415</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422</a:t>
                      </a:r>
                      <a:r>
                        <a:rPr lang="en-US" sz="1200" dirty="0">
                          <a:solidFill>
                            <a:srgbClr val="2A2433"/>
                          </a:solidFill>
                          <a:latin typeface="Calibri" pitchFamily="34" charset="0"/>
                          <a:ea typeface="Calibri" pitchFamily="34" charset="-122"/>
                          <a:cs typeface="Calibri" pitchFamily="34" charset="-120"/>
                        </a:rPr>
                        <a:t> failed validation,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429</a:t>
                      </a:r>
                      <a:r>
                        <a:rPr lang="en-US" sz="1200" dirty="0">
                          <a:solidFill>
                            <a:srgbClr val="2A2433"/>
                          </a:solidFill>
                          <a:latin typeface="Calibri" pitchFamily="34" charset="0"/>
                          <a:ea typeface="Calibri" pitchFamily="34" charset="-122"/>
                          <a:cs typeface="Calibri" pitchFamily="34" charset="-120"/>
                        </a:rPr>
                        <a:t> too many requests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9184">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5xx</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Server error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500</a:t>
                      </a:r>
                      <a:r>
                        <a:rPr lang="en-US" sz="1200" dirty="0">
                          <a:solidFill>
                            <a:srgbClr val="2A2433"/>
                          </a:solidFill>
                          <a:latin typeface="Calibri" pitchFamily="34" charset="0"/>
                          <a:ea typeface="Calibri" pitchFamily="34" charset="-122"/>
                          <a:cs typeface="Calibri" pitchFamily="34" charset="-120"/>
                        </a:rPr>
                        <a:t> internal error,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502</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503</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504</a:t>
                      </a:r>
                      <a:r>
                        <a:rPr lang="en-US" sz="1200" dirty="0">
                          <a:solidFill>
                            <a:srgbClr val="2A2433"/>
                          </a:solidFill>
                          <a:latin typeface="Calibri" pitchFamily="34" charset="0"/>
                          <a:ea typeface="Calibri" pitchFamily="34" charset="-122"/>
                          <a:cs typeface="Calibri" pitchFamily="34" charset="-120"/>
                        </a:rPr>
                        <a:t> gateway or upstream</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7" name="Shape 3"/>
          <p:cNvSpPr/>
          <p:nvPr/>
        </p:nvSpPr>
        <p:spPr>
          <a:xfrm>
            <a:off x="457200" y="3383280"/>
            <a:ext cx="2621280" cy="1188720"/>
          </a:xfrm>
          <a:prstGeom prst="rect">
            <a:avLst/>
          </a:prstGeom>
          <a:solidFill>
            <a:srgbClr val="FFFFFF"/>
          </a:solidFill>
          <a:ln w="9525">
            <a:solidFill>
              <a:srgbClr val="D6CCE6"/>
            </a:solidFill>
          </a:ln>
        </p:spPr>
      </p:sp>
      <p:sp>
        <p:nvSpPr>
          <p:cNvPr id="8" name="Text 4"/>
          <p:cNvSpPr txBox="1"/>
          <p:nvPr/>
        </p:nvSpPr>
        <p:spPr>
          <a:xfrm>
            <a:off x="621792" y="3520440"/>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401 vs 403</a:t>
            </a:r>
            <a:endParaRPr lang="en-US" sz="1500" dirty="0"/>
          </a:p>
        </p:txBody>
      </p:sp>
      <p:sp>
        <p:nvSpPr>
          <p:cNvPr id="9" name="Text 5"/>
          <p:cNvSpPr txBox="1"/>
          <p:nvPr/>
        </p:nvSpPr>
        <p:spPr>
          <a:xfrm>
            <a:off x="621792" y="3840861"/>
            <a:ext cx="2292096" cy="639699"/>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Who you are, or what you can do?</a:t>
            </a:r>
            <a:endParaRPr lang="en-US" sz="1200" dirty="0"/>
          </a:p>
        </p:txBody>
      </p:sp>
      <p:sp>
        <p:nvSpPr>
          <p:cNvPr id="10" name="Shape 6"/>
          <p:cNvSpPr/>
          <p:nvPr/>
        </p:nvSpPr>
        <p:spPr>
          <a:xfrm>
            <a:off x="3261360" y="3383280"/>
            <a:ext cx="2621280" cy="1188720"/>
          </a:xfrm>
          <a:prstGeom prst="rect">
            <a:avLst/>
          </a:prstGeom>
          <a:solidFill>
            <a:srgbClr val="FFFFFF"/>
          </a:solidFill>
          <a:ln w="9525">
            <a:solidFill>
              <a:srgbClr val="D6CCE6"/>
            </a:solidFill>
          </a:ln>
        </p:spPr>
      </p:sp>
      <p:sp>
        <p:nvSpPr>
          <p:cNvPr id="11" name="Text 7"/>
          <p:cNvSpPr txBox="1"/>
          <p:nvPr/>
        </p:nvSpPr>
        <p:spPr>
          <a:xfrm>
            <a:off x="3425952" y="3520440"/>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404 vs 403</a:t>
            </a:r>
            <a:endParaRPr lang="en-US" sz="1500" dirty="0"/>
          </a:p>
        </p:txBody>
      </p:sp>
      <p:sp>
        <p:nvSpPr>
          <p:cNvPr id="12" name="Text 8"/>
          <p:cNvSpPr txBox="1"/>
          <p:nvPr/>
        </p:nvSpPr>
        <p:spPr>
          <a:xfrm>
            <a:off x="3425952" y="3840861"/>
            <a:ext cx="2292096" cy="639699"/>
          </a:xfrm>
          <a:prstGeom prst="rect">
            <a:avLst/>
          </a:prstGeom>
          <a:noFill/>
        </p:spPr>
        <p:txBody>
          <a:bodyPr wrap="square" lIns="0" tIns="0" rIns="0" bIns="0" rtlCol="0" anchor="t"/>
          <a:lstStyle/>
          <a:p>
            <a:pPr marL="0" indent="0" algn="l">
              <a:buNone/>
            </a:pPr>
            <a:r>
              <a:rPr lang="en-US" sz="1200" dirty="0"/>
              <a:t>not reachable , un auth</a:t>
            </a:r>
            <a:endParaRPr lang="en-US" sz="1200" dirty="0"/>
          </a:p>
        </p:txBody>
      </p:sp>
      <p:sp>
        <p:nvSpPr>
          <p:cNvPr id="13" name="Shape 9"/>
          <p:cNvSpPr/>
          <p:nvPr/>
        </p:nvSpPr>
        <p:spPr>
          <a:xfrm>
            <a:off x="6065520" y="3383280"/>
            <a:ext cx="2621280" cy="1188720"/>
          </a:xfrm>
          <a:prstGeom prst="rect">
            <a:avLst/>
          </a:prstGeom>
          <a:solidFill>
            <a:srgbClr val="FFFFFF"/>
          </a:solidFill>
          <a:ln w="9525">
            <a:solidFill>
              <a:srgbClr val="D6CCE6"/>
            </a:solidFill>
          </a:ln>
        </p:spPr>
      </p:sp>
      <p:sp>
        <p:nvSpPr>
          <p:cNvPr id="14" name="Text 10"/>
          <p:cNvSpPr txBox="1"/>
          <p:nvPr/>
        </p:nvSpPr>
        <p:spPr>
          <a:xfrm>
            <a:off x="6230112" y="3520440"/>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500</a:t>
            </a:r>
            <a:endParaRPr lang="en-US" sz="1500" dirty="0"/>
          </a:p>
        </p:txBody>
      </p:sp>
      <p:sp>
        <p:nvSpPr>
          <p:cNvPr id="15" name="Text 11"/>
          <p:cNvSpPr txBox="1"/>
          <p:nvPr/>
        </p:nvSpPr>
        <p:spPr>
          <a:xfrm>
            <a:off x="6230112" y="3840861"/>
            <a:ext cx="2292096" cy="639699"/>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Your input reached something it should not have</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1.4 · REQUEST AND RESPONSE</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Cookies vs tokens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00584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COOKIE SESSION</a:t>
            </a:r>
            <a:endParaRPr lang="en-US" sz="1000" dirty="0"/>
          </a:p>
        </p:txBody>
      </p:sp>
      <p:sp>
        <p:nvSpPr>
          <p:cNvPr id="8" name="Text 5"/>
          <p:cNvSpPr txBox="1"/>
          <p:nvPr/>
        </p:nvSpPr>
        <p:spPr>
          <a:xfrm>
            <a:off x="640080" y="1627632"/>
            <a:ext cx="3657600" cy="56692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GET /api/v1/profile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Host: app.example.com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Cookie: session=9f8a3c1e5b7d...</a:t>
            </a:r>
            <a:endParaRPr lang="en-US" sz="1000" dirty="0"/>
          </a:p>
        </p:txBody>
      </p:sp>
      <p:sp>
        <p:nvSpPr>
          <p:cNvPr id="9" name="Shape 6"/>
          <p:cNvSpPr/>
          <p:nvPr/>
        </p:nvSpPr>
        <p:spPr>
          <a:xfrm>
            <a:off x="4663440" y="1280160"/>
            <a:ext cx="4023360" cy="1005840"/>
          </a:xfrm>
          <a:prstGeom prst="rect">
            <a:avLst/>
          </a:prstGeom>
          <a:solidFill>
            <a:srgbClr val="241733"/>
          </a:solidFill>
          <a:ln w="12700">
            <a:solidFill>
              <a:srgbClr val="24173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BEARER TOKEN</a:t>
            </a:r>
            <a:endParaRPr lang="en-US" sz="1000" dirty="0"/>
          </a:p>
        </p:txBody>
      </p:sp>
      <p:sp>
        <p:nvSpPr>
          <p:cNvPr id="11" name="Text 8"/>
          <p:cNvSpPr txBox="1"/>
          <p:nvPr/>
        </p:nvSpPr>
        <p:spPr>
          <a:xfrm>
            <a:off x="4846320" y="1627632"/>
            <a:ext cx="3657600" cy="56692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GET /api/v1/profile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Host: api.example.com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1000" dirty="0"/>
          </a:p>
        </p:txBody>
      </p:sp>
      <p:graphicFrame>
        <p:nvGraphicFramePr>
          <p:cNvPr id="22" name="Table 0"/>
          <p:cNvGraphicFramePr>
            <a:graphicFrameLocks noGrp="1"/>
          </p:cNvGraphicFramePr>
          <p:nvPr/>
        </p:nvGraphicFramePr>
        <p:xfrm>
          <a:off x="457200" y="2514600"/>
          <a:ext cx="8229600" cy="2011680"/>
        </p:xfrm>
        <a:graphic>
          <a:graphicData uri="http://schemas.openxmlformats.org/drawingml/2006/table">
            <a:tbl>
              <a:tblPr/>
              <a:tblGrid>
                <a:gridCol w="1554480"/>
                <a:gridCol w="3291840"/>
                <a:gridCol w="3383280"/>
              </a:tblGrid>
              <a:tr h="402336">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Cookie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Bearer token in header</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Sent by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Browser, automatically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Client code, explicitly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CSRF risk</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Yes: attached to cross-site requests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 not auto-attached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XSS theft risk</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Reduced with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HttpOnly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High if kept in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localStorage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Typical clients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Browser apps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Mobile apps, SPAs, third parties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FE8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51268E"/>
                </a:solidFill>
                <a:latin typeface="Calibri" pitchFamily="34" charset="0"/>
                <a:ea typeface="Calibri" pitchFamily="34" charset="-122"/>
                <a:cs typeface="Calibri" pitchFamily="34" charset="-120"/>
              </a:rPr>
              <a:t>HANDS-ON  ·  10 MIN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Exercise 1.1: You have already been testing APIs</a:t>
            </a:r>
            <a:endParaRPr lang="en-US" sz="2800" dirty="0"/>
          </a:p>
        </p:txBody>
      </p:sp>
      <p:sp>
        <p:nvSpPr>
          <p:cNvPr id="6" name="Shape 3"/>
          <p:cNvSpPr/>
          <p:nvPr/>
        </p:nvSpPr>
        <p:spPr>
          <a:xfrm>
            <a:off x="457200" y="1280160"/>
            <a:ext cx="8229600" cy="548640"/>
          </a:xfrm>
          <a:prstGeom prst="rect">
            <a:avLst/>
          </a:prstGeom>
          <a:solidFill>
            <a:srgbClr val="FFFFFF"/>
          </a:solidFill>
          <a:ln w="12700">
            <a:solidFill>
              <a:srgbClr val="FFFFFF"/>
            </a:solidFill>
            <a:prstDash val="solid"/>
          </a:ln>
        </p:spPr>
      </p:sp>
      <p:sp>
        <p:nvSpPr>
          <p:cNvPr id="7" name="Text 4"/>
          <p:cNvSpPr txBox="1"/>
          <p:nvPr/>
        </p:nvSpPr>
        <p:spPr>
          <a:xfrm>
            <a:off x="640080" y="1280160"/>
            <a:ext cx="7863840" cy="548640"/>
          </a:xfrm>
          <a:prstGeom prst="rect">
            <a:avLst/>
          </a:prstGeom>
          <a:noFill/>
        </p:spPr>
        <p:txBody>
          <a:bodyPr wrap="square" lIns="0" tIns="0" rIns="0" bIns="0" rtlCol="0" anchor="ctr"/>
          <a:lstStyle/>
          <a:p>
            <a:pPr marL="0" indent="0" algn="l">
              <a:buNone/>
            </a:pPr>
            <a:r>
              <a:rPr lang="en-US" sz="1300" b="1" dirty="0">
                <a:solidFill>
                  <a:srgbClr val="2A2433"/>
                </a:solidFill>
                <a:latin typeface="Calibri" pitchFamily="34" charset="0"/>
                <a:ea typeface="Calibri" pitchFamily="34" charset="-122"/>
                <a:cs typeface="Calibri" pitchFamily="34" charset="-120"/>
              </a:rPr>
              <a:t>Goal:</a:t>
            </a:r>
            <a:r>
              <a:rPr lang="en-US" sz="1300" dirty="0">
                <a:solidFill>
                  <a:srgbClr val="2A2433"/>
                </a:solidFill>
                <a:latin typeface="Calibri" pitchFamily="34" charset="0"/>
                <a:ea typeface="Calibri" pitchFamily="34" charset="-122"/>
                <a:cs typeface="Calibri" pitchFamily="34" charset="-120"/>
              </a:rPr>
              <a:t> See that the requests captured in earlier web labs were API calls all along.</a:t>
            </a:r>
            <a:endParaRPr lang="en-US" sz="1300" dirty="0"/>
          </a:p>
        </p:txBody>
      </p:sp>
      <p:sp>
        <p:nvSpPr>
          <p:cNvPr id="8" name="Shape 5"/>
          <p:cNvSpPr/>
          <p:nvPr/>
        </p:nvSpPr>
        <p:spPr>
          <a:xfrm>
            <a:off x="457200" y="1965960"/>
            <a:ext cx="5029200" cy="2697480"/>
          </a:xfrm>
          <a:prstGeom prst="rect">
            <a:avLst/>
          </a:prstGeom>
          <a:solidFill>
            <a:srgbClr val="FFFFFF"/>
          </a:solidFill>
          <a:ln w="12700">
            <a:solidFill>
              <a:srgbClr val="FFFFFF"/>
            </a:solidFill>
            <a:prstDash val="solid"/>
          </a:ln>
        </p:spPr>
      </p:sp>
      <p:sp>
        <p:nvSpPr>
          <p:cNvPr id="9" name="Text 6"/>
          <p:cNvSpPr txBox="1"/>
          <p:nvPr/>
        </p:nvSpPr>
        <p:spPr>
          <a:xfrm>
            <a:off x="640080" y="2103120"/>
            <a:ext cx="310896" cy="213360"/>
          </a:xfrm>
          <a:prstGeom prst="rect">
            <a:avLst/>
          </a:prstGeom>
          <a:noFill/>
        </p:spPr>
        <p:txBody>
          <a:bodyPr wrap="square" lIns="0" tIns="0" rIns="0" bIns="0" rtlCol="0" anchor="t"/>
          <a:lstStyle/>
          <a:p>
            <a:pPr marL="0" indent="0">
              <a:buNone/>
            </a:pPr>
            <a:r>
              <a:rPr lang="en-US" sz="1200" b="1" dirty="0">
                <a:solidFill>
                  <a:srgbClr val="6B35B5"/>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987552" y="2103120"/>
            <a:ext cx="4315968" cy="399288"/>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Open Burp </a:t>
            </a:r>
            <a:r>
              <a:rPr lang="en-US" sz="1200" b="1" dirty="0">
                <a:solidFill>
                  <a:srgbClr val="2A2433"/>
                </a:solidFill>
                <a:latin typeface="Calibri" pitchFamily="34" charset="0"/>
                <a:ea typeface="Calibri" pitchFamily="34" charset="-122"/>
                <a:cs typeface="Calibri" pitchFamily="34" charset="-120"/>
              </a:rPr>
              <a:t>Proxy &gt; HTTP history</a:t>
            </a:r>
            <a:r>
              <a:rPr lang="en-US" sz="1200" dirty="0">
                <a:solidFill>
                  <a:srgbClr val="2A2433"/>
                </a:solidFill>
                <a:latin typeface="Calibri" pitchFamily="34" charset="0"/>
                <a:ea typeface="Calibri" pitchFamily="34" charset="-122"/>
                <a:cs typeface="Calibri" pitchFamily="34" charset="-120"/>
              </a:rPr>
              <a:t> from a lab you have done (login, search or stock-check work well)</a:t>
            </a:r>
            <a:endParaRPr lang="en-US" sz="1200" dirty="0"/>
          </a:p>
        </p:txBody>
      </p:sp>
      <p:sp>
        <p:nvSpPr>
          <p:cNvPr id="11" name="Text 8"/>
          <p:cNvSpPr txBox="1"/>
          <p:nvPr/>
        </p:nvSpPr>
        <p:spPr>
          <a:xfrm>
            <a:off x="640080" y="2566416"/>
            <a:ext cx="310896" cy="213360"/>
          </a:xfrm>
          <a:prstGeom prst="rect">
            <a:avLst/>
          </a:prstGeom>
          <a:noFill/>
        </p:spPr>
        <p:txBody>
          <a:bodyPr wrap="square" lIns="0" tIns="0" rIns="0" bIns="0" rtlCol="0" anchor="t"/>
          <a:lstStyle/>
          <a:p>
            <a:pPr marL="0" indent="0">
              <a:buNone/>
            </a:pPr>
            <a:r>
              <a:rPr lang="en-US" sz="1200" b="1" dirty="0">
                <a:solidFill>
                  <a:srgbClr val="6B35B5"/>
                </a:solidFill>
                <a:latin typeface="Calibri" pitchFamily="34" charset="0"/>
                <a:ea typeface="Calibri" pitchFamily="34" charset="-122"/>
                <a:cs typeface="Calibri" pitchFamily="34" charset="-120"/>
              </a:rPr>
              <a:t>2.</a:t>
            </a:r>
            <a:endParaRPr lang="en-US" sz="1200" dirty="0"/>
          </a:p>
        </p:txBody>
      </p:sp>
      <p:sp>
        <p:nvSpPr>
          <p:cNvPr id="12" name="Text 9"/>
          <p:cNvSpPr txBox="1"/>
          <p:nvPr/>
        </p:nvSpPr>
        <p:spPr>
          <a:xfrm>
            <a:off x="987552" y="2566416"/>
            <a:ext cx="4315968" cy="585216"/>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Pick three requests. Record method, path, parameters,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Content-Type</a:t>
            </a:r>
            <a:r>
              <a:rPr lang="en-US" sz="1200" dirty="0">
                <a:solidFill>
                  <a:srgbClr val="2A2433"/>
                </a:solidFill>
                <a:latin typeface="Calibri" pitchFamily="34" charset="0"/>
                <a:ea typeface="Calibri" pitchFamily="34" charset="-122"/>
                <a:cs typeface="Calibri" pitchFamily="34" charset="-120"/>
              </a:rPr>
              <a:t>, how it is authenticated, and what the response contains</a:t>
            </a:r>
            <a:endParaRPr lang="en-US" sz="1200" dirty="0"/>
          </a:p>
        </p:txBody>
      </p:sp>
      <p:sp>
        <p:nvSpPr>
          <p:cNvPr id="13" name="Text 10"/>
          <p:cNvSpPr txBox="1"/>
          <p:nvPr/>
        </p:nvSpPr>
        <p:spPr>
          <a:xfrm>
            <a:off x="640080" y="3215640"/>
            <a:ext cx="310896" cy="213360"/>
          </a:xfrm>
          <a:prstGeom prst="rect">
            <a:avLst/>
          </a:prstGeom>
          <a:noFill/>
        </p:spPr>
        <p:txBody>
          <a:bodyPr wrap="square" lIns="0" tIns="0" rIns="0" bIns="0" rtlCol="0" anchor="t"/>
          <a:lstStyle/>
          <a:p>
            <a:pPr marL="0" indent="0">
              <a:buNone/>
            </a:pPr>
            <a:r>
              <a:rPr lang="en-US" sz="1200" b="1" dirty="0">
                <a:solidFill>
                  <a:srgbClr val="6B35B5"/>
                </a:solidFill>
                <a:latin typeface="Calibri" pitchFamily="34" charset="0"/>
                <a:ea typeface="Calibri" pitchFamily="34" charset="-122"/>
                <a:cs typeface="Calibri" pitchFamily="34" charset="-120"/>
              </a:rPr>
              <a:t>3.</a:t>
            </a:r>
            <a:endParaRPr lang="en-US" sz="1200" dirty="0"/>
          </a:p>
        </p:txBody>
      </p:sp>
      <p:sp>
        <p:nvSpPr>
          <p:cNvPr id="14" name="Text 11"/>
          <p:cNvSpPr txBox="1"/>
          <p:nvPr/>
        </p:nvSpPr>
        <p:spPr>
          <a:xfrm>
            <a:off x="987552" y="3215640"/>
            <a:ext cx="4315968" cy="399288"/>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Which responses were HTML, and which JSON or XML? Which requests were fired by JavaScript rather than a link click?</a:t>
            </a:r>
            <a:endParaRPr lang="en-US" sz="1200" dirty="0"/>
          </a:p>
        </p:txBody>
      </p:sp>
      <p:sp>
        <p:nvSpPr>
          <p:cNvPr id="15" name="Text 12"/>
          <p:cNvSpPr txBox="1"/>
          <p:nvPr/>
        </p:nvSpPr>
        <p:spPr>
          <a:xfrm>
            <a:off x="640080" y="3678936"/>
            <a:ext cx="310896" cy="213360"/>
          </a:xfrm>
          <a:prstGeom prst="rect">
            <a:avLst/>
          </a:prstGeom>
          <a:noFill/>
        </p:spPr>
        <p:txBody>
          <a:bodyPr wrap="square" lIns="0" tIns="0" rIns="0" bIns="0" rtlCol="0" anchor="t"/>
          <a:lstStyle/>
          <a:p>
            <a:pPr marL="0" indent="0">
              <a:buNone/>
            </a:pPr>
            <a:r>
              <a:rPr lang="en-US" sz="1200" b="1" dirty="0">
                <a:solidFill>
                  <a:srgbClr val="6B35B5"/>
                </a:solidFill>
                <a:latin typeface="Calibri" pitchFamily="34" charset="0"/>
                <a:ea typeface="Calibri" pitchFamily="34" charset="-122"/>
                <a:cs typeface="Calibri" pitchFamily="34" charset="-120"/>
              </a:rPr>
              <a:t>4.</a:t>
            </a:r>
            <a:endParaRPr lang="en-US" sz="1200" dirty="0"/>
          </a:p>
        </p:txBody>
      </p:sp>
      <p:sp>
        <p:nvSpPr>
          <p:cNvPr id="16" name="Text 13"/>
          <p:cNvSpPr txBox="1"/>
          <p:nvPr/>
        </p:nvSpPr>
        <p:spPr>
          <a:xfrm>
            <a:off x="987552" y="3678936"/>
            <a:ext cx="4315968" cy="399288"/>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Reveal: every form submission and button click was a client calling an endpoint. The page was just one client</a:t>
            </a:r>
            <a:endParaRPr lang="en-US" sz="1200" dirty="0"/>
          </a:p>
        </p:txBody>
      </p:sp>
      <p:sp>
        <p:nvSpPr>
          <p:cNvPr id="17" name="Text 14"/>
          <p:cNvSpPr txBox="1"/>
          <p:nvPr/>
        </p:nvSpPr>
        <p:spPr>
          <a:xfrm>
            <a:off x="640080" y="4142232"/>
            <a:ext cx="310896" cy="213360"/>
          </a:xfrm>
          <a:prstGeom prst="rect">
            <a:avLst/>
          </a:prstGeom>
          <a:noFill/>
        </p:spPr>
        <p:txBody>
          <a:bodyPr wrap="square" lIns="0" tIns="0" rIns="0" bIns="0" rtlCol="0" anchor="t"/>
          <a:lstStyle/>
          <a:p>
            <a:pPr marL="0" indent="0">
              <a:buNone/>
            </a:pPr>
            <a:r>
              <a:rPr lang="en-US" sz="1200" b="1" dirty="0">
                <a:solidFill>
                  <a:srgbClr val="6B35B5"/>
                </a:solidFill>
                <a:latin typeface="Calibri" pitchFamily="34" charset="0"/>
                <a:ea typeface="Calibri" pitchFamily="34" charset="-122"/>
                <a:cs typeface="Calibri" pitchFamily="34" charset="-120"/>
              </a:rPr>
              <a:t>5.</a:t>
            </a:r>
            <a:endParaRPr lang="en-US" sz="1200" dirty="0"/>
          </a:p>
        </p:txBody>
      </p:sp>
      <p:sp>
        <p:nvSpPr>
          <p:cNvPr id="18" name="Text 15"/>
          <p:cNvSpPr txBox="1"/>
          <p:nvPr/>
        </p:nvSpPr>
        <p:spPr>
          <a:xfrm>
            <a:off x="987552" y="4142232"/>
            <a:ext cx="4315968" cy="399288"/>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Optional: DevTools &gt; Network &gt; Fetch/XHR on a public site (for example the Swagger Petstore page)</a:t>
            </a:r>
            <a:endParaRPr lang="en-US" sz="1200" dirty="0"/>
          </a:p>
        </p:txBody>
      </p:sp>
      <p:sp>
        <p:nvSpPr>
          <p:cNvPr id="19" name="Shape 16"/>
          <p:cNvSpPr/>
          <p:nvPr/>
        </p:nvSpPr>
        <p:spPr>
          <a:xfrm>
            <a:off x="5669280" y="1965960"/>
            <a:ext cx="3017520" cy="2697480"/>
          </a:xfrm>
          <a:prstGeom prst="rect">
            <a:avLst/>
          </a:prstGeom>
          <a:solidFill>
            <a:srgbClr val="2B1B3F"/>
          </a:solidFill>
          <a:ln w="12700">
            <a:solidFill>
              <a:srgbClr val="2B1B3F"/>
            </a:solidFill>
            <a:prstDash val="solid"/>
          </a:ln>
        </p:spPr>
      </p:sp>
      <p:sp>
        <p:nvSpPr>
          <p:cNvPr id="20" name="Text 17"/>
          <p:cNvSpPr txBox="1"/>
          <p:nvPr/>
        </p:nvSpPr>
        <p:spPr>
          <a:xfrm>
            <a:off x="5852160" y="2075688"/>
            <a:ext cx="2651760" cy="228600"/>
          </a:xfrm>
          <a:prstGeom prst="rect">
            <a:avLst/>
          </a:prstGeom>
          <a:noFill/>
        </p:spPr>
        <p:txBody>
          <a:bodyPr wrap="square" lIns="0" tIns="0" rIns="0" bIns="0" rtlCol="0" anchor="ctr"/>
          <a:lstStyle/>
          <a:p>
            <a:pPr marL="0" indent="0">
              <a:buNone/>
            </a:pPr>
            <a:r>
              <a:rPr lang="en-US" sz="1000" b="1" kern="0" spc="200" dirty="0">
                <a:solidFill>
                  <a:srgbClr val="F2705A"/>
                </a:solidFill>
                <a:latin typeface="Calibri" pitchFamily="34" charset="0"/>
                <a:ea typeface="Calibri" pitchFamily="34" charset="-122"/>
                <a:cs typeface="Calibri" pitchFamily="34" charset="-120"/>
              </a:rPr>
              <a:t>WHERE TO LOOK</a:t>
            </a:r>
            <a:endParaRPr lang="en-US" sz="1000" dirty="0"/>
          </a:p>
        </p:txBody>
      </p:sp>
      <p:sp>
        <p:nvSpPr>
          <p:cNvPr id="21" name="Shape 18"/>
          <p:cNvSpPr/>
          <p:nvPr/>
        </p:nvSpPr>
        <p:spPr>
          <a:xfrm>
            <a:off x="5897880" y="2448941"/>
            <a:ext cx="82296" cy="82296"/>
          </a:xfrm>
          <a:prstGeom prst="rect">
            <a:avLst/>
          </a:prstGeom>
          <a:solidFill>
            <a:srgbClr val="F2705A"/>
          </a:solidFill>
          <a:ln w="12700">
            <a:solidFill>
              <a:srgbClr val="F2705A"/>
            </a:solidFill>
            <a:prstDash val="solid"/>
          </a:ln>
        </p:spPr>
      </p:sp>
      <p:sp>
        <p:nvSpPr>
          <p:cNvPr id="22" name="Text 19"/>
          <p:cNvSpPr txBox="1"/>
          <p:nvPr/>
        </p:nvSpPr>
        <p:spPr>
          <a:xfrm>
            <a:off x="6108192" y="2395728"/>
            <a:ext cx="2395728" cy="368300"/>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Your existing Burp history from PortSwigger Web Security Academy labs</a:t>
            </a:r>
            <a:endParaRPr lang="en-US" sz="1100" dirty="0"/>
          </a:p>
        </p:txBody>
      </p:sp>
      <p:sp>
        <p:nvSpPr>
          <p:cNvPr id="23" name="Shape 20"/>
          <p:cNvSpPr/>
          <p:nvPr/>
        </p:nvSpPr>
        <p:spPr>
          <a:xfrm>
            <a:off x="5897880" y="2890393"/>
            <a:ext cx="82296" cy="82296"/>
          </a:xfrm>
          <a:prstGeom prst="rect">
            <a:avLst/>
          </a:prstGeom>
          <a:solidFill>
            <a:srgbClr val="F2705A"/>
          </a:solidFill>
          <a:ln w="12700">
            <a:solidFill>
              <a:srgbClr val="F2705A"/>
            </a:solidFill>
            <a:prstDash val="solid"/>
          </a:ln>
        </p:spPr>
      </p:sp>
      <p:sp>
        <p:nvSpPr>
          <p:cNvPr id="24" name="Text 21"/>
          <p:cNvSpPr txBox="1"/>
          <p:nvPr/>
        </p:nvSpPr>
        <p:spPr>
          <a:xfrm>
            <a:off x="6108192" y="2837180"/>
            <a:ext cx="2395728" cy="197866"/>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Any lab, after logging in</a:t>
            </a:r>
            <a:endParaRPr lang="en-US" sz="1100" dirty="0"/>
          </a:p>
        </p:txBody>
      </p:sp>
      <p:sp>
        <p:nvSpPr>
          <p:cNvPr id="25" name="Shape 22"/>
          <p:cNvSpPr/>
          <p:nvPr/>
        </p:nvSpPr>
        <p:spPr>
          <a:xfrm>
            <a:off x="5897880" y="3161411"/>
            <a:ext cx="82296" cy="82296"/>
          </a:xfrm>
          <a:prstGeom prst="rect">
            <a:avLst/>
          </a:prstGeom>
          <a:solidFill>
            <a:srgbClr val="F2705A"/>
          </a:solidFill>
          <a:ln w="12700">
            <a:solidFill>
              <a:srgbClr val="F2705A"/>
            </a:solidFill>
            <a:prstDash val="solid"/>
          </a:ln>
        </p:spPr>
      </p:sp>
      <p:sp>
        <p:nvSpPr>
          <p:cNvPr id="26" name="Text 23"/>
          <p:cNvSpPr txBox="1"/>
          <p:nvPr/>
        </p:nvSpPr>
        <p:spPr>
          <a:xfrm>
            <a:off x="6108192" y="3108198"/>
            <a:ext cx="2395728" cy="368300"/>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Public single-page sites (DevTools only)</a:t>
            </a:r>
            <a:endParaRPr lang="en-US" sz="1100" dirty="0"/>
          </a:p>
        </p:txBody>
      </p:sp>
      <p:sp>
        <p:nvSpPr>
          <p:cNvPr id="27" name="Text 24"/>
          <p:cNvSpPr txBox="1"/>
          <p:nvPr/>
        </p:nvSpPr>
        <p:spPr>
          <a:xfrm>
            <a:off x="457200" y="4754880"/>
            <a:ext cx="5943600" cy="201168"/>
          </a:xfrm>
          <a:prstGeom prst="rect">
            <a:avLst/>
          </a:prstGeom>
          <a:noFill/>
        </p:spPr>
        <p:txBody>
          <a:bodyPr wrap="square" lIns="0" tIns="0" rIns="0" bIns="0" rtlCol="0" anchor="ctr"/>
          <a:lstStyle/>
          <a:p>
            <a:pPr marL="0" indent="0">
              <a:buNone/>
            </a:pPr>
            <a:r>
              <a:rPr lang="en-US" sz="900" i="1" dirty="0">
                <a:solidFill>
                  <a:srgbClr val="51268E"/>
                </a:solidFill>
                <a:latin typeface="Calibri" pitchFamily="34" charset="0"/>
                <a:ea typeface="Calibri" pitchFamily="34" charset="-122"/>
                <a:cs typeface="Calibri" pitchFamily="34" charset="-120"/>
              </a:rPr>
              <a:t>Test only systems you own or are explicitly authorized to test.</a:t>
            </a:r>
            <a:endParaRPr lang="en-US" sz="900" dirty="0"/>
          </a:p>
        </p:txBody>
      </p:sp>
      <p:sp>
        <p:nvSpPr>
          <p:cNvPr id="28"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51268E"/>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FE8FA"/>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51268E"/>
                </a:solidFill>
                <a:latin typeface="Calibri" pitchFamily="34" charset="0"/>
                <a:ea typeface="Calibri" pitchFamily="34" charset="-122"/>
                <a:cs typeface="Calibri" pitchFamily="34" charset="-120"/>
              </a:rPr>
              <a:t>HANDS-ON  ·  15 MIN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Exercise 1.2: Craft raw requests by hand</a:t>
            </a:r>
            <a:endParaRPr lang="en-US" sz="2800" dirty="0"/>
          </a:p>
        </p:txBody>
      </p:sp>
      <p:sp>
        <p:nvSpPr>
          <p:cNvPr id="4" name="Shape 2"/>
          <p:cNvSpPr/>
          <p:nvPr/>
        </p:nvSpPr>
        <p:spPr>
          <a:xfrm>
            <a:off x="8001000" y="320040"/>
            <a:ext cx="640080" cy="640080"/>
          </a:xfrm>
          <a:prstGeom prst="roundRect">
            <a:avLst>
              <a:gd name="adj" fmla="val 24000"/>
            </a:avLst>
          </a:prstGeom>
          <a:solidFill>
            <a:srgbClr val="6B35B5"/>
          </a:solidFill>
          <a:ln w="12700">
            <a:solidFill>
              <a:srgbClr val="6B35B5"/>
            </a:solidFill>
            <a:prstDash val="solid"/>
          </a:ln>
        </p:spPr>
      </p:sp>
      <p:pic>
        <p:nvPicPr>
          <p:cNvPr id="5" name="Image 0" descr="preencoded.png"/>
          <p:cNvPicPr>
            <a:picLocks noChangeAspect="1"/>
          </p:cNvPicPr>
          <p:nvPr/>
        </p:nvPicPr>
        <p:blipFill>
          <a:blip r:embed="rId1"/>
          <a:stretch>
            <a:fillRect/>
          </a:stretch>
        </p:blipFill>
        <p:spPr>
          <a:xfrm>
            <a:off x="8161020" y="480060"/>
            <a:ext cx="320040" cy="320040"/>
          </a:xfrm>
          <a:prstGeom prst="rect">
            <a:avLst/>
          </a:prstGeom>
        </p:spPr>
      </p:pic>
      <p:sp>
        <p:nvSpPr>
          <p:cNvPr id="6" name="Shape 3"/>
          <p:cNvSpPr/>
          <p:nvPr/>
        </p:nvSpPr>
        <p:spPr>
          <a:xfrm>
            <a:off x="457200" y="1280160"/>
            <a:ext cx="8229600" cy="548640"/>
          </a:xfrm>
          <a:prstGeom prst="rect">
            <a:avLst/>
          </a:prstGeom>
          <a:solidFill>
            <a:srgbClr val="FFFFFF"/>
          </a:solidFill>
          <a:ln w="12700">
            <a:solidFill>
              <a:srgbClr val="FFFFFF"/>
            </a:solidFill>
            <a:prstDash val="solid"/>
          </a:ln>
        </p:spPr>
      </p:sp>
      <p:sp>
        <p:nvSpPr>
          <p:cNvPr id="7" name="Text 4"/>
          <p:cNvSpPr txBox="1"/>
          <p:nvPr/>
        </p:nvSpPr>
        <p:spPr>
          <a:xfrm>
            <a:off x="640080" y="1280160"/>
            <a:ext cx="7863840" cy="548640"/>
          </a:xfrm>
          <a:prstGeom prst="rect">
            <a:avLst/>
          </a:prstGeom>
          <a:noFill/>
        </p:spPr>
        <p:txBody>
          <a:bodyPr wrap="square" lIns="0" tIns="0" rIns="0" bIns="0" rtlCol="0" anchor="ctr"/>
          <a:lstStyle/>
          <a:p>
            <a:pPr marL="0" indent="0" algn="l">
              <a:buNone/>
            </a:pPr>
            <a:r>
              <a:rPr lang="en-US" sz="1300" b="1" dirty="0">
                <a:solidFill>
                  <a:srgbClr val="2A2433"/>
                </a:solidFill>
                <a:latin typeface="Calibri" pitchFamily="34" charset="0"/>
                <a:ea typeface="Calibri" pitchFamily="34" charset="-122"/>
                <a:cs typeface="Calibri" pitchFamily="34" charset="-120"/>
              </a:rPr>
              <a:t>Goal:</a:t>
            </a:r>
            <a:r>
              <a:rPr lang="en-US" sz="1300" dirty="0">
                <a:solidFill>
                  <a:srgbClr val="2A2433"/>
                </a:solidFill>
                <a:latin typeface="Calibri" pitchFamily="34" charset="0"/>
                <a:ea typeface="Calibri" pitchFamily="34" charset="-122"/>
                <a:cs typeface="Calibri" pitchFamily="34" charset="-120"/>
              </a:rPr>
              <a:t> Get comfortable building and modifying requests in Postman or Burp Repeater.</a:t>
            </a:r>
            <a:endParaRPr lang="en-US" sz="1300" dirty="0"/>
          </a:p>
        </p:txBody>
      </p:sp>
      <p:sp>
        <p:nvSpPr>
          <p:cNvPr id="8" name="Shape 5"/>
          <p:cNvSpPr/>
          <p:nvPr/>
        </p:nvSpPr>
        <p:spPr>
          <a:xfrm>
            <a:off x="457200" y="1965960"/>
            <a:ext cx="5029200" cy="2697480"/>
          </a:xfrm>
          <a:prstGeom prst="rect">
            <a:avLst/>
          </a:prstGeom>
          <a:solidFill>
            <a:srgbClr val="FFFFFF"/>
          </a:solidFill>
          <a:ln w="12700">
            <a:solidFill>
              <a:srgbClr val="FFFFFF"/>
            </a:solidFill>
            <a:prstDash val="solid"/>
          </a:ln>
        </p:spPr>
      </p:sp>
      <p:sp>
        <p:nvSpPr>
          <p:cNvPr id="9" name="Text 6"/>
          <p:cNvSpPr txBox="1"/>
          <p:nvPr/>
        </p:nvSpPr>
        <p:spPr>
          <a:xfrm>
            <a:off x="640080" y="2103120"/>
            <a:ext cx="310896" cy="197866"/>
          </a:xfrm>
          <a:prstGeom prst="rect">
            <a:avLst/>
          </a:prstGeom>
          <a:noFill/>
        </p:spPr>
        <p:txBody>
          <a:bodyPr wrap="square" lIns="0" tIns="0" rIns="0" bIns="0" rtlCol="0" anchor="t"/>
          <a:lstStyle/>
          <a:p>
            <a:pPr marL="0" indent="0">
              <a:buNone/>
            </a:pPr>
            <a:r>
              <a:rPr lang="en-US" sz="1100" b="1" dirty="0">
                <a:solidFill>
                  <a:srgbClr val="6B35B5"/>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2103120"/>
            <a:ext cx="4315968" cy="368300"/>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Send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https://httpbin.org/anything?a=1&amp;b=2</a:t>
            </a:r>
            <a:r>
              <a:rPr lang="en-US" sz="1100" dirty="0">
                <a:solidFill>
                  <a:srgbClr val="2A2433"/>
                </a:solidFill>
                <a:latin typeface="Calibri" pitchFamily="34" charset="0"/>
                <a:ea typeface="Calibri" pitchFamily="34" charset="-122"/>
                <a:cs typeface="Calibri" pitchFamily="34" charset="-120"/>
              </a:rPr>
              <a:t> and read the echo</a:t>
            </a:r>
            <a:endParaRPr lang="en-US" sz="1100" dirty="0"/>
          </a:p>
        </p:txBody>
      </p:sp>
      <p:sp>
        <p:nvSpPr>
          <p:cNvPr id="11" name="Text 8"/>
          <p:cNvSpPr txBox="1"/>
          <p:nvPr/>
        </p:nvSpPr>
        <p:spPr>
          <a:xfrm>
            <a:off x="640080" y="2535428"/>
            <a:ext cx="310896" cy="197866"/>
          </a:xfrm>
          <a:prstGeom prst="rect">
            <a:avLst/>
          </a:prstGeom>
          <a:noFill/>
        </p:spPr>
        <p:txBody>
          <a:bodyPr wrap="square" lIns="0" tIns="0" rIns="0" bIns="0" rtlCol="0" anchor="t"/>
          <a:lstStyle/>
          <a:p>
            <a:pPr marL="0" indent="0">
              <a:buNone/>
            </a:pPr>
            <a:r>
              <a:rPr lang="en-US" sz="1100" b="1" dirty="0">
                <a:solidFill>
                  <a:srgbClr val="6B35B5"/>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987552" y="2535428"/>
            <a:ext cx="4315968" cy="368300"/>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Change to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a:t>
            </a:r>
            <a:r>
              <a:rPr lang="en-US" sz="1100" dirty="0">
                <a:solidFill>
                  <a:srgbClr val="2A2433"/>
                </a:solidFill>
                <a:latin typeface="Calibri" pitchFamily="34" charset="0"/>
                <a:ea typeface="Calibri" pitchFamily="34" charset="-122"/>
                <a:cs typeface="Calibri" pitchFamily="34" charset="-120"/>
              </a:rPr>
              <a:t>, add header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X-Test: hello</a:t>
            </a:r>
            <a:r>
              <a:rPr lang="en-US" sz="1100" dirty="0">
                <a:solidFill>
                  <a:srgbClr val="2A2433"/>
                </a:solidFill>
                <a:latin typeface="Calibri" pitchFamily="34" charset="0"/>
                <a:ea typeface="Calibri" pitchFamily="34" charset="-122"/>
                <a:cs typeface="Calibri" pitchFamily="34" charset="-120"/>
              </a:rPr>
              <a:t> and a JSON body with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r>
              <a:rPr lang="en-US" sz="1100" dirty="0">
                <a:solidFill>
                  <a:srgbClr val="2A2433"/>
                </a:solidFill>
                <a:latin typeface="Calibri" pitchFamily="34" charset="0"/>
                <a:ea typeface="Calibri" pitchFamily="34" charset="-122"/>
                <a:cs typeface="Calibri" pitchFamily="34" charset="-120"/>
              </a:rPr>
              <a:t>. See how the echo changes</a:t>
            </a:r>
            <a:endParaRPr lang="en-US" sz="1100" dirty="0"/>
          </a:p>
        </p:txBody>
      </p:sp>
      <p:sp>
        <p:nvSpPr>
          <p:cNvPr id="14" name="Text 11"/>
          <p:cNvSpPr txBox="1"/>
          <p:nvPr/>
        </p:nvSpPr>
        <p:spPr>
          <a:xfrm>
            <a:off x="987552" y="2967736"/>
            <a:ext cx="4315968" cy="368300"/>
          </a:xfrm>
          <a:prstGeom prst="rect">
            <a:avLst/>
          </a:prstGeom>
          <a:noFill/>
        </p:spPr>
        <p:txBody>
          <a:bodyPr wrap="square" lIns="0" tIns="0" rIns="0" bIns="0" rtlCol="0" anchor="t"/>
          <a:lstStyle/>
          <a:p>
            <a:pPr marL="0" indent="0" algn="l">
              <a:buNone/>
            </a:pPr>
            <a:endParaRPr lang="en-US" sz="1100" dirty="0"/>
          </a:p>
        </p:txBody>
      </p:sp>
      <p:sp>
        <p:nvSpPr>
          <p:cNvPr id="15" name="Text 12"/>
          <p:cNvSpPr txBox="1"/>
          <p:nvPr/>
        </p:nvSpPr>
        <p:spPr>
          <a:xfrm>
            <a:off x="640080" y="3400044"/>
            <a:ext cx="310896" cy="197866"/>
          </a:xfrm>
          <a:prstGeom prst="rect">
            <a:avLst/>
          </a:prstGeom>
          <a:noFill/>
        </p:spPr>
        <p:txBody>
          <a:bodyPr wrap="square" lIns="0" tIns="0" rIns="0" bIns="0" rtlCol="0" anchor="t"/>
          <a:lstStyle/>
          <a:p>
            <a:pPr marL="0" indent="0">
              <a:buNone/>
            </a:pPr>
            <a:r>
              <a:rPr lang="en-US" sz="1100" b="1" dirty="0">
                <a:solidFill>
                  <a:srgbClr val="6B35B5"/>
                </a:solidFill>
                <a:latin typeface="Calibri" pitchFamily="34" charset="0"/>
                <a:ea typeface="Calibri" pitchFamily="34" charset="-122"/>
                <a:cs typeface="Calibri" pitchFamily="34" charset="-120"/>
              </a:rPr>
              <a:t>4.</a:t>
            </a:r>
            <a:endParaRPr lang="en-US" sz="1100" dirty="0"/>
          </a:p>
        </p:txBody>
      </p:sp>
      <p:sp>
        <p:nvSpPr>
          <p:cNvPr id="16" name="Text 13"/>
          <p:cNvSpPr txBox="1"/>
          <p:nvPr/>
        </p:nvSpPr>
        <p:spPr>
          <a:xfrm>
            <a:off x="987552" y="3400044"/>
            <a:ext cx="4315968" cy="368300"/>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On JSONPlaceholder try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/posts/1</a:t>
            </a:r>
            <a:r>
              <a:rPr lang="en-US" sz="1100" dirty="0">
                <a:solidFill>
                  <a:srgbClr val="2A2433"/>
                </a:solidFill>
                <a:latin typeface="Calibri" pitchFamily="34" charset="0"/>
                <a:ea typeface="Calibri" pitchFamily="34" charset="-122"/>
                <a:cs typeface="Calibri" pitchFamily="34" charset="-120"/>
              </a:rPr>
              <a: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/posts?userId=1</a:t>
            </a:r>
            <a:r>
              <a:rPr lang="en-US" sz="1100" dirty="0">
                <a:solidFill>
                  <a:srgbClr val="2A2433"/>
                </a:solidFill>
                <a:latin typeface="Calibri" pitchFamily="34" charset="0"/>
                <a:ea typeface="Calibri" pitchFamily="34" charset="-122"/>
                <a:cs typeface="Calibri" pitchFamily="34" charset="-120"/>
              </a:rPr>
              <a: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 /posts</a:t>
            </a:r>
            <a:r>
              <a:rPr lang="en-US" sz="1100" dirty="0">
                <a:solidFill>
                  <a:srgbClr val="2A2433"/>
                </a:solidFill>
                <a:latin typeface="Calibri" pitchFamily="34" charset="0"/>
                <a:ea typeface="Calibri" pitchFamily="34" charset="-122"/>
                <a:cs typeface="Calibri" pitchFamily="34" charset="-120"/>
              </a:rPr>
              <a: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 /posts/1</a:t>
            </a:r>
            <a:r>
              <a:rPr lang="en-US" sz="1100" dirty="0">
                <a:solidFill>
                  <a:srgbClr val="2A2433"/>
                </a:solidFill>
                <a:latin typeface="Calibri" pitchFamily="34" charset="0"/>
                <a:ea typeface="Calibri" pitchFamily="34" charset="-122"/>
                <a:cs typeface="Calibri" pitchFamily="34" charset="-120"/>
              </a:rPr>
              <a:t>. Note the status codes</a:t>
            </a:r>
            <a:endParaRPr lang="en-US" sz="1100" dirty="0"/>
          </a:p>
        </p:txBody>
      </p:sp>
      <p:sp>
        <p:nvSpPr>
          <p:cNvPr id="17" name="Text 14"/>
          <p:cNvSpPr txBox="1"/>
          <p:nvPr/>
        </p:nvSpPr>
        <p:spPr>
          <a:xfrm>
            <a:off x="640080" y="3832352"/>
            <a:ext cx="310896" cy="197866"/>
          </a:xfrm>
          <a:prstGeom prst="rect">
            <a:avLst/>
          </a:prstGeom>
          <a:noFill/>
        </p:spPr>
        <p:txBody>
          <a:bodyPr wrap="square" lIns="0" tIns="0" rIns="0" bIns="0" rtlCol="0" anchor="t"/>
          <a:lstStyle/>
          <a:p>
            <a:pPr marL="0" indent="0">
              <a:buNone/>
            </a:pPr>
            <a:r>
              <a:rPr lang="en-US" sz="1100" b="1" dirty="0">
                <a:solidFill>
                  <a:srgbClr val="6B35B5"/>
                </a:solidFill>
                <a:latin typeface="Calibri" pitchFamily="34" charset="0"/>
                <a:ea typeface="Calibri" pitchFamily="34" charset="-122"/>
                <a:cs typeface="Calibri" pitchFamily="34" charset="-120"/>
              </a:rPr>
              <a:t>5.</a:t>
            </a:r>
            <a:endParaRPr lang="en-US" sz="1100" dirty="0"/>
          </a:p>
        </p:txBody>
      </p:sp>
      <p:sp>
        <p:nvSpPr>
          <p:cNvPr id="18" name="Text 15"/>
          <p:cNvSpPr txBox="1"/>
          <p:nvPr/>
        </p:nvSpPr>
        <p:spPr>
          <a:xfrm>
            <a:off x="987552" y="3832352"/>
            <a:ext cx="4315968" cy="368300"/>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Route Postman through Burp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127.0.0.1:8080</a:t>
            </a:r>
            <a:r>
              <a:rPr lang="en-US" sz="1100" dirty="0">
                <a:solidFill>
                  <a:srgbClr val="2A2433"/>
                </a:solidFill>
                <a:latin typeface="Calibri" pitchFamily="34" charset="0"/>
                <a:ea typeface="Calibri" pitchFamily="34" charset="-122"/>
                <a:cs typeface="Calibri" pitchFamily="34" charset="-120"/>
              </a:rPr>
              <a:t>) and watch the same traffic in HTTP history</a:t>
            </a:r>
            <a:endParaRPr lang="en-US" sz="1100" dirty="0"/>
          </a:p>
        </p:txBody>
      </p:sp>
      <p:sp>
        <p:nvSpPr>
          <p:cNvPr id="19" name="Shape 16"/>
          <p:cNvSpPr/>
          <p:nvPr/>
        </p:nvSpPr>
        <p:spPr>
          <a:xfrm>
            <a:off x="5669280" y="1965960"/>
            <a:ext cx="3017520" cy="2697480"/>
          </a:xfrm>
          <a:prstGeom prst="rect">
            <a:avLst/>
          </a:prstGeom>
          <a:solidFill>
            <a:srgbClr val="2B1B3F"/>
          </a:solidFill>
          <a:ln w="12700">
            <a:solidFill>
              <a:srgbClr val="2B1B3F"/>
            </a:solidFill>
            <a:prstDash val="solid"/>
          </a:ln>
        </p:spPr>
      </p:sp>
      <p:sp>
        <p:nvSpPr>
          <p:cNvPr id="20" name="Text 17"/>
          <p:cNvSpPr txBox="1"/>
          <p:nvPr/>
        </p:nvSpPr>
        <p:spPr>
          <a:xfrm>
            <a:off x="5852160" y="2075688"/>
            <a:ext cx="2651760" cy="228600"/>
          </a:xfrm>
          <a:prstGeom prst="rect">
            <a:avLst/>
          </a:prstGeom>
          <a:noFill/>
        </p:spPr>
        <p:txBody>
          <a:bodyPr wrap="square" lIns="0" tIns="0" rIns="0" bIns="0" rtlCol="0" anchor="ctr"/>
          <a:lstStyle/>
          <a:p>
            <a:pPr marL="0" indent="0">
              <a:buNone/>
            </a:pPr>
            <a:r>
              <a:rPr lang="en-US" sz="1000" b="1" kern="0" spc="200" dirty="0">
                <a:solidFill>
                  <a:srgbClr val="F2705A"/>
                </a:solidFill>
                <a:latin typeface="Calibri" pitchFamily="34" charset="0"/>
                <a:ea typeface="Calibri" pitchFamily="34" charset="-122"/>
                <a:cs typeface="Calibri" pitchFamily="34" charset="-120"/>
              </a:rPr>
              <a:t>TARGETS</a:t>
            </a:r>
            <a:endParaRPr lang="en-US" sz="1000" dirty="0"/>
          </a:p>
        </p:txBody>
      </p:sp>
      <p:sp>
        <p:nvSpPr>
          <p:cNvPr id="21" name="Shape 18"/>
          <p:cNvSpPr/>
          <p:nvPr/>
        </p:nvSpPr>
        <p:spPr>
          <a:xfrm>
            <a:off x="5897880" y="2448941"/>
            <a:ext cx="82296" cy="82296"/>
          </a:xfrm>
          <a:prstGeom prst="rect">
            <a:avLst/>
          </a:prstGeom>
          <a:solidFill>
            <a:srgbClr val="F2705A"/>
          </a:solidFill>
          <a:ln w="12700">
            <a:solidFill>
              <a:srgbClr val="F2705A"/>
            </a:solidFill>
            <a:prstDash val="solid"/>
          </a:ln>
        </p:spPr>
      </p:sp>
      <p:sp>
        <p:nvSpPr>
          <p:cNvPr id="22" name="Text 19"/>
          <p:cNvSpPr txBox="1"/>
          <p:nvPr/>
        </p:nvSpPr>
        <p:spPr>
          <a:xfrm>
            <a:off x="6108192" y="2395728"/>
            <a:ext cx="2395728" cy="368300"/>
          </a:xfrm>
          <a:prstGeom prst="rect">
            <a:avLst/>
          </a:prstGeom>
          <a:noFill/>
        </p:spPr>
        <p:txBody>
          <a:bodyPr wrap="square" lIns="0" tIns="0" rIns="0" bIns="0" rtlCol="0" anchor="t"/>
          <a:lstStyle/>
          <a:p>
            <a:pPr marL="0" indent="0" algn="l">
              <a:buNone/>
            </a:pPr>
            <a:r>
              <a:rPr lang="en-US" sz="1000" dirty="0">
                <a:solidFill>
                  <a:srgbClr val="FFB9A8"/>
                </a:solidFill>
                <a:latin typeface="Courier New" panose="02070609020205020404" pitchFamily="34" charset="0"/>
                <a:ea typeface="Courier New" panose="02070609020205020404" pitchFamily="34" charset="-122"/>
                <a:cs typeface="Courier New" panose="02070609020205020404" pitchFamily="34" charset="-120"/>
              </a:rPr>
              <a:t>httpbin.org/anything</a:t>
            </a:r>
            <a:r>
              <a:rPr lang="en-US" sz="1100" dirty="0">
                <a:solidFill>
                  <a:srgbClr val="FFFFFF"/>
                </a:solidFill>
                <a:latin typeface="Calibri" pitchFamily="34" charset="0"/>
                <a:ea typeface="Calibri" pitchFamily="34" charset="-122"/>
                <a:cs typeface="Calibri" pitchFamily="34" charset="-120"/>
              </a:rPr>
              <a:t> echoes what you send</a:t>
            </a:r>
            <a:endParaRPr lang="en-US" sz="1000" dirty="0"/>
          </a:p>
        </p:txBody>
      </p:sp>
      <p:sp>
        <p:nvSpPr>
          <p:cNvPr id="23" name="Shape 20"/>
          <p:cNvSpPr/>
          <p:nvPr/>
        </p:nvSpPr>
        <p:spPr>
          <a:xfrm>
            <a:off x="5897880" y="2890393"/>
            <a:ext cx="82296" cy="82296"/>
          </a:xfrm>
          <a:prstGeom prst="rect">
            <a:avLst/>
          </a:prstGeom>
          <a:solidFill>
            <a:srgbClr val="F2705A"/>
          </a:solidFill>
          <a:ln w="12700">
            <a:solidFill>
              <a:srgbClr val="F2705A"/>
            </a:solidFill>
            <a:prstDash val="solid"/>
          </a:ln>
        </p:spPr>
      </p:sp>
      <p:sp>
        <p:nvSpPr>
          <p:cNvPr id="24" name="Text 21"/>
          <p:cNvSpPr txBox="1"/>
          <p:nvPr/>
        </p:nvSpPr>
        <p:spPr>
          <a:xfrm>
            <a:off x="6108192" y="2837180"/>
            <a:ext cx="2395728" cy="368300"/>
          </a:xfrm>
          <a:prstGeom prst="rect">
            <a:avLst/>
          </a:prstGeom>
          <a:noFill/>
        </p:spPr>
        <p:txBody>
          <a:bodyPr wrap="square" lIns="0" tIns="0" rIns="0" bIns="0" rtlCol="0" anchor="t"/>
          <a:lstStyle/>
          <a:p>
            <a:pPr marL="0" indent="0" algn="l">
              <a:buNone/>
            </a:pPr>
            <a:endParaRPr lang="en-US" sz="1000" dirty="0"/>
          </a:p>
        </p:txBody>
      </p:sp>
      <p:sp>
        <p:nvSpPr>
          <p:cNvPr id="25" name="Shape 22"/>
          <p:cNvSpPr/>
          <p:nvPr/>
        </p:nvSpPr>
        <p:spPr>
          <a:xfrm>
            <a:off x="5897880" y="3331845"/>
            <a:ext cx="82296" cy="82296"/>
          </a:xfrm>
          <a:prstGeom prst="rect">
            <a:avLst/>
          </a:prstGeom>
          <a:solidFill>
            <a:srgbClr val="F2705A"/>
          </a:solidFill>
          <a:ln w="12700">
            <a:solidFill>
              <a:srgbClr val="F2705A"/>
            </a:solidFill>
            <a:prstDash val="solid"/>
          </a:ln>
        </p:spPr>
      </p:sp>
      <p:sp>
        <p:nvSpPr>
          <p:cNvPr id="26" name="Text 23"/>
          <p:cNvSpPr txBox="1"/>
          <p:nvPr/>
        </p:nvSpPr>
        <p:spPr>
          <a:xfrm>
            <a:off x="6108192" y="3278632"/>
            <a:ext cx="2395728" cy="368300"/>
          </a:xfrm>
          <a:prstGeom prst="rect">
            <a:avLst/>
          </a:prstGeom>
          <a:noFill/>
        </p:spPr>
        <p:txBody>
          <a:bodyPr wrap="square" lIns="0" tIns="0" rIns="0" bIns="0" rtlCol="0" anchor="t"/>
          <a:lstStyle/>
          <a:p>
            <a:pPr marL="0" indent="0" algn="l">
              <a:buNone/>
            </a:pPr>
            <a:endParaRPr lang="en-US" sz="1000" dirty="0"/>
          </a:p>
        </p:txBody>
      </p:sp>
      <p:sp>
        <p:nvSpPr>
          <p:cNvPr id="27" name="Shape 24"/>
          <p:cNvSpPr/>
          <p:nvPr/>
        </p:nvSpPr>
        <p:spPr>
          <a:xfrm>
            <a:off x="5897880" y="3773297"/>
            <a:ext cx="82296" cy="82296"/>
          </a:xfrm>
          <a:prstGeom prst="rect">
            <a:avLst/>
          </a:prstGeom>
          <a:solidFill>
            <a:srgbClr val="F2705A"/>
          </a:solidFill>
          <a:ln w="12700">
            <a:solidFill>
              <a:srgbClr val="F2705A"/>
            </a:solidFill>
            <a:prstDash val="solid"/>
          </a:ln>
        </p:spPr>
      </p:sp>
      <p:sp>
        <p:nvSpPr>
          <p:cNvPr id="28" name="Text 25"/>
          <p:cNvSpPr txBox="1"/>
          <p:nvPr/>
        </p:nvSpPr>
        <p:spPr>
          <a:xfrm>
            <a:off x="6108192" y="3720084"/>
            <a:ext cx="2395728" cy="368300"/>
          </a:xfrm>
          <a:prstGeom prst="rect">
            <a:avLst/>
          </a:prstGeom>
          <a:noFill/>
        </p:spPr>
        <p:txBody>
          <a:bodyPr wrap="square" lIns="0" tIns="0" rIns="0" bIns="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Gentle use only: no fuzzing or high volume on public demo APIs</a:t>
            </a:r>
            <a:endParaRPr lang="en-US" sz="1100" dirty="0"/>
          </a:p>
        </p:txBody>
      </p:sp>
      <p:sp>
        <p:nvSpPr>
          <p:cNvPr id="29" name="Text 26"/>
          <p:cNvSpPr txBox="1"/>
          <p:nvPr/>
        </p:nvSpPr>
        <p:spPr>
          <a:xfrm>
            <a:off x="457200" y="4754880"/>
            <a:ext cx="5943600" cy="201168"/>
          </a:xfrm>
          <a:prstGeom prst="rect">
            <a:avLst/>
          </a:prstGeom>
          <a:noFill/>
        </p:spPr>
        <p:txBody>
          <a:bodyPr wrap="square" lIns="0" tIns="0" rIns="0" bIns="0" rtlCol="0" anchor="ctr"/>
          <a:lstStyle/>
          <a:p>
            <a:pPr marL="0" indent="0">
              <a:buNone/>
            </a:pPr>
            <a:r>
              <a:rPr lang="en-US" sz="900" i="1" dirty="0">
                <a:solidFill>
                  <a:srgbClr val="51268E"/>
                </a:solidFill>
                <a:latin typeface="Calibri" pitchFamily="34" charset="0"/>
                <a:ea typeface="Calibri" pitchFamily="34" charset="-122"/>
                <a:cs typeface="Calibri" pitchFamily="34" charset="-120"/>
              </a:rPr>
              <a:t>.</a:t>
            </a:r>
            <a:endParaRPr lang="en-US" sz="900" dirty="0"/>
          </a:p>
        </p:txBody>
      </p:sp>
      <p:sp>
        <p:nvSpPr>
          <p:cNvPr id="30"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51268E"/>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1.5 · DATA FORMATS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The same data, three ways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2606040" cy="2331720"/>
          </a:xfrm>
          <a:prstGeom prst="rect">
            <a:avLst/>
          </a:prstGeom>
          <a:solidFill>
            <a:srgbClr val="241733"/>
          </a:solidFill>
          <a:ln w="12700">
            <a:solidFill>
              <a:srgbClr val="241733"/>
            </a:solidFill>
            <a:prstDash val="solid"/>
          </a:ln>
        </p:spPr>
      </p:sp>
      <p:sp>
        <p:nvSpPr>
          <p:cNvPr id="7" name="Text 4"/>
          <p:cNvSpPr txBox="1"/>
          <p:nvPr/>
        </p:nvSpPr>
        <p:spPr>
          <a:xfrm>
            <a:off x="640080" y="1371600"/>
            <a:ext cx="224028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JSON</a:t>
            </a:r>
            <a:endParaRPr lang="en-US" sz="1000" dirty="0"/>
          </a:p>
        </p:txBody>
      </p:sp>
      <p:sp>
        <p:nvSpPr>
          <p:cNvPr id="8" name="Text 5"/>
          <p:cNvSpPr txBox="1"/>
          <p:nvPr/>
        </p:nvSpPr>
        <p:spPr>
          <a:xfrm>
            <a:off x="640080" y="1627632"/>
            <a:ext cx="2240280" cy="1892808"/>
          </a:xfrm>
          <a:prstGeom prst="rect">
            <a:avLst/>
          </a:prstGeom>
          <a:noFill/>
        </p:spPr>
        <p:txBody>
          <a:bodyPr wrap="square" lIns="0" tIns="0" rIns="0" bIns="0" rtlCol="0" anchor="t"/>
          <a:lstStyle/>
          <a:p>
            <a:pPr marL="0" indent="0">
              <a:lnSpc>
                <a:spcPct val="100000"/>
              </a:lnSpc>
              <a:buNone/>
            </a:pPr>
            <a:r>
              <a:rPr lang="en-US" sz="9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900" dirty="0"/>
          </a:p>
          <a:p>
            <a:pPr marL="0" indent="0">
              <a:lnSpc>
                <a:spcPct val="100000"/>
              </a:lnSpc>
              <a:buNone/>
            </a:pPr>
            <a:r>
              <a:rPr lang="en-US" sz="9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"username": "alice",</a:t>
            </a:r>
            <a:endParaRPr lang="en-US" sz="900" dirty="0"/>
          </a:p>
          <a:p>
            <a:pPr marL="0" indent="0">
              <a:lnSpc>
                <a:spcPct val="100000"/>
              </a:lnSpc>
              <a:buNone/>
            </a:pPr>
            <a:r>
              <a:rPr lang="en-US" sz="9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"age": 29,</a:t>
            </a:r>
            <a:endParaRPr lang="en-US" sz="900" dirty="0"/>
          </a:p>
          <a:p>
            <a:pPr marL="0" indent="0">
              <a:lnSpc>
                <a:spcPct val="100000"/>
              </a:lnSpc>
              <a:buNone/>
            </a:pPr>
            <a:r>
              <a:rPr lang="en-US" sz="9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"isAdmin": false,</a:t>
            </a:r>
            <a:endParaRPr lang="en-US" sz="900" dirty="0"/>
          </a:p>
          <a:p>
            <a:pPr marL="0" indent="0">
              <a:lnSpc>
                <a:spcPct val="100000"/>
              </a:lnSpc>
              <a:buNone/>
            </a:pPr>
            <a:r>
              <a:rPr lang="en-US" sz="9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"roles": ["user", "editor"]</a:t>
            </a:r>
            <a:endParaRPr lang="en-US" sz="900" dirty="0"/>
          </a:p>
          <a:p>
            <a:pPr marL="0" indent="0">
              <a:lnSpc>
                <a:spcPct val="100000"/>
              </a:lnSpc>
              <a:buNone/>
            </a:pPr>
            <a:r>
              <a:rPr lang="en-US" sz="9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900" dirty="0"/>
          </a:p>
        </p:txBody>
      </p:sp>
      <p:sp>
        <p:nvSpPr>
          <p:cNvPr id="9" name="Shape 6"/>
          <p:cNvSpPr/>
          <p:nvPr/>
        </p:nvSpPr>
        <p:spPr>
          <a:xfrm>
            <a:off x="3246120" y="1280160"/>
            <a:ext cx="2606040" cy="2103120"/>
          </a:xfrm>
          <a:prstGeom prst="rect">
            <a:avLst/>
          </a:prstGeom>
          <a:solidFill>
            <a:srgbClr val="241733"/>
          </a:solidFill>
          <a:ln w="12700">
            <a:solidFill>
              <a:srgbClr val="241733"/>
            </a:solidFill>
            <a:prstDash val="solid"/>
          </a:ln>
        </p:spPr>
      </p:sp>
      <p:sp>
        <p:nvSpPr>
          <p:cNvPr id="10" name="Text 7"/>
          <p:cNvSpPr txBox="1"/>
          <p:nvPr/>
        </p:nvSpPr>
        <p:spPr>
          <a:xfrm>
            <a:off x="3429000" y="1371600"/>
            <a:ext cx="224028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XML</a:t>
            </a:r>
            <a:endParaRPr lang="en-US" sz="1000" dirty="0"/>
          </a:p>
        </p:txBody>
      </p:sp>
      <p:sp>
        <p:nvSpPr>
          <p:cNvPr id="11" name="Text 8"/>
          <p:cNvSpPr txBox="1"/>
          <p:nvPr/>
        </p:nvSpPr>
        <p:spPr>
          <a:xfrm>
            <a:off x="3429000" y="1627632"/>
            <a:ext cx="2240280" cy="1664208"/>
          </a:xfrm>
          <a:prstGeom prst="rect">
            <a:avLst/>
          </a:prstGeom>
          <a:noFill/>
        </p:spPr>
        <p:txBody>
          <a:bodyPr wrap="square" lIns="0" tIns="0" rIns="0" bIns="0" rtlCol="0" anchor="t"/>
          <a:lstStyle/>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&lt;user&gt;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&lt;username&gt;alice&lt;/username&gt;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&lt;age&gt;29&lt;/age&gt;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&lt;isAdmin&gt;false&lt;/isAdmin&gt;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&lt;roles&gt;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&lt;role&gt;user&lt;/role&gt;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&lt;role&gt;editor&lt;/role&gt;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&lt;/roles&gt;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&lt;/user&gt;</a:t>
            </a:r>
            <a:endParaRPr lang="en-US" sz="950" dirty="0"/>
          </a:p>
        </p:txBody>
      </p:sp>
      <p:sp>
        <p:nvSpPr>
          <p:cNvPr id="12" name="Shape 9"/>
          <p:cNvSpPr/>
          <p:nvPr/>
        </p:nvSpPr>
        <p:spPr>
          <a:xfrm>
            <a:off x="6035040" y="1280160"/>
            <a:ext cx="2651760" cy="2103120"/>
          </a:xfrm>
          <a:prstGeom prst="rect">
            <a:avLst/>
          </a:prstGeom>
          <a:solidFill>
            <a:srgbClr val="241733"/>
          </a:solidFill>
          <a:ln w="12700">
            <a:solidFill>
              <a:srgbClr val="241733"/>
            </a:solidFill>
            <a:prstDash val="solid"/>
          </a:ln>
        </p:spPr>
      </p:sp>
      <p:sp>
        <p:nvSpPr>
          <p:cNvPr id="13" name="Text 10"/>
          <p:cNvSpPr txBox="1"/>
          <p:nvPr/>
        </p:nvSpPr>
        <p:spPr>
          <a:xfrm>
            <a:off x="6217920" y="1371600"/>
            <a:ext cx="22860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FORM-ENCODED</a:t>
            </a:r>
            <a:endParaRPr lang="en-US" sz="1000" dirty="0"/>
          </a:p>
        </p:txBody>
      </p:sp>
      <p:sp>
        <p:nvSpPr>
          <p:cNvPr id="14" name="Text 11"/>
          <p:cNvSpPr txBox="1"/>
          <p:nvPr/>
        </p:nvSpPr>
        <p:spPr>
          <a:xfrm>
            <a:off x="6217920" y="1627632"/>
            <a:ext cx="2286000" cy="16642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username=alice&amp;</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age=29&amp;</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isAdmin=false&amp;</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roles=user&amp;</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roles=editor</a:t>
            </a:r>
            <a:endParaRPr lang="en-US" sz="1000" dirty="0"/>
          </a:p>
        </p:txBody>
      </p:sp>
      <p:graphicFrame>
        <p:nvGraphicFramePr>
          <p:cNvPr id="26" name="Table 0"/>
          <p:cNvGraphicFramePr>
            <a:graphicFrameLocks noGrp="1"/>
          </p:cNvGraphicFramePr>
          <p:nvPr/>
        </p:nvGraphicFramePr>
        <p:xfrm>
          <a:off x="457200" y="3566160"/>
          <a:ext cx="8229600" cy="1243584"/>
        </p:xfrm>
        <a:graphic>
          <a:graphicData uri="http://schemas.openxmlformats.org/drawingml/2006/table">
            <a:tbl>
              <a:tblPr/>
              <a:tblGrid>
                <a:gridCol w="2194560"/>
                <a:gridCol w="6035040"/>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Format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Content-Type</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10896">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JSON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application/json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10896">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XML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application/xml</a:t>
                      </a:r>
                      <a:r>
                        <a:rPr lang="en-US" sz="1100" dirty="0">
                          <a:solidFill>
                            <a:srgbClr val="2A2433"/>
                          </a:solidFill>
                          <a:latin typeface="Calibri" pitchFamily="34" charset="0"/>
                          <a:ea typeface="Calibri" pitchFamily="34" charset="-122"/>
                          <a:cs typeface="Calibri" pitchFamily="34" charset="-120"/>
                        </a:rPr>
                        <a:t> or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text/xml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10896">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Form-encoded / multipart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application/x-www-form-urlencoded</a:t>
                      </a:r>
                      <a:r>
                        <a:rPr lang="en-US" sz="1100" dirty="0">
                          <a:solidFill>
                            <a:srgbClr val="2A2433"/>
                          </a:solidFill>
                          <a:latin typeface="Calibri" pitchFamily="34" charset="0"/>
                          <a:ea typeface="Calibri" pitchFamily="34" charset="-122"/>
                          <a:cs typeface="Calibri" pitchFamily="34" charset="-120"/>
                        </a:rPr>
                        <a:t> /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multipart/form-data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1.5 · DATA FORMATS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Reading them: types matter</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828800"/>
          </a:xfrm>
          <a:prstGeom prst="rect">
            <a:avLst/>
          </a:prstGeom>
          <a:solidFill>
            <a:srgbClr val="FFFFFF"/>
          </a:solidFill>
          <a:ln w="9525">
            <a:solidFill>
              <a:srgbClr val="D6CCE6"/>
            </a:solidFill>
          </a:ln>
        </p:spPr>
      </p:sp>
      <p:sp>
        <p:nvSpPr>
          <p:cNvPr id="7" name="Text 4"/>
          <p:cNvSpPr txBox="1"/>
          <p:nvPr/>
        </p:nvSpPr>
        <p:spPr>
          <a:xfrm>
            <a:off x="621792" y="1463040"/>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JSON</a:t>
            </a:r>
            <a:endParaRPr lang="en-US" sz="1400" dirty="0"/>
          </a:p>
        </p:txBody>
      </p:sp>
      <p:sp>
        <p:nvSpPr>
          <p:cNvPr id="8" name="Text 5"/>
          <p:cNvSpPr txBox="1"/>
          <p:nvPr/>
        </p:nvSpPr>
        <p:spPr>
          <a:xfrm>
            <a:off x="621792" y="1767586"/>
            <a:ext cx="2292096" cy="1295654"/>
          </a:xfrm>
          <a:prstGeom prst="rect">
            <a:avLst/>
          </a:prstGeom>
          <a:noFill/>
        </p:spPr>
        <p:txBody>
          <a:bodyPr wrap="square" lIns="0" tIns="0" rIns="0" bIns="0" rtlCol="0" anchor="t"/>
          <a:lstStyle/>
          <a:p>
            <a:pPr marL="0" indent="0" algn="l">
              <a:spcAft>
                <a:spcPts val="400"/>
              </a:spcAft>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t>
            </a:r>
            <a:r>
              <a:rPr lang="en-US" sz="1200" dirty="0">
                <a:solidFill>
                  <a:srgbClr val="2A2433"/>
                </a:solidFill>
                <a:latin typeface="Calibri" pitchFamily="34" charset="0"/>
                <a:ea typeface="Calibri" pitchFamily="34" charset="-122"/>
                <a:cs typeface="Calibri" pitchFamily="34" charset="-120"/>
              </a:rPr>
              <a:t> object,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t>
            </a:r>
            <a:r>
              <a:rPr lang="en-US" sz="1200" dirty="0">
                <a:solidFill>
                  <a:srgbClr val="2A2433"/>
                </a:solidFill>
                <a:latin typeface="Calibri" pitchFamily="34" charset="0"/>
                <a:ea typeface="Calibri" pitchFamily="34" charset="-122"/>
                <a:cs typeface="Calibri" pitchFamily="34" charset="-120"/>
              </a:rPr>
              <a:t> array</a:t>
            </a:r>
            <a:endParaRPr lang="en-US" sz="1100" dirty="0"/>
          </a:p>
          <a:p>
            <a:pPr marL="0" indent="0" algn="l">
              <a:spcAft>
                <a:spcPts val="400"/>
              </a:spcAft>
              <a:buNone/>
            </a:pPr>
            <a:r>
              <a:rPr lang="en-US" sz="1200" dirty="0">
                <a:solidFill>
                  <a:srgbClr val="2A2433"/>
                </a:solidFill>
                <a:latin typeface="Calibri" pitchFamily="34" charset="0"/>
                <a:ea typeface="Calibri" pitchFamily="34" charset="-122"/>
                <a:cs typeface="Calibri" pitchFamily="34" charset="-120"/>
              </a:rPr>
              <a:t>Types: string, number, boolean, null</a:t>
            </a:r>
            <a:endParaRPr lang="en-US" sz="1100" dirty="0"/>
          </a:p>
          <a:p>
            <a:pPr marL="0" indent="0" algn="l">
              <a:buNone/>
            </a:pPr>
            <a:r>
              <a:rPr lang="en-US" sz="1200" dirty="0">
                <a:solidFill>
                  <a:srgbClr val="2A2433"/>
                </a:solidFill>
                <a:latin typeface="Calibri" pitchFamily="34" charset="0"/>
                <a:ea typeface="Calibri" pitchFamily="34" charset="-122"/>
                <a:cs typeface="Calibri" pitchFamily="34" charset="-120"/>
              </a:rPr>
              <a:t>Duplicate keys: parsers disagree</a:t>
            </a:r>
            <a:endParaRPr lang="en-US" sz="1100" dirty="0"/>
          </a:p>
        </p:txBody>
      </p:sp>
      <p:sp>
        <p:nvSpPr>
          <p:cNvPr id="9" name="Shape 6"/>
          <p:cNvSpPr/>
          <p:nvPr/>
        </p:nvSpPr>
        <p:spPr>
          <a:xfrm>
            <a:off x="3261360" y="1325880"/>
            <a:ext cx="2621280" cy="1828800"/>
          </a:xfrm>
          <a:prstGeom prst="rect">
            <a:avLst/>
          </a:prstGeom>
          <a:solidFill>
            <a:srgbClr val="FFFFFF"/>
          </a:solidFill>
          <a:ln w="9525">
            <a:solidFill>
              <a:srgbClr val="D6CCE6"/>
            </a:solidFill>
          </a:ln>
        </p:spPr>
      </p:sp>
      <p:sp>
        <p:nvSpPr>
          <p:cNvPr id="10" name="Text 7"/>
          <p:cNvSpPr txBox="1"/>
          <p:nvPr/>
        </p:nvSpPr>
        <p:spPr>
          <a:xfrm>
            <a:off x="3425952" y="1463040"/>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XML</a:t>
            </a:r>
            <a:endParaRPr lang="en-US" sz="1400" dirty="0"/>
          </a:p>
        </p:txBody>
      </p:sp>
      <p:sp>
        <p:nvSpPr>
          <p:cNvPr id="11" name="Text 8"/>
          <p:cNvSpPr txBox="1"/>
          <p:nvPr/>
        </p:nvSpPr>
        <p:spPr>
          <a:xfrm>
            <a:off x="3425952" y="1767586"/>
            <a:ext cx="2292096" cy="1295654"/>
          </a:xfrm>
          <a:prstGeom prst="rect">
            <a:avLst/>
          </a:prstGeom>
          <a:noFill/>
        </p:spPr>
        <p:txBody>
          <a:bodyPr wrap="square" lIns="0" tIns="0" rIns="0" bIns="0" rtlCol="0" anchor="t"/>
          <a:lstStyle/>
          <a:p>
            <a:pPr marL="0" indent="0" algn="l">
              <a:spcAft>
                <a:spcPts val="400"/>
              </a:spcAft>
              <a:buNone/>
            </a:pPr>
            <a:r>
              <a:rPr lang="en-US" sz="1200" dirty="0">
                <a:solidFill>
                  <a:srgbClr val="2A2433"/>
                </a:solidFill>
                <a:latin typeface="Calibri" pitchFamily="34" charset="0"/>
                <a:ea typeface="Calibri" pitchFamily="34" charset="-122"/>
                <a:cs typeface="Calibri" pitchFamily="34" charset="-120"/>
              </a:rPr>
              <a:t>Tags, attributes, namespaces</a:t>
            </a:r>
            <a:endParaRPr lang="en-US" sz="1200" dirty="0"/>
          </a:p>
          <a:p>
            <a:pPr marL="0" indent="0" algn="l">
              <a:spcAft>
                <a:spcPts val="400"/>
              </a:spcAft>
              <a:buNone/>
            </a:pPr>
            <a:r>
              <a:rPr lang="en-US" sz="1200" dirty="0">
                <a:solidFill>
                  <a:srgbClr val="2A2433"/>
                </a:solidFill>
                <a:latin typeface="Calibri" pitchFamily="34" charset="0"/>
                <a:ea typeface="Calibri" pitchFamily="34" charset="-122"/>
                <a:cs typeface="Calibri" pitchFamily="34" charset="-120"/>
              </a:rPr>
              <a:t>Optional DOCTYPE</a:t>
            </a:r>
            <a:endParaRPr lang="en-US" sz="1200" dirty="0"/>
          </a:p>
          <a:p>
            <a:pPr marL="0" indent="0" algn="l">
              <a:buNone/>
            </a:pPr>
            <a:r>
              <a:rPr lang="en-US" sz="1200" dirty="0">
                <a:solidFill>
                  <a:srgbClr val="2A2433"/>
                </a:solidFill>
                <a:latin typeface="Calibri" pitchFamily="34" charset="0"/>
                <a:ea typeface="Calibri" pitchFamily="34" charset="-122"/>
                <a:cs typeface="Calibri" pitchFamily="34" charset="-120"/>
              </a:rPr>
              <a:t>Common in enterprise and SOAP</a:t>
            </a:r>
            <a:endParaRPr lang="en-US" sz="1200" dirty="0"/>
          </a:p>
        </p:txBody>
      </p:sp>
      <p:sp>
        <p:nvSpPr>
          <p:cNvPr id="12" name="Shape 9"/>
          <p:cNvSpPr/>
          <p:nvPr/>
        </p:nvSpPr>
        <p:spPr>
          <a:xfrm>
            <a:off x="6065520" y="1325880"/>
            <a:ext cx="2621280" cy="1828800"/>
          </a:xfrm>
          <a:prstGeom prst="rect">
            <a:avLst/>
          </a:prstGeom>
          <a:solidFill>
            <a:srgbClr val="FFFFFF"/>
          </a:solidFill>
          <a:ln w="9525">
            <a:solidFill>
              <a:srgbClr val="D6CCE6"/>
            </a:solidFill>
          </a:ln>
        </p:spPr>
      </p:sp>
      <p:sp>
        <p:nvSpPr>
          <p:cNvPr id="13" name="Text 10"/>
          <p:cNvSpPr txBox="1"/>
          <p:nvPr/>
        </p:nvSpPr>
        <p:spPr>
          <a:xfrm>
            <a:off x="6230112" y="1463040"/>
            <a:ext cx="22920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Form-encoded</a:t>
            </a:r>
            <a:endParaRPr lang="en-US" sz="1400" dirty="0"/>
          </a:p>
        </p:txBody>
      </p:sp>
      <p:sp>
        <p:nvSpPr>
          <p:cNvPr id="14" name="Text 11"/>
          <p:cNvSpPr txBox="1"/>
          <p:nvPr/>
        </p:nvSpPr>
        <p:spPr>
          <a:xfrm>
            <a:off x="6230112" y="1767586"/>
            <a:ext cx="2292096" cy="1295654"/>
          </a:xfrm>
          <a:prstGeom prst="rect">
            <a:avLst/>
          </a:prstGeom>
          <a:noFill/>
        </p:spPr>
        <p:txBody>
          <a:bodyPr wrap="square" lIns="0" tIns="0" rIns="0" bIns="0" rtlCol="0" anchor="t"/>
          <a:lstStyle/>
          <a:p>
            <a:pPr marL="0" indent="0" algn="l">
              <a:spcAft>
                <a:spcPts val="400"/>
              </a:spcAft>
              <a:buNone/>
            </a:pPr>
            <a:r>
              <a:rPr lang="en-US" sz="1200" dirty="0">
                <a:solidFill>
                  <a:srgbClr val="2A2433"/>
                </a:solidFill>
                <a:latin typeface="Calibri" pitchFamily="34" charset="0"/>
                <a:ea typeface="Calibri" pitchFamily="34" charset="-122"/>
                <a:cs typeface="Calibri" pitchFamily="34" charset="-120"/>
              </a:rPr>
              <a:t>Read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key=value</a:t>
            </a:r>
            <a:r>
              <a:rPr lang="en-US" sz="1200" dirty="0">
                <a:solidFill>
                  <a:srgbClr val="2A2433"/>
                </a:solidFill>
                <a:latin typeface="Calibri" pitchFamily="34" charset="0"/>
                <a:ea typeface="Calibri" pitchFamily="34" charset="-122"/>
                <a:cs typeface="Calibri" pitchFamily="34" charset="-120"/>
              </a:rPr>
              <a:t> pairs split by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&amp;</a:t>
            </a:r>
            <a:endParaRPr lang="en-US" sz="1200" dirty="0"/>
          </a:p>
          <a:p>
            <a:pPr marL="0" indent="0" algn="l">
              <a:spcAft>
                <a:spcPts val="400"/>
              </a:spcAft>
              <a:buNone/>
            </a:pPr>
            <a:r>
              <a:rPr lang="en-US" sz="1200" dirty="0">
                <a:solidFill>
                  <a:srgbClr val="2A2433"/>
                </a:solidFill>
                <a:latin typeface="Calibri" pitchFamily="34" charset="0"/>
                <a:ea typeface="Calibri" pitchFamily="34" charset="-122"/>
                <a:cs typeface="Calibri" pitchFamily="34" charset="-120"/>
              </a:rPr>
              <a:t>Repeated keys can mean arrays</a:t>
            </a:r>
            <a:endParaRPr lang="en-US" sz="1200" dirty="0"/>
          </a:p>
          <a:p>
            <a:pPr marL="0" indent="0" algn="l">
              <a:buNone/>
            </a:pPr>
            <a:r>
              <a:rPr lang="en-US" sz="1200" dirty="0">
                <a:solidFill>
                  <a:srgbClr val="2A2433"/>
                </a:solidFill>
                <a:latin typeface="Calibri" pitchFamily="34" charset="0"/>
                <a:ea typeface="Calibri" pitchFamily="34" charset="-122"/>
                <a:cs typeface="Calibri" pitchFamily="34" charset="-120"/>
              </a:rPr>
              <a:t>Special characters are percent-encoded</a:t>
            </a:r>
            <a:endParaRPr lang="en-US" sz="1200" dirty="0"/>
          </a:p>
        </p:txBody>
      </p:sp>
      <p:sp>
        <p:nvSpPr>
          <p:cNvPr id="15" name="Shape 12"/>
          <p:cNvSpPr/>
          <p:nvPr/>
        </p:nvSpPr>
        <p:spPr>
          <a:xfrm>
            <a:off x="457200" y="3429000"/>
            <a:ext cx="8229600" cy="1143000"/>
          </a:xfrm>
          <a:prstGeom prst="rect">
            <a:avLst/>
          </a:prstGeom>
          <a:solidFill>
            <a:srgbClr val="FDEAE5"/>
          </a:solidFill>
          <a:ln w="12700">
            <a:solidFill>
              <a:srgbClr val="FDEAE5"/>
            </a:solidFill>
            <a:prstDash val="solid"/>
          </a:ln>
        </p:spPr>
      </p:sp>
      <p:sp>
        <p:nvSpPr>
          <p:cNvPr id="16" name="Shape 13"/>
          <p:cNvSpPr/>
          <p:nvPr/>
        </p:nvSpPr>
        <p:spPr>
          <a:xfrm>
            <a:off x="640080" y="3771900"/>
            <a:ext cx="457200" cy="457200"/>
          </a:xfrm>
          <a:prstGeom prst="roundRect">
            <a:avLst>
              <a:gd name="adj" fmla="val 24000"/>
            </a:avLst>
          </a:prstGeom>
          <a:solidFill>
            <a:srgbClr val="F2705A"/>
          </a:solidFill>
          <a:ln w="12700">
            <a:solidFill>
              <a:srgbClr val="F2705A"/>
            </a:solidFill>
            <a:prstDash val="solid"/>
          </a:ln>
        </p:spPr>
      </p:sp>
      <p:pic>
        <p:nvPicPr>
          <p:cNvPr id="17" name="Image 0" descr="preencoded.png"/>
          <p:cNvPicPr>
            <a:picLocks noChangeAspect="1"/>
          </p:cNvPicPr>
          <p:nvPr/>
        </p:nvPicPr>
        <p:blipFill>
          <a:blip r:embed="rId1"/>
          <a:stretch>
            <a:fillRect/>
          </a:stretch>
        </p:blipFill>
        <p:spPr>
          <a:xfrm>
            <a:off x="754380" y="3886200"/>
            <a:ext cx="228600" cy="228600"/>
          </a:xfrm>
          <a:prstGeom prst="rect">
            <a:avLst/>
          </a:prstGeom>
        </p:spPr>
      </p:pic>
      <p:sp>
        <p:nvSpPr>
          <p:cNvPr id="18" name="Text 14"/>
          <p:cNvSpPr txBox="1"/>
          <p:nvPr/>
        </p:nvSpPr>
        <p:spPr>
          <a:xfrm>
            <a:off x="1280160" y="3429000"/>
            <a:ext cx="7223760" cy="1143000"/>
          </a:xfrm>
          <a:prstGeom prst="rect">
            <a:avLst/>
          </a:prstGeom>
          <a:noFill/>
        </p:spPr>
        <p:txBody>
          <a:bodyPr wrap="square" lIns="0" tIns="0" rIns="0" bIns="0" rtlCol="0" anchor="ctr"/>
          <a:lstStyle/>
          <a:p>
            <a:pPr marL="0" indent="0" algn="l">
              <a:buNone/>
            </a:pPr>
            <a:r>
              <a:rPr lang="en-US" sz="1500" b="1" dirty="0">
                <a:solidFill>
                  <a:srgbClr val="2A2433"/>
                </a:solidFill>
                <a:latin typeface="Calibri" pitchFamily="34" charset="0"/>
                <a:ea typeface="Calibri" pitchFamily="34" charset="-122"/>
                <a:cs typeface="Calibri" pitchFamily="34" charset="-120"/>
              </a:rPr>
              <a:t>Watch the types.</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"quantity": 2</a:t>
            </a:r>
            <a:r>
              <a:rPr lang="en-US" sz="1500" dirty="0">
                <a:solidFill>
                  <a:srgbClr val="2A2433"/>
                </a:solidFill>
                <a:latin typeface="Calibri" pitchFamily="34" charset="0"/>
                <a:ea typeface="Calibri" pitchFamily="34" charset="-122"/>
                <a:cs typeface="Calibri" pitchFamily="34" charset="-120"/>
              </a:rPr>
              <a:t> and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"quantity": "2"</a:t>
            </a:r>
            <a:r>
              <a:rPr lang="en-US" sz="1500" dirty="0">
                <a:solidFill>
                  <a:srgbClr val="2A2433"/>
                </a:solidFill>
                <a:latin typeface="Calibri" pitchFamily="34" charset="0"/>
                <a:ea typeface="Calibri" pitchFamily="34" charset="-122"/>
                <a:cs typeface="Calibri" pitchFamily="34" charset="-120"/>
              </a:rPr>
              <a:t> differ.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"isAdmin": false</a:t>
            </a:r>
            <a:r>
              <a:rPr lang="en-US" sz="1500" dirty="0">
                <a:solidFill>
                  <a:srgbClr val="2A2433"/>
                </a:solidFill>
                <a:latin typeface="Calibri" pitchFamily="34" charset="0"/>
                <a:ea typeface="Calibri" pitchFamily="34" charset="-122"/>
                <a:cs typeface="Calibri" pitchFamily="34" charset="-120"/>
              </a:rPr>
              <a:t> is a boolean;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"false"</a:t>
            </a:r>
            <a:r>
              <a:rPr lang="en-US" sz="1500" dirty="0">
                <a:solidFill>
                  <a:srgbClr val="2A2433"/>
                </a:solidFill>
                <a:latin typeface="Calibri" pitchFamily="34" charset="0"/>
                <a:ea typeface="Calibri" pitchFamily="34" charset="-122"/>
                <a:cs typeface="Calibri" pitchFamily="34" charset="-120"/>
              </a:rPr>
              <a:t> is a string that may be truthy in some languages.</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1.5 · DATA FORMATS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Why formats matter for security</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150876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Content-type switching</a:t>
            </a:r>
            <a:endParaRPr lang="en-US" sz="1500" dirty="0"/>
          </a:p>
        </p:txBody>
      </p:sp>
      <p:sp>
        <p:nvSpPr>
          <p:cNvPr id="10" name="Text 6"/>
          <p:cNvSpPr txBox="1"/>
          <p:nvPr/>
        </p:nvSpPr>
        <p:spPr>
          <a:xfrm>
            <a:off x="621792" y="2359533"/>
            <a:ext cx="367131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JSON, XML and form data can reach different parsers. XML brings XXE.</a:t>
            </a:r>
            <a:endParaRPr lang="en-US" sz="1300" dirty="0"/>
          </a:p>
        </p:txBody>
      </p:sp>
      <p:sp>
        <p:nvSpPr>
          <p:cNvPr id="11" name="Shape 7"/>
          <p:cNvSpPr/>
          <p:nvPr/>
        </p:nvSpPr>
        <p:spPr>
          <a:xfrm>
            <a:off x="4686300" y="1325880"/>
            <a:ext cx="4000500" cy="1508760"/>
          </a:xfrm>
          <a:prstGeom prst="rect">
            <a:avLst/>
          </a:prstGeom>
          <a:solidFill>
            <a:srgbClr val="FFFFFF"/>
          </a:solidFill>
          <a:ln w="9525">
            <a:solidFill>
              <a:srgbClr val="D6CCE6"/>
            </a:solidFill>
          </a:ln>
        </p:spPr>
      </p:sp>
      <p:sp>
        <p:nvSpPr>
          <p:cNvPr id="12" name="Shape 8"/>
          <p:cNvSpPr/>
          <p:nvPr/>
        </p:nvSpPr>
        <p:spPr>
          <a:xfrm>
            <a:off x="485089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4965192" y="1604772"/>
            <a:ext cx="228600" cy="228600"/>
          </a:xfrm>
          <a:prstGeom prst="rect">
            <a:avLst/>
          </a:prstGeom>
        </p:spPr>
      </p:pic>
      <p:sp>
        <p:nvSpPr>
          <p:cNvPr id="14" name="Text 9"/>
          <p:cNvSpPr txBox="1"/>
          <p:nvPr/>
        </p:nvSpPr>
        <p:spPr>
          <a:xfrm>
            <a:off x="4850892" y="203911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Type confusion</a:t>
            </a:r>
            <a:endParaRPr lang="en-US" sz="1500" dirty="0"/>
          </a:p>
        </p:txBody>
      </p:sp>
      <p:sp>
        <p:nvSpPr>
          <p:cNvPr id="15" name="Text 10"/>
          <p:cNvSpPr txBox="1"/>
          <p:nvPr/>
        </p:nvSpPr>
        <p:spPr>
          <a:xfrm>
            <a:off x="4850892" y="2359533"/>
            <a:ext cx="367131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An array or object where a string is expected can bypass validation.</a:t>
            </a:r>
            <a:endParaRPr lang="en-US" sz="1300" dirty="0"/>
          </a:p>
        </p:txBody>
      </p:sp>
      <p:sp>
        <p:nvSpPr>
          <p:cNvPr id="16" name="Shape 11"/>
          <p:cNvSpPr/>
          <p:nvPr/>
        </p:nvSpPr>
        <p:spPr>
          <a:xfrm>
            <a:off x="457200" y="3063240"/>
            <a:ext cx="4000500" cy="1508760"/>
          </a:xfrm>
          <a:prstGeom prst="rect">
            <a:avLst/>
          </a:prstGeom>
          <a:solidFill>
            <a:srgbClr val="FFFFFF"/>
          </a:solidFill>
          <a:ln w="9525">
            <a:solidFill>
              <a:srgbClr val="D6CCE6"/>
            </a:solidFill>
          </a:ln>
        </p:spPr>
      </p:sp>
      <p:sp>
        <p:nvSpPr>
          <p:cNvPr id="17" name="Shape 12"/>
          <p:cNvSpPr/>
          <p:nvPr/>
        </p:nvSpPr>
        <p:spPr>
          <a:xfrm>
            <a:off x="621792" y="3227832"/>
            <a:ext cx="457200" cy="45720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736092" y="3342132"/>
            <a:ext cx="228600" cy="228600"/>
          </a:xfrm>
          <a:prstGeom prst="rect">
            <a:avLst/>
          </a:prstGeom>
        </p:spPr>
      </p:pic>
      <p:sp>
        <p:nvSpPr>
          <p:cNvPr id="19" name="Text 13"/>
          <p:cNvSpPr txBox="1"/>
          <p:nvPr/>
        </p:nvSpPr>
        <p:spPr>
          <a:xfrm>
            <a:off x="621792" y="377647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Extra fields</a:t>
            </a:r>
            <a:endParaRPr lang="en-US" sz="1500" dirty="0"/>
          </a:p>
        </p:txBody>
      </p:sp>
      <p:sp>
        <p:nvSpPr>
          <p:cNvPr id="20" name="Text 14"/>
          <p:cNvSpPr txBox="1"/>
          <p:nvPr/>
        </p:nvSpPr>
        <p:spPr>
          <a:xfrm>
            <a:off x="621792" y="4096893"/>
            <a:ext cx="367131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JSON makes it easy to add properties the server did not expect: mass assignment.</a:t>
            </a:r>
            <a:endParaRPr lang="en-US" sz="1300" dirty="0"/>
          </a:p>
        </p:txBody>
      </p:sp>
      <p:sp>
        <p:nvSpPr>
          <p:cNvPr id="21" name="Shape 15"/>
          <p:cNvSpPr/>
          <p:nvPr/>
        </p:nvSpPr>
        <p:spPr>
          <a:xfrm>
            <a:off x="4686300" y="3063240"/>
            <a:ext cx="4000500" cy="1508760"/>
          </a:xfrm>
          <a:prstGeom prst="rect">
            <a:avLst/>
          </a:prstGeom>
          <a:solidFill>
            <a:srgbClr val="FFFFFF"/>
          </a:solidFill>
          <a:ln w="9525">
            <a:solidFill>
              <a:srgbClr val="D6CCE6"/>
            </a:solidFill>
          </a:ln>
        </p:spPr>
      </p:sp>
      <p:sp>
        <p:nvSpPr>
          <p:cNvPr id="22" name="Shape 16"/>
          <p:cNvSpPr/>
          <p:nvPr/>
        </p:nvSpPr>
        <p:spPr>
          <a:xfrm>
            <a:off x="4850892" y="3227832"/>
            <a:ext cx="457200" cy="45720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4965192" y="3342132"/>
            <a:ext cx="228600" cy="228600"/>
          </a:xfrm>
          <a:prstGeom prst="rect">
            <a:avLst/>
          </a:prstGeom>
        </p:spPr>
      </p:pic>
      <p:sp>
        <p:nvSpPr>
          <p:cNvPr id="24" name="Text 17"/>
          <p:cNvSpPr txBox="1"/>
          <p:nvPr/>
        </p:nvSpPr>
        <p:spPr>
          <a:xfrm>
            <a:off x="4850892" y="377647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Header is a hint</a:t>
            </a:r>
            <a:endParaRPr lang="en-US" sz="1500" dirty="0"/>
          </a:p>
        </p:txBody>
      </p:sp>
      <p:sp>
        <p:nvSpPr>
          <p:cNvPr id="25" name="Text 18"/>
          <p:cNvSpPr txBox="1"/>
          <p:nvPr/>
        </p:nvSpPr>
        <p:spPr>
          <a:xfrm>
            <a:off x="4850892" y="4096893"/>
            <a:ext cx="367131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Servers sometimes parse the body regardless of the Content-Type.</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1.6 · AUTHENTICATION VS AUTHORIZATION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Two different questions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173736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3671316" cy="290576"/>
          </a:xfrm>
          <a:prstGeom prst="rect">
            <a:avLst/>
          </a:prstGeom>
          <a:noFill/>
        </p:spPr>
        <p:txBody>
          <a:bodyPr wrap="square" lIns="0" tIns="0" rIns="0" bIns="0" rtlCol="0" anchor="t"/>
          <a:lstStyle/>
          <a:p>
            <a:pPr marL="0" indent="0">
              <a:buNone/>
            </a:pPr>
            <a:r>
              <a:rPr lang="en-US" sz="1600" b="1" dirty="0">
                <a:solidFill>
                  <a:srgbClr val="2B1B3F"/>
                </a:solidFill>
                <a:latin typeface="Calibri" pitchFamily="34" charset="0"/>
                <a:ea typeface="Calibri" pitchFamily="34" charset="-122"/>
                <a:cs typeface="Calibri" pitchFamily="34" charset="-120"/>
              </a:rPr>
              <a:t>Authentication (AuthN)</a:t>
            </a:r>
            <a:endParaRPr lang="en-US" sz="1600" dirty="0"/>
          </a:p>
        </p:txBody>
      </p:sp>
      <p:sp>
        <p:nvSpPr>
          <p:cNvPr id="10" name="Text 6"/>
          <p:cNvSpPr txBox="1"/>
          <p:nvPr/>
        </p:nvSpPr>
        <p:spPr>
          <a:xfrm>
            <a:off x="621792" y="2375408"/>
            <a:ext cx="3671316" cy="596392"/>
          </a:xfrm>
          <a:prstGeom prst="rect">
            <a:avLst/>
          </a:prstGeom>
          <a:noFill/>
        </p:spPr>
        <p:txBody>
          <a:bodyPr wrap="square" lIns="0" tIns="0" rIns="0" bIns="0" rtlCol="0" anchor="t"/>
          <a:lstStyle/>
          <a:p>
            <a:pPr marL="0" indent="0" algn="l">
              <a:spcAft>
                <a:spcPts val="400"/>
              </a:spcAft>
              <a:buNone/>
            </a:pPr>
            <a:r>
              <a:rPr lang="en-US" sz="1400" b="1" dirty="0">
                <a:solidFill>
                  <a:srgbClr val="2A2433"/>
                </a:solidFill>
                <a:latin typeface="Calibri" pitchFamily="34" charset="0"/>
                <a:ea typeface="Calibri" pitchFamily="34" charset="-122"/>
                <a:cs typeface="Calibri" pitchFamily="34" charset="-120"/>
              </a:rPr>
              <a:t>Who are you?</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Verifying identity</a:t>
            </a:r>
            <a:endParaRPr lang="en-US" sz="1400" dirty="0"/>
          </a:p>
        </p:txBody>
      </p:sp>
      <p:sp>
        <p:nvSpPr>
          <p:cNvPr id="11" name="Shape 7"/>
          <p:cNvSpPr/>
          <p:nvPr/>
        </p:nvSpPr>
        <p:spPr>
          <a:xfrm>
            <a:off x="4686300" y="1325880"/>
            <a:ext cx="4000500" cy="1737360"/>
          </a:xfrm>
          <a:prstGeom prst="rect">
            <a:avLst/>
          </a:prstGeom>
          <a:solidFill>
            <a:srgbClr val="FFFFFF"/>
          </a:solidFill>
          <a:ln w="9525">
            <a:solidFill>
              <a:srgbClr val="D6CCE6"/>
            </a:solidFill>
          </a:ln>
        </p:spPr>
      </p:sp>
      <p:sp>
        <p:nvSpPr>
          <p:cNvPr id="12" name="Shape 8"/>
          <p:cNvSpPr/>
          <p:nvPr/>
        </p:nvSpPr>
        <p:spPr>
          <a:xfrm>
            <a:off x="485089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4965192" y="1604772"/>
            <a:ext cx="228600" cy="228600"/>
          </a:xfrm>
          <a:prstGeom prst="rect">
            <a:avLst/>
          </a:prstGeom>
        </p:spPr>
      </p:pic>
      <p:sp>
        <p:nvSpPr>
          <p:cNvPr id="14" name="Text 9"/>
          <p:cNvSpPr txBox="1"/>
          <p:nvPr/>
        </p:nvSpPr>
        <p:spPr>
          <a:xfrm>
            <a:off x="4850892" y="2039112"/>
            <a:ext cx="3671316" cy="290576"/>
          </a:xfrm>
          <a:prstGeom prst="rect">
            <a:avLst/>
          </a:prstGeom>
          <a:noFill/>
        </p:spPr>
        <p:txBody>
          <a:bodyPr wrap="square" lIns="0" tIns="0" rIns="0" bIns="0" rtlCol="0" anchor="t"/>
          <a:lstStyle/>
          <a:p>
            <a:pPr marL="0" indent="0">
              <a:buNone/>
            </a:pPr>
            <a:r>
              <a:rPr lang="en-US" sz="1600" b="1" dirty="0">
                <a:solidFill>
                  <a:srgbClr val="2B1B3F"/>
                </a:solidFill>
                <a:latin typeface="Calibri" pitchFamily="34" charset="0"/>
                <a:ea typeface="Calibri" pitchFamily="34" charset="-122"/>
                <a:cs typeface="Calibri" pitchFamily="34" charset="-120"/>
              </a:rPr>
              <a:t>Authorization (AuthZ)</a:t>
            </a:r>
            <a:endParaRPr lang="en-US" sz="1600" dirty="0"/>
          </a:p>
        </p:txBody>
      </p:sp>
      <p:sp>
        <p:nvSpPr>
          <p:cNvPr id="15" name="Text 10"/>
          <p:cNvSpPr txBox="1"/>
          <p:nvPr/>
        </p:nvSpPr>
        <p:spPr>
          <a:xfrm>
            <a:off x="4850892" y="2375408"/>
            <a:ext cx="3671316" cy="596392"/>
          </a:xfrm>
          <a:prstGeom prst="rect">
            <a:avLst/>
          </a:prstGeom>
          <a:noFill/>
        </p:spPr>
        <p:txBody>
          <a:bodyPr wrap="square" lIns="0" tIns="0" rIns="0" bIns="0" rtlCol="0" anchor="t"/>
          <a:lstStyle/>
          <a:p>
            <a:pPr marL="0" indent="0" algn="l">
              <a:spcAft>
                <a:spcPts val="400"/>
              </a:spcAft>
              <a:buNone/>
            </a:pPr>
            <a:r>
              <a:rPr lang="en-US" sz="1400" b="1" dirty="0">
                <a:solidFill>
                  <a:srgbClr val="2A2433"/>
                </a:solidFill>
                <a:latin typeface="Calibri" pitchFamily="34" charset="0"/>
                <a:ea typeface="Calibri" pitchFamily="34" charset="-122"/>
                <a:cs typeface="Calibri" pitchFamily="34" charset="-120"/>
              </a:rPr>
              <a:t>What are you allowed to do?</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Verifying permissions once identity is known</a:t>
            </a:r>
            <a:endParaRPr lang="en-US" sz="1400" dirty="0"/>
          </a:p>
        </p:txBody>
      </p:sp>
      <p:sp>
        <p:nvSpPr>
          <p:cNvPr id="16" name="Shape 11"/>
          <p:cNvSpPr/>
          <p:nvPr/>
        </p:nvSpPr>
        <p:spPr>
          <a:xfrm>
            <a:off x="457200" y="3291840"/>
            <a:ext cx="8229600" cy="685800"/>
          </a:xfrm>
          <a:prstGeom prst="rect">
            <a:avLst/>
          </a:prstGeom>
          <a:solidFill>
            <a:srgbClr val="FDEAE5"/>
          </a:solidFill>
          <a:ln w="12700">
            <a:solidFill>
              <a:srgbClr val="FDEAE5"/>
            </a:solidFill>
            <a:prstDash val="solid"/>
          </a:ln>
        </p:spPr>
      </p:sp>
      <p:sp>
        <p:nvSpPr>
          <p:cNvPr id="17" name="Shape 12"/>
          <p:cNvSpPr/>
          <p:nvPr/>
        </p:nvSpPr>
        <p:spPr>
          <a:xfrm>
            <a:off x="640080" y="3406140"/>
            <a:ext cx="457200" cy="457200"/>
          </a:xfrm>
          <a:prstGeom prst="roundRect">
            <a:avLst>
              <a:gd name="adj" fmla="val 24000"/>
            </a:avLst>
          </a:prstGeom>
          <a:solidFill>
            <a:srgbClr val="F2705A"/>
          </a:solidFill>
          <a:ln w="12700">
            <a:solidFill>
              <a:srgbClr val="F2705A"/>
            </a:solidFill>
            <a:prstDash val="solid"/>
          </a:ln>
        </p:spPr>
      </p:sp>
      <p:pic>
        <p:nvPicPr>
          <p:cNvPr id="18" name="Image 2" descr="preencoded.png"/>
          <p:cNvPicPr>
            <a:picLocks noChangeAspect="1"/>
          </p:cNvPicPr>
          <p:nvPr/>
        </p:nvPicPr>
        <p:blipFill>
          <a:blip r:embed="rId3"/>
          <a:stretch>
            <a:fillRect/>
          </a:stretch>
        </p:blipFill>
        <p:spPr>
          <a:xfrm>
            <a:off x="754380" y="3520440"/>
            <a:ext cx="228600" cy="228600"/>
          </a:xfrm>
          <a:prstGeom prst="rect">
            <a:avLst/>
          </a:prstGeom>
        </p:spPr>
      </p:pic>
      <p:sp>
        <p:nvSpPr>
          <p:cNvPr id="19" name="Text 13"/>
          <p:cNvSpPr txBox="1"/>
          <p:nvPr/>
        </p:nvSpPr>
        <p:spPr>
          <a:xfrm>
            <a:off x="1280160" y="3291840"/>
            <a:ext cx="7223760" cy="685800"/>
          </a:xfrm>
          <a:prstGeom prst="rect">
            <a:avLst/>
          </a:prstGeom>
          <a:noFill/>
        </p:spPr>
        <p:txBody>
          <a:bodyPr wrap="square" lIns="0" tIns="0" rIns="0" bIns="0" rtlCol="0" anchor="ctr"/>
          <a:lstStyle/>
          <a:p>
            <a:pPr marL="0" indent="0" algn="l">
              <a:buNone/>
            </a:pPr>
            <a:r>
              <a:rPr lang="en-US" sz="1400" b="1" dirty="0">
                <a:solidFill>
                  <a:srgbClr val="2A2433"/>
                </a:solidFill>
                <a:latin typeface="Calibri" pitchFamily="34" charset="0"/>
                <a:ea typeface="Calibri" pitchFamily="34" charset="-122"/>
                <a:cs typeface="Calibri" pitchFamily="34" charset="-120"/>
              </a:rPr>
              <a:t>Hotel analogy:</a:t>
            </a:r>
            <a:r>
              <a:rPr lang="en-US" sz="1400" dirty="0">
                <a:solidFill>
                  <a:srgbClr val="2A2433"/>
                </a:solidFill>
                <a:latin typeface="Calibri" pitchFamily="34" charset="0"/>
                <a:ea typeface="Calibri" pitchFamily="34" charset="-122"/>
                <a:cs typeface="Calibri" pitchFamily="34" charset="-120"/>
              </a:rPr>
              <a:t> AuthN is showing your ID at the desk. AuthZ is whether your key card opens room 412 or only your own room.</a:t>
            </a:r>
            <a:endParaRPr lang="en-US" sz="1400" dirty="0"/>
          </a:p>
        </p:txBody>
      </p:sp>
      <p:sp>
        <p:nvSpPr>
          <p:cNvPr id="20" name="Text 14"/>
          <p:cNvSpPr txBox="1"/>
          <p:nvPr/>
        </p:nvSpPr>
        <p:spPr>
          <a:xfrm>
            <a:off x="457200" y="4160520"/>
            <a:ext cx="8229600" cy="411480"/>
          </a:xfrm>
          <a:prstGeom prst="rect">
            <a:avLst/>
          </a:prstGeom>
          <a:noFill/>
        </p:spPr>
        <p:txBody>
          <a:bodyPr wrap="square" lIns="0" tIns="0" rIns="0" bIns="0" rtlCol="0" anchor="t"/>
          <a:lstStyle/>
          <a:p>
            <a:pPr marL="0" indent="0" algn="l">
              <a:buNone/>
            </a:pPr>
            <a:r>
              <a:rPr lang="en-US" sz="1500" dirty="0">
                <a:solidFill>
                  <a:srgbClr val="51268E"/>
                </a:solidFill>
                <a:latin typeface="Calibri" pitchFamily="34" charset="0"/>
                <a:ea typeface="Calibri" pitchFamily="34" charset="-122"/>
                <a:cs typeface="Calibri" pitchFamily="34" charset="-120"/>
              </a:rPr>
              <a:t>A very large share of real API breaches are </a:t>
            </a:r>
            <a:r>
              <a:rPr lang="en-US" sz="1500" b="1" dirty="0">
                <a:solidFill>
                  <a:srgbClr val="51268E"/>
                </a:solidFill>
                <a:latin typeface="Calibri" pitchFamily="34" charset="0"/>
                <a:ea typeface="Calibri" pitchFamily="34" charset="-122"/>
                <a:cs typeface="Calibri" pitchFamily="34" charset="-120"/>
              </a:rPr>
              <a:t>authorization</a:t>
            </a:r>
            <a:r>
              <a:rPr lang="en-US" sz="1500" dirty="0">
                <a:solidFill>
                  <a:srgbClr val="51268E"/>
                </a:solidFill>
                <a:latin typeface="Calibri" pitchFamily="34" charset="0"/>
                <a:ea typeface="Calibri" pitchFamily="34" charset="-122"/>
                <a:cs typeface="Calibri" pitchFamily="34" charset="-120"/>
              </a:rPr>
              <a:t> failures.</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1.6 · AUTHENTICATION VS AUTHORIZATION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Three levels of authorization</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237744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Object-level</a:t>
            </a:r>
            <a:endParaRPr lang="en-US" sz="1500" dirty="0"/>
          </a:p>
        </p:txBody>
      </p:sp>
      <p:sp>
        <p:nvSpPr>
          <p:cNvPr id="10" name="Text 6"/>
          <p:cNvSpPr txBox="1"/>
          <p:nvPr/>
        </p:nvSpPr>
        <p:spPr>
          <a:xfrm>
            <a:off x="621792" y="2359533"/>
            <a:ext cx="2292096" cy="1252347"/>
          </a:xfrm>
          <a:prstGeom prst="rect">
            <a:avLst/>
          </a:prstGeom>
          <a:noFill/>
        </p:spPr>
        <p:txBody>
          <a:bodyPr wrap="square" lIns="0" tIns="0" rIns="0" bIns="0" rtlCol="0" anchor="t"/>
          <a:lstStyle/>
          <a:p>
            <a:pPr marL="0" indent="0" algn="l">
              <a:spcAft>
                <a:spcPts val="400"/>
              </a:spcAft>
              <a:buNone/>
            </a:pPr>
            <a:r>
              <a:rPr lang="en-US" sz="1300" dirty="0">
                <a:solidFill>
                  <a:srgbClr val="2A2433"/>
                </a:solidFill>
                <a:latin typeface="Calibri" pitchFamily="34" charset="0"/>
                <a:ea typeface="Calibri" pitchFamily="34" charset="-122"/>
                <a:cs typeface="Calibri" pitchFamily="34" charset="-120"/>
              </a:rPr>
              <a:t>Can this user access </a:t>
            </a:r>
            <a:r>
              <a:rPr lang="en-US" sz="1300" b="1" dirty="0">
                <a:solidFill>
                  <a:srgbClr val="2A2433"/>
                </a:solidFill>
                <a:latin typeface="Calibri" pitchFamily="34" charset="0"/>
                <a:ea typeface="Calibri" pitchFamily="34" charset="-122"/>
                <a:cs typeface="Calibri" pitchFamily="34" charset="-120"/>
              </a:rPr>
              <a:t>this specific</a:t>
            </a:r>
            <a:r>
              <a:rPr lang="en-US" sz="1300" dirty="0">
                <a:solidFill>
                  <a:srgbClr val="2A2433"/>
                </a:solidFill>
                <a:latin typeface="Calibri" pitchFamily="34" charset="0"/>
                <a:ea typeface="Calibri" pitchFamily="34" charset="-122"/>
                <a:cs typeface="Calibri" pitchFamily="34" charset="-120"/>
              </a:rPr>
              <a:t> object?</a:t>
            </a:r>
            <a:endParaRPr lang="en-US" sz="1300" dirty="0"/>
          </a:p>
          <a:p>
            <a:pPr marL="0" indent="0" algn="l">
              <a:buNone/>
            </a:pP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/orders/88104</a:t>
            </a:r>
            <a:endParaRPr lang="en-US" sz="1300" dirty="0"/>
          </a:p>
        </p:txBody>
      </p:sp>
      <p:sp>
        <p:nvSpPr>
          <p:cNvPr id="11" name="Shape 7"/>
          <p:cNvSpPr/>
          <p:nvPr/>
        </p:nvSpPr>
        <p:spPr>
          <a:xfrm>
            <a:off x="3261360" y="1325880"/>
            <a:ext cx="2621280" cy="2377440"/>
          </a:xfrm>
          <a:prstGeom prst="rect">
            <a:avLst/>
          </a:prstGeom>
          <a:solidFill>
            <a:srgbClr val="FFFFFF"/>
          </a:solidFill>
          <a:ln w="9525">
            <a:solidFill>
              <a:srgbClr val="D6CCE6"/>
            </a:solidFill>
          </a:ln>
        </p:spPr>
      </p:sp>
      <p:sp>
        <p:nvSpPr>
          <p:cNvPr id="12" name="Shape 8"/>
          <p:cNvSpPr/>
          <p:nvPr/>
        </p:nvSpPr>
        <p:spPr>
          <a:xfrm>
            <a:off x="342595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40252" y="1604772"/>
            <a:ext cx="228600" cy="228600"/>
          </a:xfrm>
          <a:prstGeom prst="rect">
            <a:avLst/>
          </a:prstGeom>
        </p:spPr>
      </p:pic>
      <p:sp>
        <p:nvSpPr>
          <p:cNvPr id="14" name="Text 9"/>
          <p:cNvSpPr txBox="1"/>
          <p:nvPr/>
        </p:nvSpPr>
        <p:spPr>
          <a:xfrm>
            <a:off x="342595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Function-level</a:t>
            </a:r>
            <a:endParaRPr lang="en-US" sz="1500" dirty="0"/>
          </a:p>
        </p:txBody>
      </p:sp>
      <p:sp>
        <p:nvSpPr>
          <p:cNvPr id="15" name="Text 10"/>
          <p:cNvSpPr txBox="1"/>
          <p:nvPr/>
        </p:nvSpPr>
        <p:spPr>
          <a:xfrm>
            <a:off x="3425952" y="2359533"/>
            <a:ext cx="2292096" cy="1252347"/>
          </a:xfrm>
          <a:prstGeom prst="rect">
            <a:avLst/>
          </a:prstGeom>
          <a:noFill/>
        </p:spPr>
        <p:txBody>
          <a:bodyPr wrap="square" lIns="0" tIns="0" rIns="0" bIns="0" rtlCol="0" anchor="t"/>
          <a:lstStyle/>
          <a:p>
            <a:pPr marL="0" indent="0" algn="l">
              <a:spcAft>
                <a:spcPts val="400"/>
              </a:spcAft>
              <a:buNone/>
            </a:pPr>
            <a:r>
              <a:rPr lang="en-US" sz="1300" dirty="0">
                <a:solidFill>
                  <a:srgbClr val="2A2433"/>
                </a:solidFill>
                <a:latin typeface="Calibri" pitchFamily="34" charset="0"/>
                <a:ea typeface="Calibri" pitchFamily="34" charset="-122"/>
                <a:cs typeface="Calibri" pitchFamily="34" charset="-120"/>
              </a:rPr>
              <a:t>Can this user call </a:t>
            </a:r>
            <a:r>
              <a:rPr lang="en-US" sz="1300" b="1" dirty="0">
                <a:solidFill>
                  <a:srgbClr val="2A2433"/>
                </a:solidFill>
                <a:latin typeface="Calibri" pitchFamily="34" charset="0"/>
                <a:ea typeface="Calibri" pitchFamily="34" charset="-122"/>
                <a:cs typeface="Calibri" pitchFamily="34" charset="-120"/>
              </a:rPr>
              <a:t>this function</a:t>
            </a:r>
            <a:r>
              <a:rPr lang="en-US" sz="1300" dirty="0">
                <a:solidFill>
                  <a:srgbClr val="2A2433"/>
                </a:solidFill>
                <a:latin typeface="Calibri" pitchFamily="34" charset="0"/>
                <a:ea typeface="Calibri" pitchFamily="34" charset="-122"/>
                <a:cs typeface="Calibri" pitchFamily="34" charset="-120"/>
              </a:rPr>
              <a:t> at all?</a:t>
            </a:r>
            <a:endParaRPr lang="en-US" sz="1300" dirty="0"/>
          </a:p>
          <a:p>
            <a:pPr marL="0" indent="0" algn="l">
              <a:buNone/>
            </a:pP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 /admin/users</a:t>
            </a:r>
            <a:endParaRPr lang="en-US" sz="1300" dirty="0"/>
          </a:p>
        </p:txBody>
      </p:sp>
      <p:sp>
        <p:nvSpPr>
          <p:cNvPr id="16" name="Shape 11"/>
          <p:cNvSpPr/>
          <p:nvPr/>
        </p:nvSpPr>
        <p:spPr>
          <a:xfrm>
            <a:off x="6065520" y="1325880"/>
            <a:ext cx="2621280" cy="2377440"/>
          </a:xfrm>
          <a:prstGeom prst="rect">
            <a:avLst/>
          </a:prstGeom>
          <a:solidFill>
            <a:srgbClr val="FFFFFF"/>
          </a:solidFill>
          <a:ln w="9525">
            <a:solidFill>
              <a:srgbClr val="D6CCE6"/>
            </a:solidFill>
          </a:ln>
        </p:spPr>
      </p:sp>
      <p:sp>
        <p:nvSpPr>
          <p:cNvPr id="17" name="Shape 12"/>
          <p:cNvSpPr/>
          <p:nvPr/>
        </p:nvSpPr>
        <p:spPr>
          <a:xfrm>
            <a:off x="6230112" y="1490472"/>
            <a:ext cx="457200" cy="45720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44412" y="1604772"/>
            <a:ext cx="228600" cy="228600"/>
          </a:xfrm>
          <a:prstGeom prst="rect">
            <a:avLst/>
          </a:prstGeom>
        </p:spPr>
      </p:pic>
      <p:sp>
        <p:nvSpPr>
          <p:cNvPr id="19" name="Text 13"/>
          <p:cNvSpPr txBox="1"/>
          <p:nvPr/>
        </p:nvSpPr>
        <p:spPr>
          <a:xfrm>
            <a:off x="623011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Property-level</a:t>
            </a:r>
            <a:endParaRPr lang="en-US" sz="1500" dirty="0"/>
          </a:p>
        </p:txBody>
      </p:sp>
      <p:sp>
        <p:nvSpPr>
          <p:cNvPr id="20" name="Text 14"/>
          <p:cNvSpPr txBox="1"/>
          <p:nvPr/>
        </p:nvSpPr>
        <p:spPr>
          <a:xfrm>
            <a:off x="6230112" y="2359533"/>
            <a:ext cx="2292096" cy="1252347"/>
          </a:xfrm>
          <a:prstGeom prst="rect">
            <a:avLst/>
          </a:prstGeom>
          <a:noFill/>
        </p:spPr>
        <p:txBody>
          <a:bodyPr wrap="square" lIns="0" tIns="0" rIns="0" bIns="0" rtlCol="0" anchor="t"/>
          <a:lstStyle/>
          <a:p>
            <a:pPr marL="0" indent="0" algn="l">
              <a:spcAft>
                <a:spcPts val="400"/>
              </a:spcAft>
              <a:buNone/>
            </a:pPr>
            <a:r>
              <a:rPr lang="en-US" sz="1300" dirty="0">
                <a:solidFill>
                  <a:srgbClr val="2A2433"/>
                </a:solidFill>
                <a:latin typeface="Calibri" pitchFamily="34" charset="0"/>
                <a:ea typeface="Calibri" pitchFamily="34" charset="-122"/>
                <a:cs typeface="Calibri" pitchFamily="34" charset="-120"/>
              </a:rPr>
              <a:t>Can this user read or write </a:t>
            </a:r>
            <a:r>
              <a:rPr lang="en-US" sz="1300" b="1" dirty="0">
                <a:solidFill>
                  <a:srgbClr val="2A2433"/>
                </a:solidFill>
                <a:latin typeface="Calibri" pitchFamily="34" charset="0"/>
                <a:ea typeface="Calibri" pitchFamily="34" charset="-122"/>
                <a:cs typeface="Calibri" pitchFamily="34" charset="-120"/>
              </a:rPr>
              <a:t>this field</a:t>
            </a:r>
            <a:r>
              <a:rPr lang="en-US" sz="1300" dirty="0">
                <a:solidFill>
                  <a:srgbClr val="2A2433"/>
                </a:solidFill>
                <a:latin typeface="Calibri" pitchFamily="34" charset="0"/>
                <a:ea typeface="Calibri" pitchFamily="34" charset="-122"/>
                <a:cs typeface="Calibri" pitchFamily="34" charset="-120"/>
              </a:rPr>
              <a:t>?</a:t>
            </a:r>
            <a:endParaRPr lang="en-US" sz="1300" dirty="0"/>
          </a:p>
          <a:p>
            <a:pPr marL="0" indent="0" algn="l">
              <a:buNone/>
            </a:pP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"role": "admin"</a:t>
            </a:r>
            <a:endParaRPr lang="en-US" sz="1300" dirty="0"/>
          </a:p>
        </p:txBody>
      </p:sp>
      <p:sp>
        <p:nvSpPr>
          <p:cNvPr id="21" name="Text 15"/>
          <p:cNvSpPr txBox="1"/>
          <p:nvPr/>
        </p:nvSpPr>
        <p:spPr>
          <a:xfrm>
            <a:off x="457200" y="4023360"/>
            <a:ext cx="8229600" cy="365760"/>
          </a:xfrm>
          <a:prstGeom prst="rect">
            <a:avLst/>
          </a:prstGeom>
          <a:noFill/>
        </p:spPr>
        <p:txBody>
          <a:bodyPr wrap="square" lIns="0" tIns="0" rIns="0" bIns="0" rtlCol="0" anchor="t"/>
          <a:lstStyle/>
          <a:p>
            <a:pPr marL="0" indent="0" algn="l">
              <a:buNone/>
            </a:pPr>
            <a:r>
              <a:rPr lang="en-US" sz="1500" dirty="0">
                <a:solidFill>
                  <a:srgbClr val="51268E"/>
                </a:solidFill>
                <a:latin typeface="Calibri" pitchFamily="34" charset="0"/>
                <a:ea typeface="Calibri" pitchFamily="34" charset="-122"/>
                <a:cs typeface="Calibri" pitchFamily="34" charset="-120"/>
              </a:rPr>
              <a:t>Coming in Part 3 as </a:t>
            </a:r>
            <a:r>
              <a:rPr lang="en-US" sz="1500" b="1" dirty="0">
                <a:solidFill>
                  <a:srgbClr val="51268E"/>
                </a:solidFill>
                <a:latin typeface="Calibri" pitchFamily="34" charset="0"/>
                <a:ea typeface="Calibri" pitchFamily="34" charset="-122"/>
                <a:cs typeface="Calibri" pitchFamily="34" charset="-120"/>
              </a:rPr>
              <a:t>BOLA</a:t>
            </a:r>
            <a:r>
              <a:rPr lang="en-US" sz="1500" dirty="0">
                <a:solidFill>
                  <a:srgbClr val="51268E"/>
                </a:solidFill>
                <a:latin typeface="Calibri" pitchFamily="34" charset="0"/>
                <a:ea typeface="Calibri" pitchFamily="34" charset="-122"/>
                <a:cs typeface="Calibri" pitchFamily="34" charset="-120"/>
              </a:rPr>
              <a:t>, </a:t>
            </a:r>
            <a:r>
              <a:rPr lang="en-US" sz="1500" b="1" dirty="0">
                <a:solidFill>
                  <a:srgbClr val="51268E"/>
                </a:solidFill>
                <a:latin typeface="Calibri" pitchFamily="34" charset="0"/>
                <a:ea typeface="Calibri" pitchFamily="34" charset="-122"/>
                <a:cs typeface="Calibri" pitchFamily="34" charset="-120"/>
              </a:rPr>
              <a:t>BFLA</a:t>
            </a:r>
            <a:r>
              <a:rPr lang="en-US" sz="1500" dirty="0">
                <a:solidFill>
                  <a:srgbClr val="51268E"/>
                </a:solidFill>
                <a:latin typeface="Calibri" pitchFamily="34" charset="0"/>
                <a:ea typeface="Calibri" pitchFamily="34" charset="-122"/>
                <a:cs typeface="Calibri" pitchFamily="34" charset="-120"/>
              </a:rPr>
              <a:t> and </a:t>
            </a:r>
            <a:r>
              <a:rPr lang="en-US" sz="1500" b="1" dirty="0">
                <a:solidFill>
                  <a:srgbClr val="51268E"/>
                </a:solidFill>
                <a:latin typeface="Calibri" pitchFamily="34" charset="0"/>
                <a:ea typeface="Calibri" pitchFamily="34" charset="-122"/>
                <a:cs typeface="Calibri" pitchFamily="34" charset="-120"/>
              </a:rPr>
              <a:t>BOPLA</a:t>
            </a:r>
            <a:r>
              <a:rPr lang="en-US" sz="1500" dirty="0">
                <a:solidFill>
                  <a:srgbClr val="51268E"/>
                </a:solidFill>
                <a:latin typeface="Calibri" pitchFamily="34" charset="0"/>
                <a:ea typeface="Calibri" pitchFamily="34" charset="-122"/>
                <a:cs typeface="Calibri" pitchFamily="34" charset="-120"/>
              </a:rPr>
              <a:t>.</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1.6 · AUTHENTICATION VS AUTHORIZATION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Mechanisms at a glance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32" name="Table 0"/>
          <p:cNvGraphicFramePr>
            <a:graphicFrameLocks noGrp="1"/>
          </p:cNvGraphicFramePr>
          <p:nvPr/>
        </p:nvGraphicFramePr>
        <p:xfrm>
          <a:off x="457200" y="1280160"/>
          <a:ext cx="8229600" cy="2816352"/>
        </p:xfrm>
        <a:graphic>
          <a:graphicData uri="http://schemas.openxmlformats.org/drawingml/2006/table">
            <a:tbl>
              <a:tblPr/>
              <a:tblGrid>
                <a:gridCol w="1463040"/>
                <a:gridCol w="3383280"/>
                <a:gridCol w="3383280"/>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Key weakness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 key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Static secret identifying the application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Long-lived, leaked in code or URLs, hard to scope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Basic auth</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Authorization: Basic base64(user:pass)</a:t>
                      </a:r>
                      <a:r>
                        <a:rPr lang="en-US" sz="1200" dirty="0">
                          <a:solidFill>
                            <a:srgbClr val="2A2433"/>
                          </a:solidFill>
                          <a:latin typeface="Calibri" pitchFamily="34" charset="0"/>
                          <a:ea typeface="Calibri" pitchFamily="34" charset="-122"/>
                          <a:cs typeface="Calibri" pitchFamily="34" charset="-120"/>
                        </a:rPr>
                        <a:t> every request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Base64 is encoding, not encryption; needs HTTPS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Session cookie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Server holds state; client holds a random ID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CSRF, session fixation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Bearer token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Random string looked up server-side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Whoever holds it </a:t>
                      </a:r>
                      <a:r>
                        <a:rPr lang="en-US" sz="1200" b="1" dirty="0">
                          <a:solidFill>
                            <a:srgbClr val="2A2433"/>
                          </a:solidFill>
                          <a:latin typeface="Calibri" pitchFamily="34" charset="0"/>
                          <a:ea typeface="Calibri" pitchFamily="34" charset="-122"/>
                          <a:cs typeface="Calibri" pitchFamily="34" charset="-120"/>
                        </a:rPr>
                        <a:t>is</a:t>
                      </a:r>
                      <a:r>
                        <a:rPr lang="en-US" sz="1200" dirty="0">
                          <a:solidFill>
                            <a:srgbClr val="2A2433"/>
                          </a:solidFill>
                          <a:latin typeface="Calibri" pitchFamily="34" charset="0"/>
                          <a:ea typeface="Calibri" pitchFamily="34" charset="-122"/>
                          <a:cs typeface="Calibri" pitchFamily="34" charset="-120"/>
                        </a:rPr>
                        <a:t> you</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JWT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Self-contained signed token with claims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Misvalidation, hard to revoke, secrets in payload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OAuth 2.0</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Delegated authorization with access tokens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Complex flows, weak redirect URIs, broad scopes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1.6 · AUTHENTICATION VS AUTHORIZATION</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API keys and Basic auth</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18872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API KEY</a:t>
            </a:r>
            <a:endParaRPr lang="en-US" sz="1000" dirty="0"/>
          </a:p>
        </p:txBody>
      </p:sp>
      <p:sp>
        <p:nvSpPr>
          <p:cNvPr id="8" name="Text 5"/>
          <p:cNvSpPr txBox="1"/>
          <p:nvPr/>
        </p:nvSpPr>
        <p:spPr>
          <a:xfrm>
            <a:off x="640080" y="1627632"/>
            <a:ext cx="3657600" cy="7498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GET /v1/weather?city=Pune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Host: api.weather.example</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X-API-Key: 3f9c2a7e91b04d5c8e6a...</a:t>
            </a:r>
            <a:endParaRPr lang="en-US" sz="1000" dirty="0"/>
          </a:p>
        </p:txBody>
      </p:sp>
      <p:sp>
        <p:nvSpPr>
          <p:cNvPr id="9" name="Shape 6"/>
          <p:cNvSpPr/>
          <p:nvPr/>
        </p:nvSpPr>
        <p:spPr>
          <a:xfrm>
            <a:off x="4663440" y="1280160"/>
            <a:ext cx="4023360" cy="1188720"/>
          </a:xfrm>
          <a:prstGeom prst="rect">
            <a:avLst/>
          </a:prstGeom>
          <a:solidFill>
            <a:srgbClr val="241733"/>
          </a:solidFill>
          <a:ln w="12700">
            <a:solidFill>
              <a:srgbClr val="24173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BASIC AUTH</a:t>
            </a:r>
            <a:endParaRPr lang="en-US" sz="1000" dirty="0"/>
          </a:p>
        </p:txBody>
      </p:sp>
      <p:sp>
        <p:nvSpPr>
          <p:cNvPr id="11" name="Text 8"/>
          <p:cNvSpPr txBox="1"/>
          <p:nvPr/>
        </p:nvSpPr>
        <p:spPr>
          <a:xfrm>
            <a:off x="4846320" y="1627632"/>
            <a:ext cx="3657600" cy="7498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GET /internal/report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Host: intranet.example.com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Authorization: Basic</a:t>
            </a:r>
            <a:endParaRPr lang="en-US" sz="1000" dirty="0"/>
          </a:p>
          <a:p>
            <a:pPr marL="0" indent="0">
              <a:lnSpc>
                <a:spcPct val="100000"/>
              </a:lnSpc>
              <a:buNone/>
            </a:pPr>
            <a:r>
              <a:rPr lang="en-US" sz="100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YWxpY2U6UGFzc3cwcmQh</a:t>
            </a:r>
            <a:endParaRPr lang="en-US" sz="1000" dirty="0"/>
          </a:p>
        </p:txBody>
      </p:sp>
      <p:sp>
        <p:nvSpPr>
          <p:cNvPr id="12" name="Text 9"/>
          <p:cNvSpPr txBox="1"/>
          <p:nvPr/>
        </p:nvSpPr>
        <p:spPr>
          <a:xfrm>
            <a:off x="457200" y="2697480"/>
            <a:ext cx="8229600" cy="822960"/>
          </a:xfrm>
          <a:prstGeom prst="rect">
            <a:avLst/>
          </a:prstGeom>
          <a:noFill/>
        </p:spPr>
        <p:txBody>
          <a:bodyPr wrap="square" lIns="0" tIns="0" rIns="0" bIns="0" rtlCol="0" anchor="t"/>
          <a:lstStyle/>
          <a:p>
            <a:pPr marL="0" indent="0" algn="l">
              <a:spcAft>
                <a:spcPts val="800"/>
              </a:spcAft>
              <a:buNone/>
            </a:pPr>
            <a:r>
              <a:rPr lang="en-US" sz="1400" dirty="0">
                <a:solidFill>
                  <a:srgbClr val="2A2433"/>
                </a:solidFill>
                <a:latin typeface="Calibri" pitchFamily="34" charset="0"/>
                <a:ea typeface="Calibri" pitchFamily="34" charset="-122"/>
                <a:cs typeface="Calibri" pitchFamily="34" charset="-120"/>
              </a:rPr>
              <a:t>An API key usually says </a:t>
            </a:r>
            <a:r>
              <a:rPr lang="en-US" sz="1400" b="1" dirty="0">
                <a:solidFill>
                  <a:srgbClr val="2A2433"/>
                </a:solidFill>
                <a:latin typeface="Calibri" pitchFamily="34" charset="0"/>
                <a:ea typeface="Calibri" pitchFamily="34" charset="-122"/>
                <a:cs typeface="Calibri" pitchFamily="34" charset="-120"/>
              </a:rPr>
              <a:t>which application</a:t>
            </a:r>
            <a:r>
              <a:rPr lang="en-US" sz="1400" dirty="0">
                <a:solidFill>
                  <a:srgbClr val="2A2433"/>
                </a:solidFill>
                <a:latin typeface="Calibri" pitchFamily="34" charset="0"/>
                <a:ea typeface="Calibri" pitchFamily="34" charset="-122"/>
                <a:cs typeface="Calibri" pitchFamily="34" charset="-120"/>
              </a:rPr>
              <a:t> is calling, not which person.</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Decode the Basic value and you get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alice:Passw0rd!</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Documentation is a map of the attack surface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210312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Every endpoint</a:t>
            </a:r>
            <a:endParaRPr lang="en-US" sz="1500" dirty="0"/>
          </a:p>
        </p:txBody>
      </p:sp>
      <p:sp>
        <p:nvSpPr>
          <p:cNvPr id="10" name="Text 6"/>
          <p:cNvSpPr txBox="1"/>
          <p:nvPr/>
        </p:nvSpPr>
        <p:spPr>
          <a:xfrm>
            <a:off x="621792" y="2359533"/>
            <a:ext cx="2292096" cy="97802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Paths and methods, ready to list as a target set</a:t>
            </a:r>
            <a:endParaRPr lang="en-US" sz="1300" dirty="0"/>
          </a:p>
        </p:txBody>
      </p:sp>
      <p:sp>
        <p:nvSpPr>
          <p:cNvPr id="11" name="Shape 7"/>
          <p:cNvSpPr/>
          <p:nvPr/>
        </p:nvSpPr>
        <p:spPr>
          <a:xfrm>
            <a:off x="3261360" y="1325880"/>
            <a:ext cx="2621280" cy="2103120"/>
          </a:xfrm>
          <a:prstGeom prst="rect">
            <a:avLst/>
          </a:prstGeom>
          <a:solidFill>
            <a:srgbClr val="FFFFFF"/>
          </a:solidFill>
          <a:ln w="9525">
            <a:solidFill>
              <a:srgbClr val="D6CCE6"/>
            </a:solidFill>
          </a:ln>
        </p:spPr>
      </p:sp>
      <p:sp>
        <p:nvSpPr>
          <p:cNvPr id="12" name="Shape 8"/>
          <p:cNvSpPr/>
          <p:nvPr/>
        </p:nvSpPr>
        <p:spPr>
          <a:xfrm>
            <a:off x="342595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40252" y="1604772"/>
            <a:ext cx="228600" cy="228600"/>
          </a:xfrm>
          <a:prstGeom prst="rect">
            <a:avLst/>
          </a:prstGeom>
        </p:spPr>
      </p:pic>
      <p:sp>
        <p:nvSpPr>
          <p:cNvPr id="14" name="Text 9"/>
          <p:cNvSpPr txBox="1"/>
          <p:nvPr/>
        </p:nvSpPr>
        <p:spPr>
          <a:xfrm>
            <a:off x="342595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Every parameter</a:t>
            </a:r>
            <a:endParaRPr lang="en-US" sz="1500" dirty="0"/>
          </a:p>
        </p:txBody>
      </p:sp>
      <p:sp>
        <p:nvSpPr>
          <p:cNvPr id="15" name="Text 10"/>
          <p:cNvSpPr txBox="1"/>
          <p:nvPr/>
        </p:nvSpPr>
        <p:spPr>
          <a:xfrm>
            <a:off x="3425952" y="2359533"/>
            <a:ext cx="2292096" cy="97802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Names and data types, including ones the UI never sends</a:t>
            </a:r>
            <a:endParaRPr lang="en-US" sz="1300" dirty="0"/>
          </a:p>
        </p:txBody>
      </p:sp>
      <p:sp>
        <p:nvSpPr>
          <p:cNvPr id="16" name="Shape 11"/>
          <p:cNvSpPr/>
          <p:nvPr/>
        </p:nvSpPr>
        <p:spPr>
          <a:xfrm>
            <a:off x="6065520" y="1325880"/>
            <a:ext cx="2621280" cy="2103120"/>
          </a:xfrm>
          <a:prstGeom prst="rect">
            <a:avLst/>
          </a:prstGeom>
          <a:solidFill>
            <a:srgbClr val="FFFFFF"/>
          </a:solidFill>
          <a:ln w="9525">
            <a:solidFill>
              <a:srgbClr val="D6CCE6"/>
            </a:solidFill>
          </a:ln>
        </p:spPr>
      </p:sp>
      <p:sp>
        <p:nvSpPr>
          <p:cNvPr id="17" name="Shape 12"/>
          <p:cNvSpPr/>
          <p:nvPr/>
        </p:nvSpPr>
        <p:spPr>
          <a:xfrm>
            <a:off x="6230112" y="1490472"/>
            <a:ext cx="457200" cy="45720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44412" y="1604772"/>
            <a:ext cx="228600" cy="228600"/>
          </a:xfrm>
          <a:prstGeom prst="rect">
            <a:avLst/>
          </a:prstGeom>
        </p:spPr>
      </p:pic>
      <p:sp>
        <p:nvSpPr>
          <p:cNvPr id="19" name="Text 13"/>
          <p:cNvSpPr txBox="1"/>
          <p:nvPr/>
        </p:nvSpPr>
        <p:spPr>
          <a:xfrm>
            <a:off x="623011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Every requirement</a:t>
            </a:r>
            <a:endParaRPr lang="en-US" sz="1500" dirty="0"/>
          </a:p>
        </p:txBody>
      </p:sp>
      <p:sp>
        <p:nvSpPr>
          <p:cNvPr id="20" name="Text 14"/>
          <p:cNvSpPr txBox="1"/>
          <p:nvPr/>
        </p:nvSpPr>
        <p:spPr>
          <a:xfrm>
            <a:off x="6230112" y="2359533"/>
            <a:ext cx="2292096" cy="97802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Which auth scheme or role each operation needs</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OpenAPI and Swagger</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572000" cy="3246120"/>
          </a:xfrm>
          <a:prstGeom prst="rect">
            <a:avLst/>
          </a:prstGeom>
          <a:solidFill>
            <a:srgbClr val="241733"/>
          </a:solidFill>
          <a:ln w="12700">
            <a:solidFill>
              <a:srgbClr val="241733"/>
            </a:solidFill>
            <a:prstDash val="solid"/>
          </a:ln>
        </p:spPr>
      </p:sp>
      <p:sp>
        <p:nvSpPr>
          <p:cNvPr id="7" name="Text 4"/>
          <p:cNvSpPr txBox="1"/>
          <p:nvPr/>
        </p:nvSpPr>
        <p:spPr>
          <a:xfrm>
            <a:off x="640080" y="1371600"/>
            <a:ext cx="420624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MINIMAL OPENAPI FILE</a:t>
            </a:r>
            <a:endParaRPr lang="en-US" sz="1000" dirty="0"/>
          </a:p>
        </p:txBody>
      </p:sp>
      <p:sp>
        <p:nvSpPr>
          <p:cNvPr id="8" name="Text 5"/>
          <p:cNvSpPr txBox="1"/>
          <p:nvPr/>
        </p:nvSpPr>
        <p:spPr>
          <a:xfrm>
            <a:off x="640080" y="1627632"/>
            <a:ext cx="4206240" cy="28072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openapi: 3.0.3</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paths:</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/orders/{orderId}: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get: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parameters:</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 name: orderId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in: path</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schema: { type: integer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security:</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 bearerAuth: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responses:</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"200": { description: The order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"403": { description: Not your order }</a:t>
            </a:r>
            <a:endParaRPr lang="en-US" sz="1000" dirty="0"/>
          </a:p>
        </p:txBody>
      </p:sp>
      <p:sp>
        <p:nvSpPr>
          <p:cNvPr id="9" name="Shape 6"/>
          <p:cNvSpPr/>
          <p:nvPr/>
        </p:nvSpPr>
        <p:spPr>
          <a:xfrm>
            <a:off x="5212080" y="1280160"/>
            <a:ext cx="3474720" cy="990600"/>
          </a:xfrm>
          <a:prstGeom prst="rect">
            <a:avLst/>
          </a:prstGeom>
          <a:solidFill>
            <a:srgbClr val="FFFFFF"/>
          </a:solidFill>
          <a:ln w="9525">
            <a:solidFill>
              <a:srgbClr val="D6CCE6"/>
            </a:solidFill>
          </a:ln>
        </p:spPr>
      </p:sp>
      <p:sp>
        <p:nvSpPr>
          <p:cNvPr id="10" name="Text 7"/>
          <p:cNvSpPr txBox="1"/>
          <p:nvPr/>
        </p:nvSpPr>
        <p:spPr>
          <a:xfrm>
            <a:off x="5376672" y="1417320"/>
            <a:ext cx="314553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OpenAPI</a:t>
            </a:r>
            <a:endParaRPr lang="en-US" sz="1400" dirty="0"/>
          </a:p>
        </p:txBody>
      </p:sp>
      <p:sp>
        <p:nvSpPr>
          <p:cNvPr id="11" name="Text 8"/>
          <p:cNvSpPr txBox="1"/>
          <p:nvPr/>
        </p:nvSpPr>
        <p:spPr>
          <a:xfrm>
            <a:off x="5376672" y="1721866"/>
            <a:ext cx="3145536" cy="457454"/>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The </a:t>
            </a:r>
            <a:r>
              <a:rPr lang="en-US" sz="1200" b="1" dirty="0">
                <a:solidFill>
                  <a:srgbClr val="2A2433"/>
                </a:solidFill>
                <a:latin typeface="Calibri" pitchFamily="34" charset="0"/>
                <a:ea typeface="Calibri" pitchFamily="34" charset="-122"/>
                <a:cs typeface="Calibri" pitchFamily="34" charset="-120"/>
              </a:rPr>
              <a:t>specification</a:t>
            </a:r>
            <a:r>
              <a:rPr lang="en-US" sz="1200" dirty="0">
                <a:solidFill>
                  <a:srgbClr val="2A2433"/>
                </a:solidFill>
                <a:latin typeface="Calibri" pitchFamily="34" charset="0"/>
                <a:ea typeface="Calibri" pitchFamily="34" charset="-122"/>
                <a:cs typeface="Calibri" pitchFamily="34" charset="-120"/>
              </a:rPr>
              <a:t> (YAML or JSON)</a:t>
            </a:r>
            <a:endParaRPr lang="en-US" sz="1200" dirty="0"/>
          </a:p>
        </p:txBody>
      </p:sp>
      <p:sp>
        <p:nvSpPr>
          <p:cNvPr id="12" name="Shape 9"/>
          <p:cNvSpPr/>
          <p:nvPr/>
        </p:nvSpPr>
        <p:spPr>
          <a:xfrm>
            <a:off x="5212080" y="2407920"/>
            <a:ext cx="3474720" cy="990600"/>
          </a:xfrm>
          <a:prstGeom prst="rect">
            <a:avLst/>
          </a:prstGeom>
          <a:solidFill>
            <a:srgbClr val="FFFFFF"/>
          </a:solidFill>
          <a:ln w="9525">
            <a:solidFill>
              <a:srgbClr val="D6CCE6"/>
            </a:solidFill>
          </a:ln>
        </p:spPr>
      </p:sp>
      <p:sp>
        <p:nvSpPr>
          <p:cNvPr id="13" name="Text 10"/>
          <p:cNvSpPr txBox="1"/>
          <p:nvPr/>
        </p:nvSpPr>
        <p:spPr>
          <a:xfrm>
            <a:off x="5376672" y="2545080"/>
            <a:ext cx="314553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Swagger</a:t>
            </a:r>
            <a:endParaRPr lang="en-US" sz="1400" dirty="0"/>
          </a:p>
        </p:txBody>
      </p:sp>
      <p:sp>
        <p:nvSpPr>
          <p:cNvPr id="14" name="Text 11"/>
          <p:cNvSpPr txBox="1"/>
          <p:nvPr/>
        </p:nvSpPr>
        <p:spPr>
          <a:xfrm>
            <a:off x="5376672" y="2849626"/>
            <a:ext cx="3145536" cy="457454"/>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The </a:t>
            </a:r>
            <a:r>
              <a:rPr lang="en-US" sz="1200" b="1" dirty="0">
                <a:solidFill>
                  <a:srgbClr val="2A2433"/>
                </a:solidFill>
                <a:latin typeface="Calibri" pitchFamily="34" charset="0"/>
                <a:ea typeface="Calibri" pitchFamily="34" charset="-122"/>
                <a:cs typeface="Calibri" pitchFamily="34" charset="-120"/>
              </a:rPr>
              <a:t>tooling</a:t>
            </a:r>
            <a:r>
              <a:rPr lang="en-US" sz="1200" dirty="0">
                <a:solidFill>
                  <a:srgbClr val="2A2433"/>
                </a:solidFill>
                <a:latin typeface="Calibri" pitchFamily="34" charset="0"/>
                <a:ea typeface="Calibri" pitchFamily="34" charset="-122"/>
                <a:cs typeface="Calibri" pitchFamily="34" charset="-120"/>
              </a:rPr>
              <a:t> around it (and the old 2.0 spec name)</a:t>
            </a:r>
            <a:endParaRPr lang="en-US" sz="1200" dirty="0"/>
          </a:p>
        </p:txBody>
      </p:sp>
      <p:sp>
        <p:nvSpPr>
          <p:cNvPr id="15" name="Shape 12"/>
          <p:cNvSpPr/>
          <p:nvPr/>
        </p:nvSpPr>
        <p:spPr>
          <a:xfrm>
            <a:off x="5212080" y="3535680"/>
            <a:ext cx="3474720" cy="990600"/>
          </a:xfrm>
          <a:prstGeom prst="rect">
            <a:avLst/>
          </a:prstGeom>
          <a:solidFill>
            <a:srgbClr val="FFFFFF"/>
          </a:solidFill>
          <a:ln w="9525">
            <a:solidFill>
              <a:srgbClr val="D6CCE6"/>
            </a:solidFill>
          </a:ln>
        </p:spPr>
      </p:sp>
      <p:sp>
        <p:nvSpPr>
          <p:cNvPr id="16" name="Text 13"/>
          <p:cNvSpPr txBox="1"/>
          <p:nvPr/>
        </p:nvSpPr>
        <p:spPr>
          <a:xfrm>
            <a:off x="5376672" y="3672840"/>
            <a:ext cx="314553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How to read it</a:t>
            </a:r>
            <a:endParaRPr lang="en-US" sz="1400" dirty="0"/>
          </a:p>
        </p:txBody>
      </p:sp>
      <p:sp>
        <p:nvSpPr>
          <p:cNvPr id="17" name="Text 14"/>
          <p:cNvSpPr txBox="1"/>
          <p:nvPr/>
        </p:nvSpPr>
        <p:spPr>
          <a:xfrm>
            <a:off x="5376672" y="3977386"/>
            <a:ext cx="3145536" cy="457454"/>
          </a:xfrm>
          <a:prstGeom prst="rect">
            <a:avLst/>
          </a:prstGeom>
          <a:noFill/>
        </p:spPr>
        <p:txBody>
          <a:bodyPr wrap="square" lIns="0" tIns="0" rIns="0" bIns="0" rtlCol="0" anchor="t"/>
          <a:lstStyle/>
          <a:p>
            <a:pPr marL="0" indent="0" algn="l">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paths</a:t>
            </a:r>
            <a:r>
              <a:rPr lang="en-US" sz="1200" dirty="0">
                <a:solidFill>
                  <a:srgbClr val="2A2433"/>
                </a:solidFill>
                <a:latin typeface="Calibri" pitchFamily="34" charset="0"/>
                <a:ea typeface="Calibri" pitchFamily="34" charset="-122"/>
                <a:cs typeface="Calibri" pitchFamily="34" charset="-120"/>
              </a:rPr>
              <a:t> &gt; methods &gt; parameters, bodies, security, responses</a:t>
            </a:r>
            <a:endParaRPr lang="en-US" sz="11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Swagger UI and where to find docs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572000" cy="1737360"/>
          </a:xfrm>
          <a:prstGeom prst="rect">
            <a:avLst/>
          </a:prstGeom>
          <a:solidFill>
            <a:srgbClr val="241733"/>
          </a:solidFill>
          <a:ln w="12700">
            <a:solidFill>
              <a:srgbClr val="241733"/>
            </a:solidFill>
            <a:prstDash val="solid"/>
          </a:ln>
        </p:spPr>
      </p:sp>
      <p:sp>
        <p:nvSpPr>
          <p:cNvPr id="7" name="Text 4"/>
          <p:cNvSpPr txBox="1"/>
          <p:nvPr/>
        </p:nvSpPr>
        <p:spPr>
          <a:xfrm>
            <a:off x="640080" y="1371600"/>
            <a:ext cx="420624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COMMON LOCATIONS</a:t>
            </a:r>
            <a:endParaRPr lang="en-US" sz="1000" dirty="0"/>
          </a:p>
        </p:txBody>
      </p:sp>
      <p:sp>
        <p:nvSpPr>
          <p:cNvPr id="8" name="Text 5"/>
          <p:cNvSpPr txBox="1"/>
          <p:nvPr/>
        </p:nvSpPr>
        <p:spPr>
          <a:xfrm>
            <a:off x="640080" y="1627632"/>
            <a:ext cx="4206240" cy="1298448"/>
          </a:xfrm>
          <a:prstGeom prst="rect">
            <a:avLst/>
          </a:prstGeom>
          <a:noFill/>
        </p:spPr>
        <p:txBody>
          <a:bodyPr wrap="square" lIns="0" tIns="0" rIns="0" bIns="0" rtlCol="0" anchor="t"/>
          <a:lstStyle/>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/swagger.json      /openapi.json    /openapi.yaml</a:t>
            </a:r>
            <a:endParaRPr lang="en-US" sz="1100" dirty="0"/>
          </a:p>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/swagger-ui/       /swagger-ui.html /api-docs</a:t>
            </a:r>
            <a:endParaRPr lang="en-US" sz="1100" dirty="0"/>
          </a:p>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/v2/api-docs       /v3/api-docs</a:t>
            </a:r>
            <a:endParaRPr lang="en-US" sz="1100" dirty="0"/>
          </a:p>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/docs              /redoc</a:t>
            </a:r>
            <a:endParaRPr lang="en-US" sz="1100" dirty="0"/>
          </a:p>
        </p:txBody>
      </p:sp>
      <p:sp>
        <p:nvSpPr>
          <p:cNvPr id="9" name="Shape 6"/>
          <p:cNvSpPr/>
          <p:nvPr/>
        </p:nvSpPr>
        <p:spPr>
          <a:xfrm>
            <a:off x="5349240" y="1394587"/>
            <a:ext cx="82296" cy="82296"/>
          </a:xfrm>
          <a:prstGeom prst="rect">
            <a:avLst/>
          </a:prstGeom>
          <a:solidFill>
            <a:srgbClr val="F2705A"/>
          </a:solidFill>
          <a:ln w="12700">
            <a:solidFill>
              <a:srgbClr val="F2705A"/>
            </a:solidFill>
            <a:prstDash val="solid"/>
          </a:ln>
        </p:spPr>
      </p:sp>
      <p:sp>
        <p:nvSpPr>
          <p:cNvPr id="10" name="Text 7"/>
          <p:cNvSpPr txBox="1"/>
          <p:nvPr/>
        </p:nvSpPr>
        <p:spPr>
          <a:xfrm>
            <a:off x="5559552" y="1325880"/>
            <a:ext cx="3127248" cy="430276"/>
          </a:xfrm>
          <a:prstGeom prst="rect">
            <a:avLst/>
          </a:prstGeom>
          <a:noFill/>
        </p:spPr>
        <p:txBody>
          <a:bodyPr wrap="square" lIns="0" tIns="0" rIns="0" bIns="0" rtlCol="0" anchor="t"/>
          <a:lstStyle/>
          <a:p>
            <a:pPr marL="0" indent="0" algn="l">
              <a:buNone/>
            </a:pPr>
            <a:r>
              <a:rPr lang="en-US" sz="1300" b="1" dirty="0">
                <a:solidFill>
                  <a:srgbClr val="2A2433"/>
                </a:solidFill>
                <a:latin typeface="Calibri" pitchFamily="34" charset="0"/>
                <a:ea typeface="Calibri" pitchFamily="34" charset="-122"/>
                <a:cs typeface="Calibri" pitchFamily="34" charset="-120"/>
              </a:rPr>
              <a:t>Swagger UI</a:t>
            </a:r>
            <a:r>
              <a:rPr lang="en-US" sz="1300" dirty="0">
                <a:solidFill>
                  <a:srgbClr val="2A2433"/>
                </a:solidFill>
                <a:latin typeface="Calibri" pitchFamily="34" charset="0"/>
                <a:ea typeface="Calibri" pitchFamily="34" charset="-122"/>
                <a:cs typeface="Calibri" pitchFamily="34" charset="-120"/>
              </a:rPr>
              <a:t>: generated page with </a:t>
            </a:r>
            <a:r>
              <a:rPr lang="en-US" sz="1300" b="1" dirty="0">
                <a:solidFill>
                  <a:srgbClr val="2A2433"/>
                </a:solidFill>
                <a:latin typeface="Calibri" pitchFamily="34" charset="0"/>
                <a:ea typeface="Calibri" pitchFamily="34" charset="-122"/>
                <a:cs typeface="Calibri" pitchFamily="34" charset="-120"/>
              </a:rPr>
              <a:t>Try it out</a:t>
            </a:r>
            <a:endParaRPr lang="en-US" sz="1300" dirty="0"/>
          </a:p>
        </p:txBody>
      </p:sp>
      <p:sp>
        <p:nvSpPr>
          <p:cNvPr id="11" name="Shape 8"/>
          <p:cNvSpPr/>
          <p:nvPr/>
        </p:nvSpPr>
        <p:spPr>
          <a:xfrm>
            <a:off x="5349240" y="1916303"/>
            <a:ext cx="82296" cy="82296"/>
          </a:xfrm>
          <a:prstGeom prst="rect">
            <a:avLst/>
          </a:prstGeom>
          <a:solidFill>
            <a:srgbClr val="F2705A"/>
          </a:solidFill>
          <a:ln w="12700">
            <a:solidFill>
              <a:srgbClr val="F2705A"/>
            </a:solidFill>
            <a:prstDash val="solid"/>
          </a:ln>
        </p:spPr>
      </p:sp>
      <p:sp>
        <p:nvSpPr>
          <p:cNvPr id="12" name="Text 9"/>
          <p:cNvSpPr txBox="1"/>
          <p:nvPr/>
        </p:nvSpPr>
        <p:spPr>
          <a:xfrm>
            <a:off x="5559552" y="1847596"/>
            <a:ext cx="3127248" cy="228854"/>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Often left exposed in production</a:t>
            </a:r>
            <a:endParaRPr lang="en-US" sz="1300" dirty="0"/>
          </a:p>
        </p:txBody>
      </p:sp>
      <p:sp>
        <p:nvSpPr>
          <p:cNvPr id="13" name="Shape 10"/>
          <p:cNvSpPr/>
          <p:nvPr/>
        </p:nvSpPr>
        <p:spPr>
          <a:xfrm>
            <a:off x="5349240" y="2236597"/>
            <a:ext cx="82296" cy="82296"/>
          </a:xfrm>
          <a:prstGeom prst="rect">
            <a:avLst/>
          </a:prstGeom>
          <a:solidFill>
            <a:srgbClr val="F2705A"/>
          </a:solidFill>
          <a:ln w="12700">
            <a:solidFill>
              <a:srgbClr val="F2705A"/>
            </a:solidFill>
            <a:prstDash val="solid"/>
          </a:ln>
        </p:spPr>
      </p:sp>
      <p:sp>
        <p:nvSpPr>
          <p:cNvPr id="14" name="Text 11"/>
          <p:cNvSpPr txBox="1"/>
          <p:nvPr/>
        </p:nvSpPr>
        <p:spPr>
          <a:xfrm>
            <a:off x="5559552" y="2167890"/>
            <a:ext cx="3127248" cy="430276"/>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Also try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a:t>
            </a:r>
            <a:r>
              <a:rPr lang="en-US" sz="1300" dirty="0">
                <a:solidFill>
                  <a:srgbClr val="2A2433"/>
                </a:solidFill>
                <a:latin typeface="Calibri" pitchFamily="34" charset="0"/>
                <a:ea typeface="Calibri" pitchFamily="34" charset="-122"/>
                <a:cs typeface="Calibri" pitchFamily="34" charset="-120"/>
              </a:rPr>
              <a: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/developer</a:t>
            </a:r>
            <a:r>
              <a:rPr lang="en-US" sz="1300" dirty="0">
                <a:solidFill>
                  <a:srgbClr val="2A2433"/>
                </a:solidFill>
                <a:latin typeface="Calibri" pitchFamily="34" charset="0"/>
                <a:ea typeface="Calibri" pitchFamily="34" charset="-122"/>
                <a:cs typeface="Calibri" pitchFamily="34" charset="-120"/>
              </a:rPr>
              <a:t>, the docs portal</a:t>
            </a:r>
            <a:endParaRPr lang="en-US" sz="1300" dirty="0"/>
          </a:p>
        </p:txBody>
      </p:sp>
      <p:sp>
        <p:nvSpPr>
          <p:cNvPr id="15" name="Shape 12"/>
          <p:cNvSpPr/>
          <p:nvPr/>
        </p:nvSpPr>
        <p:spPr>
          <a:xfrm>
            <a:off x="457200" y="3291840"/>
            <a:ext cx="8229600" cy="731520"/>
          </a:xfrm>
          <a:prstGeom prst="rect">
            <a:avLst/>
          </a:prstGeom>
          <a:solidFill>
            <a:srgbClr val="FDEAE5"/>
          </a:solidFill>
          <a:ln w="12700">
            <a:solidFill>
              <a:srgbClr val="FDEAE5"/>
            </a:solidFill>
            <a:prstDash val="solid"/>
          </a:ln>
        </p:spPr>
      </p:sp>
      <p:sp>
        <p:nvSpPr>
          <p:cNvPr id="16" name="Shape 13"/>
          <p:cNvSpPr/>
          <p:nvPr/>
        </p:nvSpPr>
        <p:spPr>
          <a:xfrm>
            <a:off x="640080" y="3429000"/>
            <a:ext cx="457200" cy="457200"/>
          </a:xfrm>
          <a:prstGeom prst="roundRect">
            <a:avLst>
              <a:gd name="adj" fmla="val 24000"/>
            </a:avLst>
          </a:prstGeom>
          <a:solidFill>
            <a:srgbClr val="F2705A"/>
          </a:solidFill>
          <a:ln w="12700">
            <a:solidFill>
              <a:srgbClr val="F2705A"/>
            </a:solidFill>
            <a:prstDash val="solid"/>
          </a:ln>
        </p:spPr>
      </p:sp>
      <p:pic>
        <p:nvPicPr>
          <p:cNvPr id="17" name="Image 0" descr="preencoded.png"/>
          <p:cNvPicPr>
            <a:picLocks noChangeAspect="1"/>
          </p:cNvPicPr>
          <p:nvPr/>
        </p:nvPicPr>
        <p:blipFill>
          <a:blip r:embed="rId1"/>
          <a:stretch>
            <a:fillRect/>
          </a:stretch>
        </p:blipFill>
        <p:spPr>
          <a:xfrm>
            <a:off x="754380" y="3543300"/>
            <a:ext cx="228600" cy="228600"/>
          </a:xfrm>
          <a:prstGeom prst="rect">
            <a:avLst/>
          </a:prstGeom>
        </p:spPr>
      </p:pic>
      <p:sp>
        <p:nvSpPr>
          <p:cNvPr id="18" name="Text 14"/>
          <p:cNvSpPr txBox="1"/>
          <p:nvPr/>
        </p:nvSpPr>
        <p:spPr>
          <a:xfrm>
            <a:off x="1280160" y="3291840"/>
            <a:ext cx="7223760" cy="731520"/>
          </a:xfrm>
          <a:prstGeom prst="rect">
            <a:avLst/>
          </a:prstGeom>
          <a:noFill/>
        </p:spPr>
        <p:txBody>
          <a:bodyPr wrap="square" lIns="0" tIns="0" rIns="0" bIns="0" rtlCol="0" anchor="ctr"/>
          <a:lstStyle/>
          <a:p>
            <a:pPr marL="0" indent="0" algn="l">
              <a:buNone/>
            </a:pPr>
            <a:r>
              <a:rPr lang="en-US" sz="1400" b="1" dirty="0">
                <a:solidFill>
                  <a:srgbClr val="2A2433"/>
                </a:solidFill>
                <a:latin typeface="Calibri" pitchFamily="34" charset="0"/>
                <a:ea typeface="Calibri" pitchFamily="34" charset="-122"/>
                <a:cs typeface="Calibri" pitchFamily="34" charset="-120"/>
              </a:rPr>
              <a:t>Walk up the path.</a:t>
            </a:r>
            <a:r>
              <a:rPr lang="en-US" sz="1400" dirty="0">
                <a:solidFill>
                  <a:srgbClr val="2A2433"/>
                </a:solidFill>
                <a:latin typeface="Calibri" pitchFamily="34" charset="0"/>
                <a:ea typeface="Calibri" pitchFamily="34" charset="-122"/>
                <a:cs typeface="Calibri" pitchFamily="34" charset="-120"/>
              </a:rPr>
              <a:t> If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/api/swagger/v1/users/123</a:t>
            </a:r>
            <a:r>
              <a:rPr lang="en-US" sz="1400" dirty="0">
                <a:solidFill>
                  <a:srgbClr val="2A2433"/>
                </a:solidFill>
                <a:latin typeface="Calibri" pitchFamily="34" charset="0"/>
                <a:ea typeface="Calibri" pitchFamily="34" charset="-122"/>
                <a:cs typeface="Calibri" pitchFamily="34" charset="-120"/>
              </a:rPr>
              <a:t> is valid, try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/api/swagger/v1</a:t>
            </a:r>
            <a:r>
              <a:rPr lang="en-US" sz="1400" dirty="0">
                <a:solidFill>
                  <a:srgbClr val="2A2433"/>
                </a:solidFill>
                <a:latin typeface="Calibri" pitchFamily="34" charset="0"/>
                <a:ea typeface="Calibri" pitchFamily="34" charset="-122"/>
                <a:cs typeface="Calibri" pitchFamily="34" charset="-120"/>
              </a:rPr>
              <a:t> and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/api/swagger</a:t>
            </a:r>
            <a:r>
              <a:rPr lang="en-US" sz="1400" dirty="0">
                <a:solidFill>
                  <a:srgbClr val="2A2433"/>
                </a:solidFill>
                <a:latin typeface="Calibri" pitchFamily="34" charset="0"/>
                <a:ea typeface="Calibri" pitchFamily="34" charset="-122"/>
                <a:cs typeface="Calibri" pitchFamily="34" charset="-120"/>
              </a:rPr>
              <a:t>.</a:t>
            </a:r>
            <a:endParaRPr lang="en-US" sz="1400" dirty="0"/>
          </a:p>
        </p:txBody>
      </p:sp>
      <p:sp>
        <p:nvSpPr>
          <p:cNvPr id="19" name="Text 15"/>
          <p:cNvSpPr txBox="1"/>
          <p:nvPr/>
        </p:nvSpPr>
        <p:spPr>
          <a:xfrm>
            <a:off x="457200" y="4206240"/>
            <a:ext cx="8229600" cy="365760"/>
          </a:xfrm>
          <a:prstGeom prst="rect">
            <a:avLst/>
          </a:prstGeom>
          <a:noFill/>
        </p:spPr>
        <p:txBody>
          <a:bodyPr wrap="square" lIns="0" tIns="0" rIns="0" bIns="0" rtlCol="0" anchor="t"/>
          <a:lstStyle/>
          <a:p>
            <a:pPr marL="0" indent="0" algn="l">
              <a:buNone/>
            </a:pPr>
            <a:r>
              <a:rPr lang="en-US" sz="1300" dirty="0">
                <a:solidFill>
                  <a:srgbClr val="655C73"/>
                </a:solidFill>
                <a:latin typeface="Calibri" pitchFamily="34" charset="0"/>
                <a:ea typeface="Calibri" pitchFamily="34" charset="-122"/>
                <a:cs typeface="Calibri" pitchFamily="34" charset="-120"/>
              </a:rPr>
              <a:t>Docs can be outdated, incomplete or wrong. Hidden "shadow" endpoints often are not listed.</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Postman collections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237744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Environments</a:t>
            </a:r>
            <a:endParaRPr lang="en-US" sz="1500" dirty="0"/>
          </a:p>
        </p:txBody>
      </p:sp>
      <p:sp>
        <p:nvSpPr>
          <p:cNvPr id="10" name="Text 6"/>
          <p:cNvSpPr txBox="1"/>
          <p:nvPr/>
        </p:nvSpPr>
        <p:spPr>
          <a:xfrm>
            <a:off x="621792" y="2359533"/>
            <a:ext cx="2292096" cy="125234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Variables like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{{baseUrl}}</a:t>
            </a:r>
            <a:r>
              <a:rPr lang="en-US" sz="1300" dirty="0">
                <a:solidFill>
                  <a:srgbClr val="2A2433"/>
                </a:solidFill>
                <a:latin typeface="Calibri" pitchFamily="34" charset="0"/>
                <a:ea typeface="Calibri" pitchFamily="34" charset="-122"/>
                <a:cs typeface="Calibri" pitchFamily="34" charset="-120"/>
              </a:rPr>
              <a:t> and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{{token}}</a:t>
            </a:r>
            <a:r>
              <a:rPr lang="en-US" sz="1300" dirty="0">
                <a:solidFill>
                  <a:srgbClr val="2A2433"/>
                </a:solidFill>
                <a:latin typeface="Calibri" pitchFamily="34" charset="0"/>
                <a:ea typeface="Calibri" pitchFamily="34" charset="-122"/>
                <a:cs typeface="Calibri" pitchFamily="34" charset="-120"/>
              </a:rPr>
              <a:t> switch targets and credentials fast</a:t>
            </a:r>
            <a:endParaRPr lang="en-US" sz="1300" dirty="0"/>
          </a:p>
        </p:txBody>
      </p:sp>
      <p:sp>
        <p:nvSpPr>
          <p:cNvPr id="11" name="Shape 7"/>
          <p:cNvSpPr/>
          <p:nvPr/>
        </p:nvSpPr>
        <p:spPr>
          <a:xfrm>
            <a:off x="3261360" y="1325880"/>
            <a:ext cx="2621280" cy="2377440"/>
          </a:xfrm>
          <a:prstGeom prst="rect">
            <a:avLst/>
          </a:prstGeom>
          <a:solidFill>
            <a:srgbClr val="FFFFFF"/>
          </a:solidFill>
          <a:ln w="9525">
            <a:solidFill>
              <a:srgbClr val="D6CCE6"/>
            </a:solidFill>
          </a:ln>
        </p:spPr>
      </p:sp>
      <p:sp>
        <p:nvSpPr>
          <p:cNvPr id="12" name="Shape 8"/>
          <p:cNvSpPr/>
          <p:nvPr/>
        </p:nvSpPr>
        <p:spPr>
          <a:xfrm>
            <a:off x="342595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40252" y="1604772"/>
            <a:ext cx="228600" cy="228600"/>
          </a:xfrm>
          <a:prstGeom prst="rect">
            <a:avLst/>
          </a:prstGeom>
        </p:spPr>
      </p:pic>
      <p:sp>
        <p:nvSpPr>
          <p:cNvPr id="14" name="Text 9"/>
          <p:cNvSpPr txBox="1"/>
          <p:nvPr/>
        </p:nvSpPr>
        <p:spPr>
          <a:xfrm>
            <a:off x="342595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Scripts and tests</a:t>
            </a:r>
            <a:endParaRPr lang="en-US" sz="1500" dirty="0"/>
          </a:p>
        </p:txBody>
      </p:sp>
      <p:sp>
        <p:nvSpPr>
          <p:cNvPr id="15" name="Text 10"/>
          <p:cNvSpPr txBox="1"/>
          <p:nvPr/>
        </p:nvSpPr>
        <p:spPr>
          <a:xfrm>
            <a:off x="3425952" y="2359533"/>
            <a:ext cx="2292096" cy="125234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JavaScript to automate steps, such as fetching a token before each call</a:t>
            </a:r>
            <a:endParaRPr lang="en-US" sz="1300" dirty="0"/>
          </a:p>
        </p:txBody>
      </p:sp>
      <p:sp>
        <p:nvSpPr>
          <p:cNvPr id="16" name="Shape 11"/>
          <p:cNvSpPr/>
          <p:nvPr/>
        </p:nvSpPr>
        <p:spPr>
          <a:xfrm>
            <a:off x="6065520" y="1325880"/>
            <a:ext cx="2621280" cy="2377440"/>
          </a:xfrm>
          <a:prstGeom prst="rect">
            <a:avLst/>
          </a:prstGeom>
          <a:solidFill>
            <a:srgbClr val="FFFFFF"/>
          </a:solidFill>
          <a:ln w="9525">
            <a:solidFill>
              <a:srgbClr val="D6CCE6"/>
            </a:solidFill>
          </a:ln>
        </p:spPr>
      </p:sp>
      <p:sp>
        <p:nvSpPr>
          <p:cNvPr id="17" name="Shape 12"/>
          <p:cNvSpPr/>
          <p:nvPr/>
        </p:nvSpPr>
        <p:spPr>
          <a:xfrm>
            <a:off x="6230112" y="1490472"/>
            <a:ext cx="457200" cy="45720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44412" y="1604772"/>
            <a:ext cx="228600" cy="228600"/>
          </a:xfrm>
          <a:prstGeom prst="rect">
            <a:avLst/>
          </a:prstGeom>
        </p:spPr>
      </p:pic>
      <p:sp>
        <p:nvSpPr>
          <p:cNvPr id="19" name="Text 13"/>
          <p:cNvSpPr txBox="1"/>
          <p:nvPr/>
        </p:nvSpPr>
        <p:spPr>
          <a:xfrm>
            <a:off x="6230112" y="203911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Import</a:t>
            </a:r>
            <a:endParaRPr lang="en-US" sz="1500" dirty="0"/>
          </a:p>
        </p:txBody>
      </p:sp>
      <p:sp>
        <p:nvSpPr>
          <p:cNvPr id="20" name="Text 14"/>
          <p:cNvSpPr txBox="1"/>
          <p:nvPr/>
        </p:nvSpPr>
        <p:spPr>
          <a:xfrm>
            <a:off x="6230112" y="2359533"/>
            <a:ext cx="2292096" cy="125234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Turn an OpenAPI file into a collection instantly</a:t>
            </a:r>
            <a:endParaRPr lang="en-US" sz="1300" dirty="0"/>
          </a:p>
        </p:txBody>
      </p:sp>
      <p:sp>
        <p:nvSpPr>
          <p:cNvPr id="21" name="Shape 15"/>
          <p:cNvSpPr/>
          <p:nvPr/>
        </p:nvSpPr>
        <p:spPr>
          <a:xfrm>
            <a:off x="457200" y="3931920"/>
            <a:ext cx="8229600" cy="640080"/>
          </a:xfrm>
          <a:prstGeom prst="rect">
            <a:avLst/>
          </a:prstGeom>
          <a:solidFill>
            <a:srgbClr val="FDEAE5"/>
          </a:solidFill>
          <a:ln w="12700">
            <a:solidFill>
              <a:srgbClr val="FDEAE5"/>
            </a:solidFill>
            <a:prstDash val="solid"/>
          </a:ln>
        </p:spPr>
      </p:sp>
      <p:sp>
        <p:nvSpPr>
          <p:cNvPr id="22" name="Shape 16"/>
          <p:cNvSpPr/>
          <p:nvPr/>
        </p:nvSpPr>
        <p:spPr>
          <a:xfrm>
            <a:off x="640080" y="4023360"/>
            <a:ext cx="457200" cy="457200"/>
          </a:xfrm>
          <a:prstGeom prst="roundRect">
            <a:avLst>
              <a:gd name="adj" fmla="val 24000"/>
            </a:avLst>
          </a:prstGeom>
          <a:solidFill>
            <a:srgbClr val="F2705A"/>
          </a:solidFill>
          <a:ln w="12700">
            <a:solidFill>
              <a:srgbClr val="F2705A"/>
            </a:solidFill>
            <a:prstDash val="solid"/>
          </a:ln>
        </p:spPr>
      </p:sp>
      <p:pic>
        <p:nvPicPr>
          <p:cNvPr id="23" name="Image 3" descr="preencoded.png"/>
          <p:cNvPicPr>
            <a:picLocks noChangeAspect="1"/>
          </p:cNvPicPr>
          <p:nvPr/>
        </p:nvPicPr>
        <p:blipFill>
          <a:blip r:embed="rId4"/>
          <a:stretch>
            <a:fillRect/>
          </a:stretch>
        </p:blipFill>
        <p:spPr>
          <a:xfrm>
            <a:off x="754380" y="4137660"/>
            <a:ext cx="228600" cy="228600"/>
          </a:xfrm>
          <a:prstGeom prst="rect">
            <a:avLst/>
          </a:prstGeom>
        </p:spPr>
      </p:pic>
      <p:sp>
        <p:nvSpPr>
          <p:cNvPr id="24" name="Text 17"/>
          <p:cNvSpPr txBox="1"/>
          <p:nvPr/>
        </p:nvSpPr>
        <p:spPr>
          <a:xfrm>
            <a:off x="1280160" y="3931920"/>
            <a:ext cx="7223760" cy="640080"/>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A saved, replayable set of requests: </a:t>
            </a:r>
            <a:r>
              <a:rPr lang="en-US" sz="1400" b="1" dirty="0">
                <a:solidFill>
                  <a:srgbClr val="2A2433"/>
                </a:solidFill>
                <a:latin typeface="Calibri" pitchFamily="34" charset="0"/>
                <a:ea typeface="Calibri" pitchFamily="34" charset="-122"/>
                <a:cs typeface="Calibri" pitchFamily="34" charset="-120"/>
              </a:rPr>
              <a:t>share it, proxy it through Burp, extend it.</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1.7 · DOCUMENTATION AND SPECS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How testers use a spec</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Text 3"/>
          <p:cNvSpPr txBox="1"/>
          <p:nvPr/>
        </p:nvSpPr>
        <p:spPr>
          <a:xfrm>
            <a:off x="457200" y="1325880"/>
            <a:ext cx="310896" cy="259842"/>
          </a:xfrm>
          <a:prstGeom prst="rect">
            <a:avLst/>
          </a:prstGeom>
          <a:noFill/>
        </p:spPr>
        <p:txBody>
          <a:bodyPr wrap="square" lIns="0" tIns="0" rIns="0" bIns="0" rtlCol="0" anchor="t"/>
          <a:lstStyle/>
          <a:p>
            <a:pPr marL="0" indent="0">
              <a:buNone/>
            </a:pPr>
            <a:r>
              <a:rPr lang="en-US" sz="1500" b="1" dirty="0">
                <a:solidFill>
                  <a:srgbClr val="6B35B5"/>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804672" y="1325880"/>
            <a:ext cx="7882128" cy="259842"/>
          </a:xfrm>
          <a:prstGeom prst="rect">
            <a:avLst/>
          </a:prstGeom>
          <a:noFill/>
        </p:spPr>
        <p:txBody>
          <a:bodyPr wrap="square" lIns="0" tIns="0" rIns="0" bIns="0" rtlCol="0" anchor="t"/>
          <a:lstStyle/>
          <a:p>
            <a:pPr marL="0" indent="0" algn="l">
              <a:buNone/>
            </a:pPr>
            <a:r>
              <a:rPr lang="en-US" sz="1500" b="1" dirty="0">
                <a:solidFill>
                  <a:srgbClr val="2A2433"/>
                </a:solidFill>
                <a:latin typeface="Calibri" pitchFamily="34" charset="0"/>
                <a:ea typeface="Calibri" pitchFamily="34" charset="-122"/>
                <a:cs typeface="Calibri" pitchFamily="34" charset="-120"/>
              </a:rPr>
              <a:t>Enumerate</a:t>
            </a:r>
            <a:r>
              <a:rPr lang="en-US" sz="1500" dirty="0">
                <a:solidFill>
                  <a:srgbClr val="2A2433"/>
                </a:solidFill>
                <a:latin typeface="Calibri" pitchFamily="34" charset="0"/>
                <a:ea typeface="Calibri" pitchFamily="34" charset="-122"/>
                <a:cs typeface="Calibri" pitchFamily="34" charset="-120"/>
              </a:rPr>
              <a:t> endpoints and methods to build your target list</a:t>
            </a:r>
            <a:endParaRPr lang="en-US" sz="1500" dirty="0"/>
          </a:p>
        </p:txBody>
      </p:sp>
      <p:sp>
        <p:nvSpPr>
          <p:cNvPr id="8" name="Text 5"/>
          <p:cNvSpPr txBox="1"/>
          <p:nvPr/>
        </p:nvSpPr>
        <p:spPr>
          <a:xfrm>
            <a:off x="457200" y="1713738"/>
            <a:ext cx="310896" cy="259842"/>
          </a:xfrm>
          <a:prstGeom prst="rect">
            <a:avLst/>
          </a:prstGeom>
          <a:noFill/>
        </p:spPr>
        <p:txBody>
          <a:bodyPr wrap="square" lIns="0" tIns="0" rIns="0" bIns="0" rtlCol="0" anchor="t"/>
          <a:lstStyle/>
          <a:p>
            <a:pPr marL="0" indent="0">
              <a:buNone/>
            </a:pPr>
            <a:r>
              <a:rPr lang="en-US" sz="1500" b="1" dirty="0">
                <a:solidFill>
                  <a:srgbClr val="6B35B5"/>
                </a:solidFill>
                <a:latin typeface="Calibri" pitchFamily="34" charset="0"/>
                <a:ea typeface="Calibri" pitchFamily="34" charset="-122"/>
                <a:cs typeface="Calibri" pitchFamily="34" charset="-120"/>
              </a:rPr>
              <a:t>2.</a:t>
            </a:r>
            <a:endParaRPr lang="en-US" sz="1500" dirty="0"/>
          </a:p>
        </p:txBody>
      </p:sp>
      <p:sp>
        <p:nvSpPr>
          <p:cNvPr id="9" name="Text 6"/>
          <p:cNvSpPr txBox="1"/>
          <p:nvPr/>
        </p:nvSpPr>
        <p:spPr>
          <a:xfrm>
            <a:off x="804672" y="1713738"/>
            <a:ext cx="7882128" cy="259842"/>
          </a:xfrm>
          <a:prstGeom prst="rect">
            <a:avLst/>
          </a:prstGeom>
          <a:noFill/>
        </p:spPr>
        <p:txBody>
          <a:bodyPr wrap="square" lIns="0" tIns="0" rIns="0" bIns="0" rtlCol="0" anchor="t"/>
          <a:lstStyle/>
          <a:p>
            <a:pPr marL="0" indent="0" algn="l">
              <a:buNone/>
            </a:pPr>
            <a:r>
              <a:rPr lang="en-US" sz="1500" b="1" dirty="0">
                <a:solidFill>
                  <a:srgbClr val="2A2433"/>
                </a:solidFill>
                <a:latin typeface="Calibri" pitchFamily="34" charset="0"/>
                <a:ea typeface="Calibri" pitchFamily="34" charset="-122"/>
                <a:cs typeface="Calibri" pitchFamily="34" charset="-120"/>
              </a:rPr>
              <a:t>Find parameters and data models</a:t>
            </a:r>
            <a:r>
              <a:rPr lang="en-US" sz="1500" dirty="0">
                <a:solidFill>
                  <a:srgbClr val="2A2433"/>
                </a:solidFill>
                <a:latin typeface="Calibri" pitchFamily="34" charset="0"/>
                <a:ea typeface="Calibri" pitchFamily="34" charset="-122"/>
                <a:cs typeface="Calibri" pitchFamily="34" charset="-120"/>
              </a:rPr>
              <a:t>, including optional ones the UI never sends</a:t>
            </a:r>
            <a:endParaRPr lang="en-US" sz="1500" dirty="0"/>
          </a:p>
        </p:txBody>
      </p:sp>
      <p:sp>
        <p:nvSpPr>
          <p:cNvPr id="10" name="Text 7"/>
          <p:cNvSpPr txBox="1"/>
          <p:nvPr/>
        </p:nvSpPr>
        <p:spPr>
          <a:xfrm>
            <a:off x="457200" y="2101596"/>
            <a:ext cx="310896" cy="259842"/>
          </a:xfrm>
          <a:prstGeom prst="rect">
            <a:avLst/>
          </a:prstGeom>
          <a:noFill/>
        </p:spPr>
        <p:txBody>
          <a:bodyPr wrap="square" lIns="0" tIns="0" rIns="0" bIns="0" rtlCol="0" anchor="t"/>
          <a:lstStyle/>
          <a:p>
            <a:pPr marL="0" indent="0">
              <a:buNone/>
            </a:pPr>
            <a:r>
              <a:rPr lang="en-US" sz="1500" b="1" dirty="0">
                <a:solidFill>
                  <a:srgbClr val="6B35B5"/>
                </a:solidFill>
                <a:latin typeface="Calibri" pitchFamily="34" charset="0"/>
                <a:ea typeface="Calibri" pitchFamily="34" charset="-122"/>
                <a:cs typeface="Calibri" pitchFamily="34" charset="-120"/>
              </a:rPr>
              <a:t>3.</a:t>
            </a:r>
            <a:endParaRPr lang="en-US" sz="1500" dirty="0"/>
          </a:p>
        </p:txBody>
      </p:sp>
      <p:sp>
        <p:nvSpPr>
          <p:cNvPr id="11" name="Text 8"/>
          <p:cNvSpPr txBox="1"/>
          <p:nvPr/>
        </p:nvSpPr>
        <p:spPr>
          <a:xfrm>
            <a:off x="804672" y="2101596"/>
            <a:ext cx="7882128" cy="259842"/>
          </a:xfrm>
          <a:prstGeom prst="rect">
            <a:avLst/>
          </a:prstGeom>
          <a:noFill/>
        </p:spPr>
        <p:txBody>
          <a:bodyPr wrap="square" lIns="0" tIns="0" rIns="0" bIns="0" rtlCol="0" anchor="t"/>
          <a:lstStyle/>
          <a:p>
            <a:pPr marL="0" indent="0" algn="l">
              <a:buNone/>
            </a:pPr>
            <a:r>
              <a:rPr lang="en-US" sz="1500" b="1" dirty="0">
                <a:solidFill>
                  <a:srgbClr val="2A2433"/>
                </a:solidFill>
                <a:latin typeface="Calibri" pitchFamily="34" charset="0"/>
                <a:ea typeface="Calibri" pitchFamily="34" charset="-122"/>
                <a:cs typeface="Calibri" pitchFamily="34" charset="-120"/>
              </a:rPr>
              <a:t>Understand roles and auth schemes</a:t>
            </a:r>
            <a:r>
              <a:rPr lang="en-US" sz="1500" dirty="0">
                <a:solidFill>
                  <a:srgbClr val="2A2433"/>
                </a:solidFill>
                <a:latin typeface="Calibri" pitchFamily="34" charset="0"/>
                <a:ea typeface="Calibri" pitchFamily="34" charset="-122"/>
                <a:cs typeface="Calibri" pitchFamily="34" charset="-120"/>
              </a:rPr>
              <a:t>: which endpoints need which scopes?</a:t>
            </a:r>
            <a:endParaRPr lang="en-US" sz="1500" dirty="0"/>
          </a:p>
        </p:txBody>
      </p:sp>
      <p:sp>
        <p:nvSpPr>
          <p:cNvPr id="12" name="Text 9"/>
          <p:cNvSpPr txBox="1"/>
          <p:nvPr/>
        </p:nvSpPr>
        <p:spPr>
          <a:xfrm>
            <a:off x="457200" y="2489454"/>
            <a:ext cx="310896" cy="259842"/>
          </a:xfrm>
          <a:prstGeom prst="rect">
            <a:avLst/>
          </a:prstGeom>
          <a:noFill/>
        </p:spPr>
        <p:txBody>
          <a:bodyPr wrap="square" lIns="0" tIns="0" rIns="0" bIns="0" rtlCol="0" anchor="t"/>
          <a:lstStyle/>
          <a:p>
            <a:pPr marL="0" indent="0">
              <a:buNone/>
            </a:pPr>
            <a:r>
              <a:rPr lang="en-US" sz="1500" b="1" dirty="0">
                <a:solidFill>
                  <a:srgbClr val="6B35B5"/>
                </a:solidFill>
                <a:latin typeface="Calibri" pitchFamily="34" charset="0"/>
                <a:ea typeface="Calibri" pitchFamily="34" charset="-122"/>
                <a:cs typeface="Calibri" pitchFamily="34" charset="-120"/>
              </a:rPr>
              <a:t>4.</a:t>
            </a:r>
            <a:endParaRPr lang="en-US" sz="1500" dirty="0"/>
          </a:p>
        </p:txBody>
      </p:sp>
      <p:sp>
        <p:nvSpPr>
          <p:cNvPr id="13" name="Text 10"/>
          <p:cNvSpPr txBox="1"/>
          <p:nvPr/>
        </p:nvSpPr>
        <p:spPr>
          <a:xfrm>
            <a:off x="804672" y="2489454"/>
            <a:ext cx="7882128" cy="259842"/>
          </a:xfrm>
          <a:prstGeom prst="rect">
            <a:avLst/>
          </a:prstGeom>
          <a:noFill/>
        </p:spPr>
        <p:txBody>
          <a:bodyPr wrap="square" lIns="0" tIns="0" rIns="0" bIns="0" rtlCol="0" anchor="t"/>
          <a:lstStyle/>
          <a:p>
            <a:pPr marL="0" indent="0" algn="l">
              <a:buNone/>
            </a:pPr>
            <a:r>
              <a:rPr lang="en-US" sz="1500" b="1" dirty="0">
                <a:solidFill>
                  <a:srgbClr val="2A2433"/>
                </a:solidFill>
                <a:latin typeface="Calibri" pitchFamily="34" charset="0"/>
                <a:ea typeface="Calibri" pitchFamily="34" charset="-122"/>
                <a:cs typeface="Calibri" pitchFamily="34" charset="-120"/>
              </a:rPr>
              <a:t>Import into Postman or Burp</a:t>
            </a:r>
            <a:r>
              <a:rPr lang="en-US" sz="1500" dirty="0">
                <a:solidFill>
                  <a:srgbClr val="2A2433"/>
                </a:solidFill>
                <a:latin typeface="Calibri" pitchFamily="34" charset="0"/>
                <a:ea typeface="Calibri" pitchFamily="34" charset="-122"/>
                <a:cs typeface="Calibri" pitchFamily="34" charset="-120"/>
              </a:rPr>
              <a:t> and drive testing from there</a:t>
            </a:r>
            <a:endParaRPr lang="en-US" sz="1500" dirty="0"/>
          </a:p>
        </p:txBody>
      </p:sp>
      <p:sp>
        <p:nvSpPr>
          <p:cNvPr id="14" name="Text 11"/>
          <p:cNvSpPr txBox="1"/>
          <p:nvPr/>
        </p:nvSpPr>
        <p:spPr>
          <a:xfrm>
            <a:off x="457200" y="2877312"/>
            <a:ext cx="310896" cy="259842"/>
          </a:xfrm>
          <a:prstGeom prst="rect">
            <a:avLst/>
          </a:prstGeom>
          <a:noFill/>
        </p:spPr>
        <p:txBody>
          <a:bodyPr wrap="square" lIns="0" tIns="0" rIns="0" bIns="0" rtlCol="0" anchor="t"/>
          <a:lstStyle/>
          <a:p>
            <a:pPr marL="0" indent="0">
              <a:buNone/>
            </a:pPr>
            <a:r>
              <a:rPr lang="en-US" sz="1500" b="1" dirty="0">
                <a:solidFill>
                  <a:srgbClr val="6B35B5"/>
                </a:solidFill>
                <a:latin typeface="Calibri" pitchFamily="34" charset="0"/>
                <a:ea typeface="Calibri" pitchFamily="34" charset="-122"/>
                <a:cs typeface="Calibri" pitchFamily="34" charset="-120"/>
              </a:rPr>
              <a:t>5.</a:t>
            </a:r>
            <a:endParaRPr lang="en-US" sz="1500" dirty="0"/>
          </a:p>
        </p:txBody>
      </p:sp>
      <p:sp>
        <p:nvSpPr>
          <p:cNvPr id="15" name="Text 12"/>
          <p:cNvSpPr txBox="1"/>
          <p:nvPr/>
        </p:nvSpPr>
        <p:spPr>
          <a:xfrm>
            <a:off x="804672" y="2877312"/>
            <a:ext cx="7882128" cy="492252"/>
          </a:xfrm>
          <a:prstGeom prst="rect">
            <a:avLst/>
          </a:prstGeom>
          <a:noFill/>
        </p:spPr>
        <p:txBody>
          <a:bodyPr wrap="square" lIns="0" tIns="0" rIns="0" bIns="0" rtlCol="0" anchor="t"/>
          <a:lstStyle/>
          <a:p>
            <a:pPr marL="0" indent="0" algn="l">
              <a:buNone/>
            </a:pPr>
            <a:r>
              <a:rPr lang="en-US" sz="1500" b="1" dirty="0">
                <a:solidFill>
                  <a:srgbClr val="2A2433"/>
                </a:solidFill>
                <a:latin typeface="Calibri" pitchFamily="34" charset="0"/>
                <a:ea typeface="Calibri" pitchFamily="34" charset="-122"/>
                <a:cs typeface="Calibri" pitchFamily="34" charset="-120"/>
              </a:rPr>
              <a:t>Compare spec vs reality</a:t>
            </a:r>
            <a:r>
              <a:rPr lang="en-US" sz="1500" dirty="0">
                <a:solidFill>
                  <a:srgbClr val="2A2433"/>
                </a:solidFill>
                <a:latin typeface="Calibri" pitchFamily="34" charset="0"/>
                <a:ea typeface="Calibri" pitchFamily="34" charset="-122"/>
                <a:cs typeface="Calibri" pitchFamily="34" charset="-120"/>
              </a:rPr>
              <a:t>: undocumented endpoints, extra methods, auth claimed but not enforced</a:t>
            </a:r>
            <a:endParaRPr lang="en-US" sz="1500" dirty="0"/>
          </a:p>
        </p:txBody>
      </p:sp>
      <p:sp>
        <p:nvSpPr>
          <p:cNvPr id="16" name="Shape 13"/>
          <p:cNvSpPr/>
          <p:nvPr/>
        </p:nvSpPr>
        <p:spPr>
          <a:xfrm>
            <a:off x="457200" y="3931920"/>
            <a:ext cx="8229600" cy="640080"/>
          </a:xfrm>
          <a:prstGeom prst="rect">
            <a:avLst/>
          </a:prstGeom>
          <a:solidFill>
            <a:srgbClr val="FDEAE5"/>
          </a:solidFill>
          <a:ln w="12700">
            <a:solidFill>
              <a:srgbClr val="FDEAE5"/>
            </a:solidFill>
            <a:prstDash val="solid"/>
          </a:ln>
        </p:spPr>
      </p:sp>
      <p:sp>
        <p:nvSpPr>
          <p:cNvPr id="17" name="Shape 14"/>
          <p:cNvSpPr/>
          <p:nvPr/>
        </p:nvSpPr>
        <p:spPr>
          <a:xfrm>
            <a:off x="640080" y="4023360"/>
            <a:ext cx="457200" cy="457200"/>
          </a:xfrm>
          <a:prstGeom prst="roundRect">
            <a:avLst>
              <a:gd name="adj" fmla="val 24000"/>
            </a:avLst>
          </a:prstGeom>
          <a:solidFill>
            <a:srgbClr val="F2705A"/>
          </a:solidFill>
          <a:ln w="12700">
            <a:solidFill>
              <a:srgbClr val="F2705A"/>
            </a:solidFill>
            <a:prstDash val="solid"/>
          </a:ln>
        </p:spPr>
      </p:sp>
      <p:pic>
        <p:nvPicPr>
          <p:cNvPr id="18" name="Image 0" descr="preencoded.png"/>
          <p:cNvPicPr>
            <a:picLocks noChangeAspect="1"/>
          </p:cNvPicPr>
          <p:nvPr/>
        </p:nvPicPr>
        <p:blipFill>
          <a:blip r:embed="rId1"/>
          <a:stretch>
            <a:fillRect/>
          </a:stretch>
        </p:blipFill>
        <p:spPr>
          <a:xfrm>
            <a:off x="754380" y="4137660"/>
            <a:ext cx="228600" cy="228600"/>
          </a:xfrm>
          <a:prstGeom prst="rect">
            <a:avLst/>
          </a:prstGeom>
        </p:spPr>
      </p:pic>
      <p:sp>
        <p:nvSpPr>
          <p:cNvPr id="19" name="Text 15"/>
          <p:cNvSpPr txBox="1"/>
          <p:nvPr/>
        </p:nvSpPr>
        <p:spPr>
          <a:xfrm>
            <a:off x="1280160" y="3931920"/>
            <a:ext cx="7223760" cy="640080"/>
          </a:xfrm>
          <a:prstGeom prst="rect">
            <a:avLst/>
          </a:prstGeom>
          <a:noFill/>
        </p:spPr>
        <p:txBody>
          <a:bodyPr wrap="square" lIns="0" tIns="0" rIns="0" bIns="0" rtlCol="0" anchor="ctr"/>
          <a:lstStyle/>
          <a:p>
            <a:pPr marL="0" indent="0" algn="l">
              <a:buNone/>
            </a:pPr>
            <a:r>
              <a:rPr lang="en-US" sz="1400" b="1" dirty="0">
                <a:solidFill>
                  <a:srgbClr val="2A2433"/>
                </a:solidFill>
                <a:latin typeface="Calibri" pitchFamily="34" charset="0"/>
                <a:ea typeface="Calibri" pitchFamily="34" charset="-122"/>
                <a:cs typeface="Calibri" pitchFamily="34" charset="-120"/>
              </a:rPr>
              <a:t>Never trust docs fully.</a:t>
            </a:r>
            <a:r>
              <a:rPr lang="en-US" sz="1400" dirty="0">
                <a:solidFill>
                  <a:srgbClr val="2A2433"/>
                </a:solidFill>
                <a:latin typeface="Calibri" pitchFamily="34" charset="0"/>
                <a:ea typeface="Calibri" pitchFamily="34" charset="-122"/>
                <a:cs typeface="Calibri" pitchFamily="34" charset="-120"/>
              </a:rPr>
              <a:t> Outdated, incomplete or wrong specs are common. Hidden endpoints are often missing.</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1.8 · APIS VS WEB PAGES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An API is not a web page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47" name="Table 0"/>
          <p:cNvGraphicFramePr>
            <a:graphicFrameLocks noGrp="1"/>
          </p:cNvGraphicFramePr>
          <p:nvPr/>
        </p:nvGraphicFramePr>
        <p:xfrm>
          <a:off x="457200" y="1280160"/>
          <a:ext cx="8229600" cy="3218688"/>
        </p:xfrm>
        <a:graphic>
          <a:graphicData uri="http://schemas.openxmlformats.org/drawingml/2006/table">
            <a:tbl>
              <a:tblPr/>
              <a:tblGrid>
                <a:gridCol w="1645920"/>
                <a:gridCol w="3108960"/>
                <a:gridCol w="3474720"/>
              </a:tblGrid>
              <a:tr h="402336">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Traditional web page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API</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Returns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HTML, ready to render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Structured data (JSON, XML)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Consumed by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Humans in browsers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Programs: apps, scripts, servers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Navigation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Links and forms you can crawl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 links; need docs or observed traffic</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Input surface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Visible forms and fields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Any parameter, header or JSON property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Errors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Friendly error pages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Machine-readable, sometimes verbose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Data exposure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What the page displays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Often the </a:t>
                      </a:r>
                      <a:r>
                        <a:rPr lang="en-US" sz="1200" b="1" dirty="0">
                          <a:solidFill>
                            <a:srgbClr val="2A2433"/>
                          </a:solidFill>
                          <a:latin typeface="Calibri" pitchFamily="34" charset="0"/>
                          <a:ea typeface="Calibri" pitchFamily="34" charset="-122"/>
                          <a:cs typeface="Calibri" pitchFamily="34" charset="-120"/>
                        </a:rPr>
                        <a:t>full object</a:t>
                      </a:r>
                      <a:r>
                        <a:rPr lang="en-US" sz="1200" dirty="0">
                          <a:solidFill>
                            <a:srgbClr val="2A2433"/>
                          </a:solidFill>
                          <a:latin typeface="Calibri" pitchFamily="34" charset="0"/>
                          <a:ea typeface="Calibri" pitchFamily="34" charset="-122"/>
                          <a:cs typeface="Calibri" pitchFamily="34" charset="-120"/>
                        </a:rPr>
                        <a:t>; client filters it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Constraints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UI limits what you can click</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No UI limits</a:t>
                      </a:r>
                      <a:r>
                        <a:rPr lang="en-US" sz="1200" dirty="0">
                          <a:solidFill>
                            <a:srgbClr val="2A2433"/>
                          </a:solidFill>
                          <a:latin typeface="Calibri" pitchFamily="34" charset="0"/>
                          <a:ea typeface="Calibri" pitchFamily="34" charset="-122"/>
                          <a:cs typeface="Calibri" pitchFamily="34" charset="-120"/>
                        </a:rPr>
                        <a:t>: send anything</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1.8 · APIS VS WEB PAGES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Why this changes how you test</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1933956" cy="1540764"/>
          </a:xfrm>
          <a:prstGeom prst="rect">
            <a:avLst/>
          </a:prstGeom>
          <a:solidFill>
            <a:srgbClr val="FFFFFF"/>
          </a:solidFill>
          <a:ln w="9525">
            <a:solidFill>
              <a:srgbClr val="D6CCE6"/>
            </a:solidFill>
          </a:ln>
        </p:spPr>
      </p:sp>
      <p:sp>
        <p:nvSpPr>
          <p:cNvPr id="7" name="Text 4"/>
          <p:cNvSpPr txBox="1"/>
          <p:nvPr/>
        </p:nvSpPr>
        <p:spPr>
          <a:xfrm>
            <a:off x="621792" y="1463040"/>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UI is a suggestion</a:t>
            </a:r>
            <a:endParaRPr lang="en-US" sz="1400" dirty="0"/>
          </a:p>
        </p:txBody>
      </p:sp>
      <p:sp>
        <p:nvSpPr>
          <p:cNvPr id="8" name="Text 5"/>
          <p:cNvSpPr txBox="1"/>
          <p:nvPr/>
        </p:nvSpPr>
        <p:spPr>
          <a:xfrm>
            <a:off x="621792" y="1767586"/>
            <a:ext cx="1604772" cy="1007618"/>
          </a:xfrm>
          <a:prstGeom prst="rect">
            <a:avLst/>
          </a:prstGeom>
          <a:noFill/>
        </p:spPr>
        <p:txBody>
          <a:bodyPr wrap="square" lIns="0" tIns="0" rIns="0" bIns="0" rtlCol="0" anchor="t"/>
          <a:lstStyle/>
          <a:p>
            <a:pPr marL="0" indent="0" algn="l">
              <a:buNone/>
            </a:pPr>
            <a:r>
              <a:rPr lang="en-US" sz="1250" dirty="0">
                <a:solidFill>
                  <a:srgbClr val="2A2433"/>
                </a:solidFill>
                <a:latin typeface="Calibri" pitchFamily="34" charset="0"/>
                <a:ea typeface="Calibri" pitchFamily="34" charset="-122"/>
                <a:cs typeface="Calibri" pitchFamily="34" charset="-120"/>
              </a:rPr>
              <a:t>Greyed-out buttons and JS validation restrict nothing</a:t>
            </a:r>
            <a:endParaRPr lang="en-US" sz="1250" dirty="0"/>
          </a:p>
        </p:txBody>
      </p:sp>
      <p:sp>
        <p:nvSpPr>
          <p:cNvPr id="9" name="Shape 6"/>
          <p:cNvSpPr/>
          <p:nvPr/>
        </p:nvSpPr>
        <p:spPr>
          <a:xfrm>
            <a:off x="2555748" y="1325880"/>
            <a:ext cx="1933956" cy="1540764"/>
          </a:xfrm>
          <a:prstGeom prst="rect">
            <a:avLst/>
          </a:prstGeom>
          <a:solidFill>
            <a:srgbClr val="FFFFFF"/>
          </a:solidFill>
          <a:ln w="9525">
            <a:solidFill>
              <a:srgbClr val="D6CCE6"/>
            </a:solidFill>
          </a:ln>
        </p:spPr>
      </p:sp>
      <p:sp>
        <p:nvSpPr>
          <p:cNvPr id="10" name="Text 7"/>
          <p:cNvSpPr txBox="1"/>
          <p:nvPr/>
        </p:nvSpPr>
        <p:spPr>
          <a:xfrm>
            <a:off x="2720340" y="1463040"/>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Discovery is on you</a:t>
            </a:r>
            <a:endParaRPr lang="en-US" sz="1400" dirty="0"/>
          </a:p>
        </p:txBody>
      </p:sp>
      <p:sp>
        <p:nvSpPr>
          <p:cNvPr id="11" name="Text 8"/>
          <p:cNvSpPr txBox="1"/>
          <p:nvPr/>
        </p:nvSpPr>
        <p:spPr>
          <a:xfrm>
            <a:off x="2720340" y="1767586"/>
            <a:ext cx="1604772" cy="1007618"/>
          </a:xfrm>
          <a:prstGeom prst="rect">
            <a:avLst/>
          </a:prstGeom>
          <a:noFill/>
        </p:spPr>
        <p:txBody>
          <a:bodyPr wrap="square" lIns="0" tIns="0" rIns="0" bIns="0" rtlCol="0" anchor="t"/>
          <a:lstStyle/>
          <a:p>
            <a:pPr marL="0" indent="0" algn="l">
              <a:buNone/>
            </a:pPr>
            <a:endParaRPr lang="en-US" sz="1250" dirty="0">
              <a:solidFill>
                <a:srgbClr val="2A2433"/>
              </a:solidFill>
              <a:latin typeface="Calibri" pitchFamily="34" charset="0"/>
              <a:ea typeface="Calibri" pitchFamily="34" charset="-122"/>
              <a:cs typeface="Calibri" pitchFamily="34" charset="-120"/>
            </a:endParaRPr>
          </a:p>
          <a:p>
            <a:pPr marL="0" indent="0" algn="l">
              <a:buNone/>
            </a:pPr>
            <a:r>
              <a:rPr lang="en-US" sz="1250" dirty="0">
                <a:solidFill>
                  <a:srgbClr val="2A2433"/>
                </a:solidFill>
                <a:latin typeface="Calibri" pitchFamily="34" charset="0"/>
                <a:ea typeface="Calibri" pitchFamily="34" charset="-122"/>
                <a:cs typeface="Calibri" pitchFamily="34" charset="-120"/>
              </a:rPr>
              <a:t>Specs, proxy history, JS files, mobile traffic</a:t>
            </a:r>
            <a:endParaRPr lang="en-US" sz="1250" dirty="0"/>
          </a:p>
        </p:txBody>
      </p:sp>
      <p:sp>
        <p:nvSpPr>
          <p:cNvPr id="12" name="Shape 9"/>
          <p:cNvSpPr/>
          <p:nvPr/>
        </p:nvSpPr>
        <p:spPr>
          <a:xfrm>
            <a:off x="4654296" y="1325880"/>
            <a:ext cx="1933956" cy="1540764"/>
          </a:xfrm>
          <a:prstGeom prst="rect">
            <a:avLst/>
          </a:prstGeom>
          <a:solidFill>
            <a:srgbClr val="FFFFFF"/>
          </a:solidFill>
          <a:ln w="9525">
            <a:solidFill>
              <a:srgbClr val="D6CCE6"/>
            </a:solidFill>
          </a:ln>
        </p:spPr>
      </p:sp>
      <p:sp>
        <p:nvSpPr>
          <p:cNvPr id="13" name="Text 10"/>
          <p:cNvSpPr txBox="1"/>
          <p:nvPr/>
        </p:nvSpPr>
        <p:spPr>
          <a:xfrm>
            <a:off x="4818888" y="1463040"/>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IDs everywhere</a:t>
            </a:r>
            <a:endParaRPr lang="en-US" sz="1400" dirty="0"/>
          </a:p>
        </p:txBody>
      </p:sp>
      <p:sp>
        <p:nvSpPr>
          <p:cNvPr id="14" name="Text 11"/>
          <p:cNvSpPr txBox="1"/>
          <p:nvPr/>
        </p:nvSpPr>
        <p:spPr>
          <a:xfrm>
            <a:off x="4818888" y="1767586"/>
            <a:ext cx="1604772" cy="1007618"/>
          </a:xfrm>
          <a:prstGeom prst="rect">
            <a:avLst/>
          </a:prstGeom>
          <a:noFill/>
        </p:spPr>
        <p:txBody>
          <a:bodyPr wrap="square" lIns="0" tIns="0" rIns="0" bIns="0" rtlCol="0" anchor="t"/>
          <a:lstStyle/>
          <a:p>
            <a:pPr marL="0" indent="0" algn="l">
              <a:buNone/>
            </a:pPr>
            <a:r>
              <a:rPr lang="en-US" sz="1250" dirty="0">
                <a:solidFill>
                  <a:srgbClr val="2A2433"/>
                </a:solidFill>
                <a:latin typeface="Calibri" pitchFamily="34" charset="0"/>
                <a:ea typeface="Calibri" pitchFamily="34" charset="-122"/>
                <a:cs typeface="Calibri" pitchFamily="34" charset="-120"/>
              </a:rPr>
              <a:t>Paths, queries, bodies: all authorization candidates</a:t>
            </a:r>
            <a:endParaRPr lang="en-US" sz="1250" dirty="0"/>
          </a:p>
        </p:txBody>
      </p:sp>
      <p:sp>
        <p:nvSpPr>
          <p:cNvPr id="15" name="Shape 12"/>
          <p:cNvSpPr/>
          <p:nvPr/>
        </p:nvSpPr>
        <p:spPr>
          <a:xfrm>
            <a:off x="6752844" y="1325880"/>
            <a:ext cx="1933956" cy="1540764"/>
          </a:xfrm>
          <a:prstGeom prst="rect">
            <a:avLst/>
          </a:prstGeom>
          <a:solidFill>
            <a:srgbClr val="FFFFFF"/>
          </a:solidFill>
          <a:ln w="9525">
            <a:solidFill>
              <a:srgbClr val="D6CCE6"/>
            </a:solidFill>
          </a:ln>
        </p:spPr>
      </p:sp>
      <p:sp>
        <p:nvSpPr>
          <p:cNvPr id="16" name="Text 13"/>
          <p:cNvSpPr txBox="1"/>
          <p:nvPr/>
        </p:nvSpPr>
        <p:spPr>
          <a:xfrm>
            <a:off x="6917436" y="1463040"/>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Excess data</a:t>
            </a:r>
            <a:endParaRPr lang="en-US" sz="1400" dirty="0"/>
          </a:p>
        </p:txBody>
      </p:sp>
      <p:sp>
        <p:nvSpPr>
          <p:cNvPr id="17" name="Text 14"/>
          <p:cNvSpPr txBox="1"/>
          <p:nvPr/>
        </p:nvSpPr>
        <p:spPr>
          <a:xfrm>
            <a:off x="6917436" y="1767586"/>
            <a:ext cx="1604772" cy="1007618"/>
          </a:xfrm>
          <a:prstGeom prst="rect">
            <a:avLst/>
          </a:prstGeom>
          <a:noFill/>
        </p:spPr>
        <p:txBody>
          <a:bodyPr wrap="square" lIns="0" tIns="0" rIns="0" bIns="0" rtlCol="0" anchor="t"/>
          <a:lstStyle/>
          <a:p>
            <a:pPr marL="0" indent="0" algn="l">
              <a:buNone/>
            </a:pPr>
            <a:r>
              <a:rPr lang="en-US" sz="1250" dirty="0">
                <a:solidFill>
                  <a:srgbClr val="2A2433"/>
                </a:solidFill>
                <a:latin typeface="Calibri" pitchFamily="34" charset="0"/>
                <a:ea typeface="Calibri" pitchFamily="34" charset="-122"/>
                <a:cs typeface="Calibri" pitchFamily="34" charset="-120"/>
              </a:rPr>
              <a:t>Full objects returned; UI hides fields</a:t>
            </a:r>
            <a:endParaRPr lang="en-US" sz="1250" dirty="0"/>
          </a:p>
        </p:txBody>
      </p:sp>
      <p:sp>
        <p:nvSpPr>
          <p:cNvPr id="18" name="Shape 15"/>
          <p:cNvSpPr/>
          <p:nvPr/>
        </p:nvSpPr>
        <p:spPr>
          <a:xfrm>
            <a:off x="457200" y="3031236"/>
            <a:ext cx="1933956" cy="1540764"/>
          </a:xfrm>
          <a:prstGeom prst="rect">
            <a:avLst/>
          </a:prstGeom>
          <a:solidFill>
            <a:srgbClr val="FFFFFF"/>
          </a:solidFill>
          <a:ln w="9525">
            <a:solidFill>
              <a:srgbClr val="D6CCE6"/>
            </a:solidFill>
          </a:ln>
        </p:spPr>
      </p:sp>
      <p:sp>
        <p:nvSpPr>
          <p:cNvPr id="19" name="Text 16"/>
          <p:cNvSpPr txBox="1"/>
          <p:nvPr/>
        </p:nvSpPr>
        <p:spPr>
          <a:xfrm>
            <a:off x="621792" y="3168396"/>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Structured input</a:t>
            </a:r>
            <a:endParaRPr lang="en-US" sz="1400" dirty="0"/>
          </a:p>
        </p:txBody>
      </p:sp>
      <p:sp>
        <p:nvSpPr>
          <p:cNvPr id="20" name="Text 17"/>
          <p:cNvSpPr txBox="1"/>
          <p:nvPr/>
        </p:nvSpPr>
        <p:spPr>
          <a:xfrm>
            <a:off x="621792" y="3472942"/>
            <a:ext cx="1604772" cy="1007618"/>
          </a:xfrm>
          <a:prstGeom prst="rect">
            <a:avLst/>
          </a:prstGeom>
          <a:noFill/>
        </p:spPr>
        <p:txBody>
          <a:bodyPr wrap="square" lIns="0" tIns="0" rIns="0" bIns="0" rtlCol="0" anchor="t"/>
          <a:lstStyle/>
          <a:p>
            <a:pPr marL="0" indent="0" algn="l">
              <a:buNone/>
            </a:pPr>
            <a:r>
              <a:rPr lang="en-US" sz="1250" dirty="0">
                <a:solidFill>
                  <a:srgbClr val="2A2433"/>
                </a:solidFill>
                <a:latin typeface="Calibri" pitchFamily="34" charset="0"/>
                <a:ea typeface="Calibri" pitchFamily="34" charset="-122"/>
                <a:cs typeface="Calibri" pitchFamily="34" charset="-120"/>
              </a:rPr>
              <a:t>Extra properties, wrong types, nesting</a:t>
            </a:r>
            <a:endParaRPr lang="en-US" sz="1250" dirty="0"/>
          </a:p>
        </p:txBody>
      </p:sp>
      <p:sp>
        <p:nvSpPr>
          <p:cNvPr id="21" name="Shape 18"/>
          <p:cNvSpPr/>
          <p:nvPr/>
        </p:nvSpPr>
        <p:spPr>
          <a:xfrm>
            <a:off x="2555748" y="3031236"/>
            <a:ext cx="1933956" cy="1540764"/>
          </a:xfrm>
          <a:prstGeom prst="rect">
            <a:avLst/>
          </a:prstGeom>
          <a:solidFill>
            <a:srgbClr val="FFFFFF"/>
          </a:solidFill>
          <a:ln w="9525">
            <a:solidFill>
              <a:srgbClr val="D6CCE6"/>
            </a:solidFill>
          </a:ln>
        </p:spPr>
      </p:sp>
      <p:sp>
        <p:nvSpPr>
          <p:cNvPr id="22" name="Text 19"/>
          <p:cNvSpPr txBox="1"/>
          <p:nvPr/>
        </p:nvSpPr>
        <p:spPr>
          <a:xfrm>
            <a:off x="2720340" y="3168396"/>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Automation default</a:t>
            </a:r>
            <a:endParaRPr lang="en-US" sz="1400" dirty="0"/>
          </a:p>
        </p:txBody>
      </p:sp>
      <p:sp>
        <p:nvSpPr>
          <p:cNvPr id="23" name="Text 20"/>
          <p:cNvSpPr txBox="1"/>
          <p:nvPr/>
        </p:nvSpPr>
        <p:spPr>
          <a:xfrm>
            <a:off x="2720340" y="3472942"/>
            <a:ext cx="1604772" cy="1007618"/>
          </a:xfrm>
          <a:prstGeom prst="rect">
            <a:avLst/>
          </a:prstGeom>
          <a:noFill/>
        </p:spPr>
        <p:txBody>
          <a:bodyPr wrap="square" lIns="0" tIns="0" rIns="0" bIns="0" rtlCol="0" anchor="t"/>
          <a:lstStyle/>
          <a:p>
            <a:pPr marL="0" indent="0" algn="l">
              <a:buNone/>
            </a:pPr>
            <a:endParaRPr lang="en-US" sz="1250" dirty="0">
              <a:solidFill>
                <a:srgbClr val="2A2433"/>
              </a:solidFill>
              <a:latin typeface="Calibri" pitchFamily="34" charset="0"/>
              <a:ea typeface="Calibri" pitchFamily="34" charset="-122"/>
              <a:cs typeface="Calibri" pitchFamily="34" charset="-120"/>
            </a:endParaRPr>
          </a:p>
          <a:p>
            <a:pPr marL="0" indent="0" algn="l">
              <a:buNone/>
            </a:pPr>
            <a:r>
              <a:rPr lang="en-US" sz="1250" dirty="0">
                <a:solidFill>
                  <a:srgbClr val="2A2433"/>
                </a:solidFill>
                <a:latin typeface="Calibri" pitchFamily="34" charset="0"/>
                <a:ea typeface="Calibri" pitchFamily="34" charset="-122"/>
                <a:cs typeface="Calibri" pitchFamily="34" charset="-120"/>
              </a:rPr>
              <a:t>Rate limits and abuse of flows matter</a:t>
            </a:r>
            <a:endParaRPr lang="en-US" sz="1250" dirty="0"/>
          </a:p>
        </p:txBody>
      </p:sp>
      <p:sp>
        <p:nvSpPr>
          <p:cNvPr id="24" name="Shape 21"/>
          <p:cNvSpPr/>
          <p:nvPr/>
        </p:nvSpPr>
        <p:spPr>
          <a:xfrm>
            <a:off x="4654296" y="3031236"/>
            <a:ext cx="1933956" cy="1540764"/>
          </a:xfrm>
          <a:prstGeom prst="rect">
            <a:avLst/>
          </a:prstGeom>
          <a:solidFill>
            <a:srgbClr val="FFFFFF"/>
          </a:solidFill>
          <a:ln w="9525">
            <a:solidFill>
              <a:srgbClr val="D6CCE6"/>
            </a:solidFill>
          </a:ln>
        </p:spPr>
      </p:sp>
      <p:sp>
        <p:nvSpPr>
          <p:cNvPr id="25" name="Text 22"/>
          <p:cNvSpPr txBox="1"/>
          <p:nvPr/>
        </p:nvSpPr>
        <p:spPr>
          <a:xfrm>
            <a:off x="4818888" y="3168396"/>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Versions multiply</a:t>
            </a:r>
            <a:endParaRPr lang="en-US" sz="1400" dirty="0"/>
          </a:p>
        </p:txBody>
      </p:sp>
      <p:sp>
        <p:nvSpPr>
          <p:cNvPr id="26" name="Text 23"/>
          <p:cNvSpPr txBox="1"/>
          <p:nvPr/>
        </p:nvSpPr>
        <p:spPr>
          <a:xfrm>
            <a:off x="4818888" y="3472942"/>
            <a:ext cx="1604772" cy="1007618"/>
          </a:xfrm>
          <a:prstGeom prst="rect">
            <a:avLst/>
          </a:prstGeom>
          <a:noFill/>
        </p:spPr>
        <p:txBody>
          <a:bodyPr wrap="square" lIns="0" tIns="0" rIns="0" bIns="0" rtlCol="0" anchor="t"/>
          <a:lstStyle/>
          <a:p>
            <a:pPr marL="0" indent="0" algn="l">
              <a:buNone/>
            </a:pPr>
            <a:r>
              <a:rPr lang="en-US" sz="1250" dirty="0">
                <a:solidFill>
                  <a:srgbClr val="2A2433"/>
                </a:solidFill>
                <a:latin typeface="Calibri" pitchFamily="34" charset="0"/>
                <a:ea typeface="Calibri" pitchFamily="34" charset="-122"/>
                <a:cs typeface="Calibri" pitchFamily="34" charset="-120"/>
              </a:rPr>
              <a:t>/v1, /v2 and legacy mobile endpoints</a:t>
            </a:r>
            <a:endParaRPr lang="en-US" sz="1250" dirty="0"/>
          </a:p>
        </p:txBody>
      </p:sp>
      <p:sp>
        <p:nvSpPr>
          <p:cNvPr id="27" name="Shape 24"/>
          <p:cNvSpPr/>
          <p:nvPr/>
        </p:nvSpPr>
        <p:spPr>
          <a:xfrm>
            <a:off x="6752844" y="3031236"/>
            <a:ext cx="1933956" cy="1540764"/>
          </a:xfrm>
          <a:prstGeom prst="rect">
            <a:avLst/>
          </a:prstGeom>
          <a:solidFill>
            <a:srgbClr val="FFFFFF"/>
          </a:solidFill>
          <a:ln w="9525">
            <a:solidFill>
              <a:srgbClr val="D6CCE6"/>
            </a:solidFill>
          </a:ln>
        </p:spPr>
      </p:sp>
      <p:sp>
        <p:nvSpPr>
          <p:cNvPr id="28" name="Text 25"/>
          <p:cNvSpPr txBox="1"/>
          <p:nvPr/>
        </p:nvSpPr>
        <p:spPr>
          <a:xfrm>
            <a:off x="6917436" y="3168396"/>
            <a:ext cx="1604772"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Different tooling</a:t>
            </a:r>
            <a:endParaRPr lang="en-US" sz="1400" dirty="0"/>
          </a:p>
        </p:txBody>
      </p:sp>
      <p:sp>
        <p:nvSpPr>
          <p:cNvPr id="29" name="Text 26"/>
          <p:cNvSpPr txBox="1"/>
          <p:nvPr/>
        </p:nvSpPr>
        <p:spPr>
          <a:xfrm>
            <a:off x="6917436" y="3472942"/>
            <a:ext cx="1604772" cy="1007618"/>
          </a:xfrm>
          <a:prstGeom prst="rect">
            <a:avLst/>
          </a:prstGeom>
          <a:noFill/>
        </p:spPr>
        <p:txBody>
          <a:bodyPr wrap="square" lIns="0" tIns="0" rIns="0" bIns="0" rtlCol="0" anchor="t"/>
          <a:lstStyle/>
          <a:p>
            <a:pPr marL="0" indent="0" algn="l">
              <a:buNone/>
            </a:pPr>
            <a:r>
              <a:rPr lang="en-US" sz="1250" dirty="0">
                <a:solidFill>
                  <a:srgbClr val="2A2433"/>
                </a:solidFill>
                <a:latin typeface="Calibri" pitchFamily="34" charset="0"/>
                <a:ea typeface="Calibri" pitchFamily="34" charset="-122"/>
                <a:cs typeface="Calibri" pitchFamily="34" charset="-120"/>
              </a:rPr>
              <a:t>Postman, Burp, scripts, spec-driven scanners</a:t>
            </a:r>
            <a:endParaRPr lang="en-US" sz="125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1.8 · APIS VS WEB PAGES</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Bridging what you already know</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49" name="Table 0"/>
          <p:cNvGraphicFramePr>
            <a:graphicFrameLocks noGrp="1"/>
          </p:cNvGraphicFramePr>
          <p:nvPr/>
        </p:nvGraphicFramePr>
        <p:xfrm>
          <a:off x="457200" y="1280160"/>
          <a:ext cx="8229600" cy="3218688"/>
        </p:xfrm>
        <a:graphic>
          <a:graphicData uri="http://schemas.openxmlformats.org/drawingml/2006/table">
            <a:tbl>
              <a:tblPr/>
              <a:tblGrid>
                <a:gridCol w="2926080"/>
                <a:gridCol w="5303520"/>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Web vulnerability you know</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API twist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IDOR / broken access control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Extremely common; IDs everywhere; also function and field level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SQL / NoSQL / command injection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Same bugs, but input can be JSON fields, headers, nested objects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XSS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Less about the response itself; more about how clients render API data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CSRF</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Depends on cookies vs tokens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Authentication flaws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Token handling: JWT, OAuth, API key exposure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SSRF</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APIs that fetch URLs: webhooks, imports, avatars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Information disclosure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Verbose errors, over-returned JSON fields, exposed docs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2B1B3F"/>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4572000" cy="457200"/>
          </a:xfrm>
          <a:prstGeom prst="rect">
            <a:avLst/>
          </a:prstGeom>
          <a:noFill/>
        </p:spPr>
        <p:txBody>
          <a:bodyPr wrap="square" lIns="0" tIns="0" rIns="0" bIns="0" rtlCol="0" anchor="ctr"/>
          <a:lstStyle/>
          <a:p>
            <a:pPr marL="0" indent="0">
              <a:buNone/>
            </a:pPr>
            <a:r>
              <a:rPr lang="en-US" sz="1600" b="1" kern="0" spc="400" dirty="0">
                <a:solidFill>
                  <a:srgbClr val="F2705A"/>
                </a:solidFill>
                <a:latin typeface="Calibri" pitchFamily="34" charset="0"/>
                <a:ea typeface="Calibri" pitchFamily="34" charset="-122"/>
                <a:cs typeface="Calibri" pitchFamily="34" charset="-120"/>
              </a:rPr>
              <a:t>PART 2</a:t>
            </a:r>
            <a:endParaRPr lang="en-US" sz="1600" dirty="0"/>
          </a:p>
        </p:txBody>
      </p:sp>
      <p:sp>
        <p:nvSpPr>
          <p:cNvPr id="3" name="Text 1"/>
          <p:cNvSpPr txBox="1"/>
          <p:nvPr/>
        </p:nvSpPr>
        <p:spPr>
          <a:xfrm>
            <a:off x="640080" y="1600200"/>
            <a:ext cx="7498080" cy="1005840"/>
          </a:xfrm>
          <a:prstGeom prst="rect">
            <a:avLst/>
          </a:prstGeom>
          <a:noFill/>
        </p:spPr>
        <p:txBody>
          <a:bodyPr wrap="square" lIns="0" tIns="0" rIns="0" bIns="0" rtlCol="0" anchor="t"/>
          <a:lstStyle/>
          <a:p>
            <a:pPr marL="0" indent="0">
              <a:buNone/>
            </a:pPr>
            <a:r>
              <a:rPr lang="en-US" sz="4200" b="1" dirty="0">
                <a:solidFill>
                  <a:srgbClr val="FFFFFF"/>
                </a:solidFill>
                <a:latin typeface="Arial" pitchFamily="34" charset="0"/>
                <a:ea typeface="Arial" pitchFamily="34" charset="-122"/>
                <a:cs typeface="Arial" pitchFamily="34" charset="-120"/>
              </a:rPr>
              <a:t>API Types</a:t>
            </a:r>
            <a:endParaRPr lang="en-US" sz="4200" dirty="0"/>
          </a:p>
        </p:txBody>
      </p:sp>
      <p:sp>
        <p:nvSpPr>
          <p:cNvPr id="4" name="Text 2"/>
          <p:cNvSpPr txBox="1"/>
          <p:nvPr/>
        </p:nvSpPr>
        <p:spPr>
          <a:xfrm>
            <a:off x="640080" y="2743200"/>
            <a:ext cx="6949440" cy="1005840"/>
          </a:xfrm>
          <a:prstGeom prst="rect">
            <a:avLst/>
          </a:prstGeom>
          <a:noFill/>
        </p:spPr>
        <p:txBody>
          <a:bodyPr wrap="square" lIns="0" tIns="0" rIns="0" bIns="0" rtlCol="0" anchor="t"/>
          <a:lstStyle/>
          <a:p>
            <a:pPr marL="0" indent="0">
              <a:buNone/>
            </a:pPr>
            <a:r>
              <a:rPr lang="en-US" sz="1800" dirty="0">
                <a:solidFill>
                  <a:srgbClr val="D9CCF2"/>
                </a:solidFill>
                <a:latin typeface="Calibri" pitchFamily="34" charset="0"/>
                <a:ea typeface="Calibri" pitchFamily="34" charset="-122"/>
                <a:cs typeface="Calibri" pitchFamily="34" charset="-120"/>
              </a:rPr>
              <a:t>REST, SOAP and GraphQL: what each is, how to read it, and how to recognise it in the wild.</a:t>
            </a:r>
            <a:endParaRPr lang="en-US" sz="1800" dirty="0"/>
          </a:p>
        </p:txBody>
      </p:sp>
      <p:sp>
        <p:nvSpPr>
          <p:cNvPr id="5" name="Text 3"/>
          <p:cNvSpPr txBox="1"/>
          <p:nvPr/>
        </p:nvSpPr>
        <p:spPr>
          <a:xfrm>
            <a:off x="640080" y="4206240"/>
            <a:ext cx="5486400" cy="320040"/>
          </a:xfrm>
          <a:prstGeom prst="rect">
            <a:avLst/>
          </a:prstGeom>
          <a:noFill/>
        </p:spPr>
        <p:txBody>
          <a:bodyPr wrap="square" lIns="0" tIns="0" rIns="0" bIns="0" rtlCol="0" anchor="ctr"/>
          <a:lstStyle/>
          <a:p>
            <a:pPr marL="0" indent="0">
              <a:buNone/>
            </a:pPr>
            <a:r>
              <a:rPr lang="en-US" sz="1200" dirty="0">
                <a:solidFill>
                  <a:srgbClr val="A99BC6"/>
                </a:solidFill>
                <a:latin typeface="Calibri" pitchFamily="34" charset="0"/>
                <a:ea typeface="Calibri" pitchFamily="34" charset="-122"/>
                <a:cs typeface="Calibri" pitchFamily="34" charset="-120"/>
              </a:rPr>
              <a:t>About 62 minutes</a:t>
            </a:r>
            <a:endParaRPr lang="en-US" sz="1200" dirty="0"/>
          </a:p>
        </p:txBody>
      </p:sp>
      <p:sp>
        <p:nvSpPr>
          <p:cNvPr id="6" name="Deco 0"/>
          <p:cNvSpPr/>
          <p:nvPr/>
        </p:nvSpPr>
        <p:spPr>
          <a:xfrm>
            <a:off x="6784848" y="411480"/>
            <a:ext cx="146304" cy="146304"/>
          </a:xfrm>
          <a:prstGeom prst="rect">
            <a:avLst/>
          </a:prstGeom>
          <a:solidFill>
            <a:srgbClr val="F2705A"/>
          </a:solidFill>
          <a:ln>
            <a:noFill/>
          </a:ln>
        </p:spPr>
      </p:sp>
      <p:sp>
        <p:nvSpPr>
          <p:cNvPr id="7" name="Deco 1"/>
          <p:cNvSpPr/>
          <p:nvPr/>
        </p:nvSpPr>
        <p:spPr>
          <a:xfrm>
            <a:off x="7022592" y="411480"/>
            <a:ext cx="146304" cy="146304"/>
          </a:xfrm>
          <a:prstGeom prst="rect">
            <a:avLst/>
          </a:prstGeom>
          <a:solidFill>
            <a:srgbClr val="FFFFFF">
              <a:alpha val="14000"/>
            </a:srgbClr>
          </a:solidFill>
          <a:ln>
            <a:noFill/>
          </a:ln>
        </p:spPr>
      </p:sp>
      <p:sp>
        <p:nvSpPr>
          <p:cNvPr id="8" name="Deco 2"/>
          <p:cNvSpPr/>
          <p:nvPr/>
        </p:nvSpPr>
        <p:spPr>
          <a:xfrm>
            <a:off x="7260336" y="411480"/>
            <a:ext cx="146304" cy="146304"/>
          </a:xfrm>
          <a:prstGeom prst="rect">
            <a:avLst/>
          </a:prstGeom>
          <a:solidFill>
            <a:srgbClr val="FFFFFF">
              <a:alpha val="14000"/>
            </a:srgbClr>
          </a:solidFill>
          <a:ln>
            <a:noFill/>
          </a:ln>
        </p:spPr>
      </p:sp>
      <p:sp>
        <p:nvSpPr>
          <p:cNvPr id="9" name="Deco 3"/>
          <p:cNvSpPr/>
          <p:nvPr/>
        </p:nvSpPr>
        <p:spPr>
          <a:xfrm>
            <a:off x="7498080" y="411480"/>
            <a:ext cx="146304" cy="146304"/>
          </a:xfrm>
          <a:prstGeom prst="rect">
            <a:avLst/>
          </a:prstGeom>
          <a:solidFill>
            <a:srgbClr val="FFFFFF">
              <a:alpha val="14000"/>
            </a:srgbClr>
          </a:solidFill>
          <a:ln>
            <a:noFill/>
          </a:ln>
        </p:spPr>
      </p:sp>
      <p:sp>
        <p:nvSpPr>
          <p:cNvPr id="10" name="Deco 4"/>
          <p:cNvSpPr/>
          <p:nvPr/>
        </p:nvSpPr>
        <p:spPr>
          <a:xfrm>
            <a:off x="7735824" y="411480"/>
            <a:ext cx="146304" cy="146304"/>
          </a:xfrm>
          <a:prstGeom prst="rect">
            <a:avLst/>
          </a:prstGeom>
          <a:solidFill>
            <a:srgbClr val="9C7AD6">
              <a:alpha val="70000"/>
            </a:srgbClr>
          </a:solidFill>
          <a:ln>
            <a:noFill/>
          </a:ln>
        </p:spPr>
      </p:sp>
      <p:sp>
        <p:nvSpPr>
          <p:cNvPr id="11" name="Deco 5"/>
          <p:cNvSpPr/>
          <p:nvPr/>
        </p:nvSpPr>
        <p:spPr>
          <a:xfrm>
            <a:off x="7973568" y="411480"/>
            <a:ext cx="146304" cy="146304"/>
          </a:xfrm>
          <a:prstGeom prst="rect">
            <a:avLst/>
          </a:prstGeom>
          <a:solidFill>
            <a:srgbClr val="F2705A"/>
          </a:solidFill>
          <a:ln>
            <a:noFill/>
          </a:ln>
        </p:spPr>
      </p:sp>
      <p:sp>
        <p:nvSpPr>
          <p:cNvPr id="12" name="Deco 6"/>
          <p:cNvSpPr/>
          <p:nvPr/>
        </p:nvSpPr>
        <p:spPr>
          <a:xfrm>
            <a:off x="8211312" y="411480"/>
            <a:ext cx="146304" cy="146304"/>
          </a:xfrm>
          <a:prstGeom prst="rect">
            <a:avLst/>
          </a:prstGeom>
          <a:solidFill>
            <a:srgbClr val="FFFFFF">
              <a:alpha val="14000"/>
            </a:srgbClr>
          </a:solidFill>
          <a:ln>
            <a:noFill/>
          </a:ln>
        </p:spPr>
      </p:sp>
      <p:sp>
        <p:nvSpPr>
          <p:cNvPr id="13" name="Deco 7"/>
          <p:cNvSpPr/>
          <p:nvPr/>
        </p:nvSpPr>
        <p:spPr>
          <a:xfrm>
            <a:off x="8449056" y="411480"/>
            <a:ext cx="146304" cy="146304"/>
          </a:xfrm>
          <a:prstGeom prst="rect">
            <a:avLst/>
          </a:prstGeom>
          <a:solidFill>
            <a:srgbClr val="FFFFFF">
              <a:alpha val="14000"/>
            </a:srgbClr>
          </a:solidFill>
          <a:ln>
            <a:noFill/>
          </a:ln>
        </p:spPr>
      </p:sp>
      <p:sp>
        <p:nvSpPr>
          <p:cNvPr id="14" name="Deco 8"/>
          <p:cNvSpPr/>
          <p:nvPr/>
        </p:nvSpPr>
        <p:spPr>
          <a:xfrm>
            <a:off x="6784848" y="649224"/>
            <a:ext cx="146304" cy="146304"/>
          </a:xfrm>
          <a:prstGeom prst="rect">
            <a:avLst/>
          </a:prstGeom>
          <a:solidFill>
            <a:srgbClr val="FFFFFF">
              <a:alpha val="14000"/>
            </a:srgbClr>
          </a:solidFill>
          <a:ln>
            <a:noFill/>
          </a:ln>
        </p:spPr>
      </p:sp>
      <p:sp>
        <p:nvSpPr>
          <p:cNvPr id="15" name="Deco 9"/>
          <p:cNvSpPr/>
          <p:nvPr/>
        </p:nvSpPr>
        <p:spPr>
          <a:xfrm>
            <a:off x="7022592" y="649224"/>
            <a:ext cx="146304" cy="146304"/>
          </a:xfrm>
          <a:prstGeom prst="rect">
            <a:avLst/>
          </a:prstGeom>
          <a:solidFill>
            <a:srgbClr val="9C7AD6">
              <a:alpha val="70000"/>
            </a:srgbClr>
          </a:solidFill>
          <a:ln>
            <a:noFill/>
          </a:ln>
        </p:spPr>
      </p:sp>
      <p:sp>
        <p:nvSpPr>
          <p:cNvPr id="16" name="Deco 10"/>
          <p:cNvSpPr/>
          <p:nvPr/>
        </p:nvSpPr>
        <p:spPr>
          <a:xfrm>
            <a:off x="7260336" y="649224"/>
            <a:ext cx="146304" cy="146304"/>
          </a:xfrm>
          <a:prstGeom prst="rect">
            <a:avLst/>
          </a:prstGeom>
          <a:solidFill>
            <a:srgbClr val="FFFFFF">
              <a:alpha val="14000"/>
            </a:srgbClr>
          </a:solidFill>
          <a:ln>
            <a:noFill/>
          </a:ln>
        </p:spPr>
      </p:sp>
      <p:sp>
        <p:nvSpPr>
          <p:cNvPr id="17" name="Deco 11"/>
          <p:cNvSpPr/>
          <p:nvPr/>
        </p:nvSpPr>
        <p:spPr>
          <a:xfrm>
            <a:off x="7498080" y="649224"/>
            <a:ext cx="146304" cy="146304"/>
          </a:xfrm>
          <a:prstGeom prst="rect">
            <a:avLst/>
          </a:prstGeom>
          <a:solidFill>
            <a:srgbClr val="FFFFFF">
              <a:alpha val="14000"/>
            </a:srgbClr>
          </a:solidFill>
          <a:ln>
            <a:noFill/>
          </a:ln>
        </p:spPr>
      </p:sp>
      <p:sp>
        <p:nvSpPr>
          <p:cNvPr id="18" name="Deco 12"/>
          <p:cNvSpPr/>
          <p:nvPr/>
        </p:nvSpPr>
        <p:spPr>
          <a:xfrm>
            <a:off x="7735824" y="649224"/>
            <a:ext cx="146304" cy="146304"/>
          </a:xfrm>
          <a:prstGeom prst="rect">
            <a:avLst/>
          </a:prstGeom>
          <a:solidFill>
            <a:srgbClr val="F2705A"/>
          </a:solidFill>
          <a:ln>
            <a:noFill/>
          </a:ln>
        </p:spPr>
      </p:sp>
      <p:sp>
        <p:nvSpPr>
          <p:cNvPr id="19" name="Deco 13"/>
          <p:cNvSpPr/>
          <p:nvPr/>
        </p:nvSpPr>
        <p:spPr>
          <a:xfrm>
            <a:off x="7973568" y="649224"/>
            <a:ext cx="146304" cy="146304"/>
          </a:xfrm>
          <a:prstGeom prst="rect">
            <a:avLst/>
          </a:prstGeom>
          <a:solidFill>
            <a:srgbClr val="9C7AD6">
              <a:alpha val="70000"/>
            </a:srgbClr>
          </a:solidFill>
          <a:ln>
            <a:noFill/>
          </a:ln>
        </p:spPr>
      </p:sp>
      <p:sp>
        <p:nvSpPr>
          <p:cNvPr id="20" name="Deco 14"/>
          <p:cNvSpPr/>
          <p:nvPr/>
        </p:nvSpPr>
        <p:spPr>
          <a:xfrm>
            <a:off x="8211312" y="649224"/>
            <a:ext cx="146304" cy="146304"/>
          </a:xfrm>
          <a:prstGeom prst="rect">
            <a:avLst/>
          </a:prstGeom>
          <a:solidFill>
            <a:srgbClr val="FFFFFF">
              <a:alpha val="14000"/>
            </a:srgbClr>
          </a:solidFill>
          <a:ln>
            <a:noFill/>
          </a:ln>
        </p:spPr>
      </p:sp>
      <p:sp>
        <p:nvSpPr>
          <p:cNvPr id="21" name="Deco 15"/>
          <p:cNvSpPr/>
          <p:nvPr/>
        </p:nvSpPr>
        <p:spPr>
          <a:xfrm>
            <a:off x="8449056" y="649224"/>
            <a:ext cx="146304" cy="146304"/>
          </a:xfrm>
          <a:prstGeom prst="rect">
            <a:avLst/>
          </a:prstGeom>
          <a:solidFill>
            <a:srgbClr val="FFFFFF">
              <a:alpha val="14000"/>
            </a:srgbClr>
          </a:solidFill>
          <a:ln>
            <a:noFill/>
          </a:ln>
        </p:spPr>
      </p:sp>
      <p:sp>
        <p:nvSpPr>
          <p:cNvPr id="22" name="Deco 16"/>
          <p:cNvSpPr/>
          <p:nvPr/>
        </p:nvSpPr>
        <p:spPr>
          <a:xfrm>
            <a:off x="6784848" y="886968"/>
            <a:ext cx="146304" cy="146304"/>
          </a:xfrm>
          <a:prstGeom prst="rect">
            <a:avLst/>
          </a:prstGeom>
          <a:solidFill>
            <a:srgbClr val="FFFFFF">
              <a:alpha val="14000"/>
            </a:srgbClr>
          </a:solidFill>
          <a:ln>
            <a:noFill/>
          </a:ln>
        </p:spPr>
      </p:sp>
      <p:sp>
        <p:nvSpPr>
          <p:cNvPr id="23" name="Deco 17"/>
          <p:cNvSpPr/>
          <p:nvPr/>
        </p:nvSpPr>
        <p:spPr>
          <a:xfrm>
            <a:off x="7022592" y="886968"/>
            <a:ext cx="146304" cy="146304"/>
          </a:xfrm>
          <a:prstGeom prst="rect">
            <a:avLst/>
          </a:prstGeom>
          <a:solidFill>
            <a:srgbClr val="FFFFFF">
              <a:alpha val="14000"/>
            </a:srgbClr>
          </a:solidFill>
          <a:ln>
            <a:noFill/>
          </a:ln>
        </p:spPr>
      </p:sp>
      <p:sp>
        <p:nvSpPr>
          <p:cNvPr id="24" name="Deco 18"/>
          <p:cNvSpPr/>
          <p:nvPr/>
        </p:nvSpPr>
        <p:spPr>
          <a:xfrm>
            <a:off x="7260336" y="886968"/>
            <a:ext cx="146304" cy="146304"/>
          </a:xfrm>
          <a:prstGeom prst="rect">
            <a:avLst/>
          </a:prstGeom>
          <a:solidFill>
            <a:srgbClr val="9C7AD6">
              <a:alpha val="70000"/>
            </a:srgbClr>
          </a:solidFill>
          <a:ln>
            <a:noFill/>
          </a:ln>
        </p:spPr>
      </p:sp>
      <p:sp>
        <p:nvSpPr>
          <p:cNvPr id="25" name="Deco 19"/>
          <p:cNvSpPr/>
          <p:nvPr/>
        </p:nvSpPr>
        <p:spPr>
          <a:xfrm>
            <a:off x="7498080" y="886968"/>
            <a:ext cx="146304" cy="146304"/>
          </a:xfrm>
          <a:prstGeom prst="rect">
            <a:avLst/>
          </a:prstGeom>
          <a:solidFill>
            <a:srgbClr val="F2705A"/>
          </a:solidFill>
          <a:ln>
            <a:noFill/>
          </a:ln>
        </p:spPr>
      </p:sp>
      <p:sp>
        <p:nvSpPr>
          <p:cNvPr id="26" name="Deco 20"/>
          <p:cNvSpPr/>
          <p:nvPr/>
        </p:nvSpPr>
        <p:spPr>
          <a:xfrm>
            <a:off x="7735824" y="886968"/>
            <a:ext cx="146304" cy="146304"/>
          </a:xfrm>
          <a:prstGeom prst="rect">
            <a:avLst/>
          </a:prstGeom>
          <a:solidFill>
            <a:srgbClr val="FFFFFF">
              <a:alpha val="14000"/>
            </a:srgbClr>
          </a:solidFill>
          <a:ln>
            <a:noFill/>
          </a:ln>
        </p:spPr>
      </p:sp>
      <p:sp>
        <p:nvSpPr>
          <p:cNvPr id="27" name="Deco 21"/>
          <p:cNvSpPr/>
          <p:nvPr/>
        </p:nvSpPr>
        <p:spPr>
          <a:xfrm>
            <a:off x="7973568" y="886968"/>
            <a:ext cx="146304" cy="146304"/>
          </a:xfrm>
          <a:prstGeom prst="rect">
            <a:avLst/>
          </a:prstGeom>
          <a:solidFill>
            <a:srgbClr val="FFFFFF">
              <a:alpha val="14000"/>
            </a:srgbClr>
          </a:solidFill>
          <a:ln>
            <a:noFill/>
          </a:ln>
        </p:spPr>
      </p:sp>
      <p:sp>
        <p:nvSpPr>
          <p:cNvPr id="28" name="Deco 22"/>
          <p:cNvSpPr/>
          <p:nvPr/>
        </p:nvSpPr>
        <p:spPr>
          <a:xfrm>
            <a:off x="8211312" y="886968"/>
            <a:ext cx="146304" cy="146304"/>
          </a:xfrm>
          <a:prstGeom prst="rect">
            <a:avLst/>
          </a:prstGeom>
          <a:solidFill>
            <a:srgbClr val="9C7AD6">
              <a:alpha val="70000"/>
            </a:srgbClr>
          </a:solidFill>
          <a:ln>
            <a:noFill/>
          </a:ln>
        </p:spPr>
      </p:sp>
      <p:sp>
        <p:nvSpPr>
          <p:cNvPr id="29" name="Deco 23"/>
          <p:cNvSpPr/>
          <p:nvPr/>
        </p:nvSpPr>
        <p:spPr>
          <a:xfrm>
            <a:off x="8449056" y="886968"/>
            <a:ext cx="146304" cy="146304"/>
          </a:xfrm>
          <a:prstGeom prst="rect">
            <a:avLst/>
          </a:prstGeom>
          <a:solidFill>
            <a:srgbClr val="FFFFFF">
              <a:alpha val="14000"/>
            </a:srgbClr>
          </a:solidFill>
          <a:ln>
            <a:noFill/>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PART 2 · FRAMING</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Two things people mix up</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219456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3671316" cy="290576"/>
          </a:xfrm>
          <a:prstGeom prst="rect">
            <a:avLst/>
          </a:prstGeom>
          <a:noFill/>
        </p:spPr>
        <p:txBody>
          <a:bodyPr wrap="square" lIns="0" tIns="0" rIns="0" bIns="0" rtlCol="0" anchor="t"/>
          <a:lstStyle/>
          <a:p>
            <a:pPr marL="0" indent="0">
              <a:buNone/>
            </a:pPr>
            <a:r>
              <a:rPr lang="en-US" sz="1600" b="1" dirty="0">
                <a:solidFill>
                  <a:srgbClr val="2B1B3F"/>
                </a:solidFill>
                <a:latin typeface="Calibri" pitchFamily="34" charset="0"/>
                <a:ea typeface="Calibri" pitchFamily="34" charset="-122"/>
                <a:cs typeface="Calibri" pitchFamily="34" charset="-120"/>
              </a:rPr>
              <a:t>Style, language or protocol</a:t>
            </a:r>
            <a:endParaRPr lang="en-US" sz="1600" dirty="0"/>
          </a:p>
        </p:txBody>
      </p:sp>
      <p:sp>
        <p:nvSpPr>
          <p:cNvPr id="10" name="Text 6"/>
          <p:cNvSpPr txBox="1"/>
          <p:nvPr/>
        </p:nvSpPr>
        <p:spPr>
          <a:xfrm>
            <a:off x="621792" y="2375408"/>
            <a:ext cx="3671316" cy="1053592"/>
          </a:xfrm>
          <a:prstGeom prst="rect">
            <a:avLst/>
          </a:prstGeom>
          <a:noFill/>
        </p:spPr>
        <p:txBody>
          <a:bodyPr wrap="square" lIns="0" tIns="0" rIns="0" bIns="0" rtlCol="0" anchor="t"/>
          <a:lstStyle/>
          <a:p>
            <a:pPr marL="0" indent="0" algn="l">
              <a:spcAft>
                <a:spcPts val="400"/>
              </a:spcAft>
              <a:buNone/>
            </a:pPr>
            <a:r>
              <a:rPr lang="en-US" sz="1400" b="1" dirty="0">
                <a:solidFill>
                  <a:srgbClr val="2A2433"/>
                </a:solidFill>
                <a:latin typeface="Calibri" pitchFamily="34" charset="0"/>
                <a:ea typeface="Calibri" pitchFamily="34" charset="-122"/>
                <a:cs typeface="Calibri" pitchFamily="34" charset="-120"/>
              </a:rPr>
              <a:t>How the conversation is designed</a:t>
            </a:r>
            <a:endParaRPr lang="en-US" sz="1400" dirty="0"/>
          </a:p>
          <a:p>
            <a:pPr marL="0" indent="0" algn="l">
              <a:spcAft>
                <a:spcPts val="400"/>
              </a:spcAft>
              <a:buNone/>
            </a:pPr>
            <a:r>
              <a:rPr lang="en-US" sz="1400" dirty="0">
                <a:solidFill>
                  <a:srgbClr val="2A2433"/>
                </a:solidFill>
                <a:latin typeface="Calibri" pitchFamily="34" charset="0"/>
                <a:ea typeface="Calibri" pitchFamily="34" charset="-122"/>
                <a:cs typeface="Calibri" pitchFamily="34" charset="-120"/>
              </a:rPr>
              <a:t>REST is a style</a:t>
            </a:r>
            <a:endParaRPr lang="en-US" sz="1400" dirty="0"/>
          </a:p>
          <a:p>
            <a:pPr marL="0" indent="0" algn="l">
              <a:spcAft>
                <a:spcPts val="400"/>
              </a:spcAft>
              <a:buNone/>
            </a:pPr>
            <a:r>
              <a:rPr lang="en-US" sz="1400" dirty="0">
                <a:solidFill>
                  <a:srgbClr val="2A2433"/>
                </a:solidFill>
                <a:latin typeface="Calibri" pitchFamily="34" charset="0"/>
                <a:ea typeface="Calibri" pitchFamily="34" charset="-122"/>
                <a:cs typeface="Calibri" pitchFamily="34" charset="-120"/>
              </a:rPr>
              <a:t>GraphQL is a query language</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SOAP is a strict protocol</a:t>
            </a:r>
            <a:endParaRPr lang="en-US" sz="1400" dirty="0"/>
          </a:p>
        </p:txBody>
      </p:sp>
      <p:sp>
        <p:nvSpPr>
          <p:cNvPr id="11" name="Shape 7"/>
          <p:cNvSpPr/>
          <p:nvPr/>
        </p:nvSpPr>
        <p:spPr>
          <a:xfrm>
            <a:off x="4686300" y="1325880"/>
            <a:ext cx="4000500" cy="2194560"/>
          </a:xfrm>
          <a:prstGeom prst="rect">
            <a:avLst/>
          </a:prstGeom>
          <a:solidFill>
            <a:srgbClr val="FFFFFF"/>
          </a:solidFill>
          <a:ln w="9525">
            <a:solidFill>
              <a:srgbClr val="D6CCE6"/>
            </a:solidFill>
          </a:ln>
        </p:spPr>
      </p:sp>
      <p:sp>
        <p:nvSpPr>
          <p:cNvPr id="12" name="Shape 8"/>
          <p:cNvSpPr/>
          <p:nvPr/>
        </p:nvSpPr>
        <p:spPr>
          <a:xfrm>
            <a:off x="485089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4965192" y="1604772"/>
            <a:ext cx="228600" cy="228600"/>
          </a:xfrm>
          <a:prstGeom prst="rect">
            <a:avLst/>
          </a:prstGeom>
        </p:spPr>
      </p:pic>
      <p:sp>
        <p:nvSpPr>
          <p:cNvPr id="14" name="Text 9"/>
          <p:cNvSpPr txBox="1"/>
          <p:nvPr/>
        </p:nvSpPr>
        <p:spPr>
          <a:xfrm>
            <a:off x="4850892" y="2039112"/>
            <a:ext cx="3671316" cy="290576"/>
          </a:xfrm>
          <a:prstGeom prst="rect">
            <a:avLst/>
          </a:prstGeom>
          <a:noFill/>
        </p:spPr>
        <p:txBody>
          <a:bodyPr wrap="square" lIns="0" tIns="0" rIns="0" bIns="0" rtlCol="0" anchor="t"/>
          <a:lstStyle/>
          <a:p>
            <a:pPr marL="0" indent="0">
              <a:buNone/>
            </a:pPr>
            <a:r>
              <a:rPr lang="en-US" sz="1600" b="1" dirty="0">
                <a:solidFill>
                  <a:srgbClr val="2B1B3F"/>
                </a:solidFill>
                <a:latin typeface="Calibri" pitchFamily="34" charset="0"/>
                <a:ea typeface="Calibri" pitchFamily="34" charset="-122"/>
                <a:cs typeface="Calibri" pitchFamily="34" charset="-120"/>
              </a:rPr>
              <a:t>Transport</a:t>
            </a:r>
            <a:endParaRPr lang="en-US" sz="1600" dirty="0"/>
          </a:p>
        </p:txBody>
      </p:sp>
      <p:sp>
        <p:nvSpPr>
          <p:cNvPr id="15" name="Text 10"/>
          <p:cNvSpPr txBox="1"/>
          <p:nvPr/>
        </p:nvSpPr>
        <p:spPr>
          <a:xfrm>
            <a:off x="4850892" y="2375408"/>
            <a:ext cx="3671316" cy="1053592"/>
          </a:xfrm>
          <a:prstGeom prst="rect">
            <a:avLst/>
          </a:prstGeom>
          <a:noFill/>
        </p:spPr>
        <p:txBody>
          <a:bodyPr wrap="square" lIns="0" tIns="0" rIns="0" bIns="0" rtlCol="0" anchor="t"/>
          <a:lstStyle/>
          <a:p>
            <a:pPr marL="0" indent="0" algn="l">
              <a:spcAft>
                <a:spcPts val="400"/>
              </a:spcAft>
              <a:buNone/>
            </a:pPr>
            <a:r>
              <a:rPr lang="en-US" sz="1400" b="1" dirty="0">
                <a:solidFill>
                  <a:srgbClr val="2A2433"/>
                </a:solidFill>
                <a:latin typeface="Calibri" pitchFamily="34" charset="0"/>
                <a:ea typeface="Calibri" pitchFamily="34" charset="-122"/>
                <a:cs typeface="Calibri" pitchFamily="34" charset="-120"/>
              </a:rPr>
              <a:t>How the bytes travel</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All three ride on HTTP</a:t>
            </a:r>
            <a:endParaRPr lang="en-US" sz="1400" dirty="0"/>
          </a:p>
        </p:txBody>
      </p:sp>
      <p:sp>
        <p:nvSpPr>
          <p:cNvPr id="16" name="Shape 11"/>
          <p:cNvSpPr/>
          <p:nvPr/>
        </p:nvSpPr>
        <p:spPr>
          <a:xfrm>
            <a:off x="457200" y="3749040"/>
            <a:ext cx="8229600" cy="822960"/>
          </a:xfrm>
          <a:prstGeom prst="rect">
            <a:avLst/>
          </a:prstGeom>
          <a:solidFill>
            <a:srgbClr val="FDEAE5"/>
          </a:solidFill>
          <a:ln w="12700">
            <a:solidFill>
              <a:srgbClr val="FDEAE5"/>
            </a:solidFill>
            <a:prstDash val="solid"/>
          </a:ln>
        </p:spPr>
      </p:sp>
      <p:sp>
        <p:nvSpPr>
          <p:cNvPr id="17" name="Shape 12"/>
          <p:cNvSpPr/>
          <p:nvPr/>
        </p:nvSpPr>
        <p:spPr>
          <a:xfrm>
            <a:off x="640080" y="3931920"/>
            <a:ext cx="457200" cy="457200"/>
          </a:xfrm>
          <a:prstGeom prst="roundRect">
            <a:avLst>
              <a:gd name="adj" fmla="val 24000"/>
            </a:avLst>
          </a:prstGeom>
          <a:solidFill>
            <a:srgbClr val="F2705A"/>
          </a:solidFill>
          <a:ln w="12700">
            <a:solidFill>
              <a:srgbClr val="F2705A"/>
            </a:solidFill>
            <a:prstDash val="solid"/>
          </a:ln>
        </p:spPr>
      </p:sp>
      <p:pic>
        <p:nvPicPr>
          <p:cNvPr id="18" name="Image 2" descr="preencoded.png"/>
          <p:cNvPicPr>
            <a:picLocks noChangeAspect="1"/>
          </p:cNvPicPr>
          <p:nvPr/>
        </p:nvPicPr>
        <p:blipFill>
          <a:blip r:embed="rId3"/>
          <a:stretch>
            <a:fillRect/>
          </a:stretch>
        </p:blipFill>
        <p:spPr>
          <a:xfrm>
            <a:off x="754380" y="4046220"/>
            <a:ext cx="228600" cy="228600"/>
          </a:xfrm>
          <a:prstGeom prst="rect">
            <a:avLst/>
          </a:prstGeom>
        </p:spPr>
      </p:pic>
      <p:sp>
        <p:nvSpPr>
          <p:cNvPr id="19" name="Text 13"/>
          <p:cNvSpPr txBox="1"/>
          <p:nvPr/>
        </p:nvSpPr>
        <p:spPr>
          <a:xfrm>
            <a:off x="1280160" y="3749040"/>
            <a:ext cx="7223760" cy="822960"/>
          </a:xfrm>
          <a:prstGeom prst="rect">
            <a:avLst/>
          </a:prstGeom>
          <a:noFill/>
        </p:spPr>
        <p:txBody>
          <a:bodyPr wrap="square" lIns="0" tIns="0" rIns="0" bIns="0" rtlCol="0" anchor="ctr"/>
          <a:lstStyle/>
          <a:p>
            <a:pPr marL="0" indent="0" algn="l">
              <a:buNone/>
            </a:pPr>
            <a:r>
              <a:rPr lang="en-US" sz="1600" dirty="0">
                <a:solidFill>
                  <a:srgbClr val="2A2433"/>
                </a:solidFill>
                <a:latin typeface="Calibri" pitchFamily="34" charset="0"/>
                <a:ea typeface="Calibri" pitchFamily="34" charset="-122"/>
                <a:cs typeface="Calibri" pitchFamily="34" charset="-120"/>
              </a:rPr>
              <a:t>Two questions identify most APIs: </a:t>
            </a:r>
            <a:r>
              <a:rPr lang="en-US" sz="1600" b="1" dirty="0">
                <a:solidFill>
                  <a:srgbClr val="2A2433"/>
                </a:solidFill>
                <a:latin typeface="Calibri" pitchFamily="34" charset="0"/>
                <a:ea typeface="Calibri" pitchFamily="34" charset="-122"/>
                <a:cs typeface="Calibri" pitchFamily="34" charset="-120"/>
              </a:rPr>
              <a:t>what style is it, and what format is the data?</a:t>
            </a:r>
            <a:endParaRPr lang="en-US" sz="16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REST: what it is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1920240" cy="3200400"/>
          </a:xfrm>
          <a:prstGeom prst="rect">
            <a:avLst/>
          </a:prstGeom>
          <a:solidFill>
            <a:srgbClr val="FFFFFF"/>
          </a:solidFill>
          <a:ln w="9525">
            <a:solidFill>
              <a:srgbClr val="D6CCE6"/>
            </a:solidFill>
          </a:ln>
        </p:spPr>
      </p:sp>
      <p:sp>
        <p:nvSpPr>
          <p:cNvPr id="7" name="Shape 4"/>
          <p:cNvSpPr/>
          <p:nvPr/>
        </p:nvSpPr>
        <p:spPr>
          <a:xfrm>
            <a:off x="621792" y="1490472"/>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36092" y="1604772"/>
            <a:ext cx="228600" cy="228600"/>
          </a:xfrm>
          <a:prstGeom prst="rect">
            <a:avLst/>
          </a:prstGeom>
        </p:spPr>
      </p:pic>
      <p:sp>
        <p:nvSpPr>
          <p:cNvPr id="9" name="Text 5"/>
          <p:cNvSpPr txBox="1"/>
          <p:nvPr/>
        </p:nvSpPr>
        <p:spPr>
          <a:xfrm>
            <a:off x="621792" y="2039112"/>
            <a:ext cx="1591056" cy="48107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Everything is a resource</a:t>
            </a:r>
            <a:endParaRPr lang="en-US" sz="1400" dirty="0"/>
          </a:p>
        </p:txBody>
      </p:sp>
      <p:sp>
        <p:nvSpPr>
          <p:cNvPr id="10" name="Text 6"/>
          <p:cNvSpPr txBox="1"/>
          <p:nvPr/>
        </p:nvSpPr>
        <p:spPr>
          <a:xfrm>
            <a:off x="621792" y="2565908"/>
            <a:ext cx="1591056" cy="186893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A user, an order, a product: each identified by a URL</a:t>
            </a:r>
            <a:endParaRPr lang="en-US" sz="1200" dirty="0"/>
          </a:p>
        </p:txBody>
      </p:sp>
      <p:sp>
        <p:nvSpPr>
          <p:cNvPr id="11" name="Shape 7"/>
          <p:cNvSpPr/>
          <p:nvPr/>
        </p:nvSpPr>
        <p:spPr>
          <a:xfrm>
            <a:off x="2560320" y="1325880"/>
            <a:ext cx="1920240" cy="3200400"/>
          </a:xfrm>
          <a:prstGeom prst="rect">
            <a:avLst/>
          </a:prstGeom>
          <a:solidFill>
            <a:srgbClr val="FFFFFF"/>
          </a:solidFill>
          <a:ln w="9525">
            <a:solidFill>
              <a:srgbClr val="D6CCE6"/>
            </a:solidFill>
          </a:ln>
        </p:spPr>
      </p:sp>
      <p:sp>
        <p:nvSpPr>
          <p:cNvPr id="12" name="Shape 8"/>
          <p:cNvSpPr/>
          <p:nvPr/>
        </p:nvSpPr>
        <p:spPr>
          <a:xfrm>
            <a:off x="2724912" y="1490472"/>
            <a:ext cx="457200" cy="45720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2839212" y="1604772"/>
            <a:ext cx="228600" cy="228600"/>
          </a:xfrm>
          <a:prstGeom prst="rect">
            <a:avLst/>
          </a:prstGeom>
        </p:spPr>
      </p:pic>
      <p:sp>
        <p:nvSpPr>
          <p:cNvPr id="14" name="Text 9"/>
          <p:cNvSpPr txBox="1"/>
          <p:nvPr/>
        </p:nvSpPr>
        <p:spPr>
          <a:xfrm>
            <a:off x="2724912" y="2039112"/>
            <a:ext cx="1591056" cy="48107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Methods are the verbs</a:t>
            </a:r>
            <a:endParaRPr lang="en-US" sz="1400" dirty="0"/>
          </a:p>
        </p:txBody>
      </p:sp>
      <p:sp>
        <p:nvSpPr>
          <p:cNvPr id="15" name="Text 10"/>
          <p:cNvSpPr txBox="1"/>
          <p:nvPr/>
        </p:nvSpPr>
        <p:spPr>
          <a:xfrm>
            <a:off x="2724912" y="2565908"/>
            <a:ext cx="1591056" cy="186893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GET, POST, PUT, PATCH, DELETE act on resources</a:t>
            </a:r>
            <a:endParaRPr lang="en-US" sz="1200" dirty="0"/>
          </a:p>
        </p:txBody>
      </p:sp>
      <p:sp>
        <p:nvSpPr>
          <p:cNvPr id="16" name="Shape 11"/>
          <p:cNvSpPr/>
          <p:nvPr/>
        </p:nvSpPr>
        <p:spPr>
          <a:xfrm>
            <a:off x="4663440" y="1325880"/>
            <a:ext cx="1920240" cy="3200400"/>
          </a:xfrm>
          <a:prstGeom prst="rect">
            <a:avLst/>
          </a:prstGeom>
          <a:solidFill>
            <a:srgbClr val="FFFFFF"/>
          </a:solidFill>
          <a:ln w="9525">
            <a:solidFill>
              <a:srgbClr val="D6CCE6"/>
            </a:solidFill>
          </a:ln>
        </p:spPr>
      </p:sp>
      <p:sp>
        <p:nvSpPr>
          <p:cNvPr id="17" name="Shape 12"/>
          <p:cNvSpPr/>
          <p:nvPr/>
        </p:nvSpPr>
        <p:spPr>
          <a:xfrm>
            <a:off x="4828032" y="1490472"/>
            <a:ext cx="457200" cy="45720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4942332" y="1604772"/>
            <a:ext cx="228600" cy="228600"/>
          </a:xfrm>
          <a:prstGeom prst="rect">
            <a:avLst/>
          </a:prstGeom>
        </p:spPr>
      </p:pic>
      <p:sp>
        <p:nvSpPr>
          <p:cNvPr id="19" name="Text 13"/>
          <p:cNvSpPr txBox="1"/>
          <p:nvPr/>
        </p:nvSpPr>
        <p:spPr>
          <a:xfrm>
            <a:off x="4828032" y="2039112"/>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Representations</a:t>
            </a:r>
            <a:endParaRPr lang="en-US" sz="1400" dirty="0"/>
          </a:p>
        </p:txBody>
      </p:sp>
      <p:sp>
        <p:nvSpPr>
          <p:cNvPr id="20" name="Text 14"/>
          <p:cNvSpPr txBox="1"/>
          <p:nvPr/>
        </p:nvSpPr>
        <p:spPr>
          <a:xfrm>
            <a:off x="4828032" y="2343658"/>
            <a:ext cx="1591056" cy="20911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The server sends a representation, usually JSON</a:t>
            </a:r>
            <a:endParaRPr lang="en-US" sz="1200" dirty="0"/>
          </a:p>
        </p:txBody>
      </p:sp>
      <p:sp>
        <p:nvSpPr>
          <p:cNvPr id="21" name="Shape 15"/>
          <p:cNvSpPr/>
          <p:nvPr/>
        </p:nvSpPr>
        <p:spPr>
          <a:xfrm>
            <a:off x="6766560" y="1325880"/>
            <a:ext cx="1920240" cy="3200400"/>
          </a:xfrm>
          <a:prstGeom prst="rect">
            <a:avLst/>
          </a:prstGeom>
          <a:solidFill>
            <a:srgbClr val="FFFFFF"/>
          </a:solidFill>
          <a:ln w="9525">
            <a:solidFill>
              <a:srgbClr val="D6CCE6"/>
            </a:solidFill>
          </a:ln>
        </p:spPr>
      </p:sp>
      <p:sp>
        <p:nvSpPr>
          <p:cNvPr id="22" name="Shape 16"/>
          <p:cNvSpPr/>
          <p:nvPr/>
        </p:nvSpPr>
        <p:spPr>
          <a:xfrm>
            <a:off x="6931152" y="1490472"/>
            <a:ext cx="457200" cy="45720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7045452" y="1604772"/>
            <a:ext cx="228600" cy="228600"/>
          </a:xfrm>
          <a:prstGeom prst="rect">
            <a:avLst/>
          </a:prstGeom>
        </p:spPr>
      </p:pic>
      <p:sp>
        <p:nvSpPr>
          <p:cNvPr id="24" name="Text 17"/>
          <p:cNvSpPr txBox="1"/>
          <p:nvPr/>
        </p:nvSpPr>
        <p:spPr>
          <a:xfrm>
            <a:off x="6931152" y="2039112"/>
            <a:ext cx="159105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Stateless</a:t>
            </a:r>
            <a:endParaRPr lang="en-US" sz="1400" dirty="0"/>
          </a:p>
        </p:txBody>
      </p:sp>
      <p:sp>
        <p:nvSpPr>
          <p:cNvPr id="25" name="Text 18"/>
          <p:cNvSpPr txBox="1"/>
          <p:nvPr/>
        </p:nvSpPr>
        <p:spPr>
          <a:xfrm>
            <a:off x="6931152" y="2343658"/>
            <a:ext cx="1591056" cy="20911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Every request carries everything needed, credentials included</a:t>
            </a:r>
            <a:endParaRPr lang="en-US" sz="12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Resources are nouns, methods are verbs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55" name="Table 0"/>
          <p:cNvGraphicFramePr>
            <a:graphicFrameLocks noGrp="1"/>
          </p:cNvGraphicFramePr>
          <p:nvPr/>
        </p:nvGraphicFramePr>
        <p:xfrm>
          <a:off x="457200" y="1280160"/>
          <a:ext cx="8229600" cy="2779776"/>
        </p:xfrm>
        <a:graphic>
          <a:graphicData uri="http://schemas.openxmlformats.org/drawingml/2006/table">
            <a:tbl>
              <a:tblPr/>
              <a:tblGrid>
                <a:gridCol w="2011680"/>
                <a:gridCol w="3291840"/>
                <a:gridCol w="2926080"/>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Request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List orders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/orders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Read a collection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Get one order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/orders/88104</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Read one resource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Create an order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 /orders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Add to the collection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Replace an order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PUT /orders/88104</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Full update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Update part of it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PATCH /orders/88104</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Partial update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Delete an order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 /orders/88104</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Remove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47472">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Nested resource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/users/1042/orders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Orders belonging to user 1042</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4251960"/>
            <a:ext cx="8229600" cy="411480"/>
          </a:xfrm>
          <a:prstGeom prst="rect">
            <a:avLst/>
          </a:prstGeom>
          <a:noFill/>
        </p:spPr>
        <p:txBody>
          <a:bodyPr wrap="square" lIns="0" tIns="0" rIns="0" bIns="0" rtlCol="0" anchor="t"/>
          <a:lstStyle/>
          <a:p>
            <a:pPr marL="0" indent="0" algn="l">
              <a:buNone/>
            </a:pPr>
            <a:r>
              <a:rPr lang="en-US" sz="1300" dirty="0">
                <a:solidFill>
                  <a:srgbClr val="655C73"/>
                </a:solidFill>
                <a:latin typeface="Calibri" pitchFamily="34" charset="0"/>
                <a:ea typeface="Calibri" pitchFamily="34" charset="-122"/>
                <a:cs typeface="Calibri" pitchFamily="34" charset="-120"/>
              </a:rPr>
              <a:t>Not RESTful: RPC-style URLs such as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 /getOrder</a:t>
            </a:r>
            <a:r>
              <a:rPr lang="en-US" sz="1300" dirty="0">
                <a:solidFill>
                  <a:srgbClr val="655C73"/>
                </a:solidFill>
                <a:latin typeface="Calibri" pitchFamily="34" charset="0"/>
                <a:ea typeface="Calibri" pitchFamily="34" charset="-122"/>
                <a:cs typeface="Calibri" pitchFamily="34" charset="-120"/>
              </a:rPr>
              <a:t> or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 /deleteUser</a:t>
            </a:r>
            <a:r>
              <a:rPr lang="en-US" sz="1300" dirty="0">
                <a:solidFill>
                  <a:srgbClr val="655C73"/>
                </a:solidFill>
                <a:latin typeface="Calibri" pitchFamily="34" charset="0"/>
                <a:ea typeface="Calibri" pitchFamily="34" charset="-122"/>
                <a:cs typeface="Calibri" pitchFamily="34" charset="-120"/>
              </a:rPr>
              <a:t> (the verb is in the path).</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How a REST path maps to code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206240" cy="1417320"/>
          </a:xfrm>
          <a:prstGeom prst="rect">
            <a:avLst/>
          </a:prstGeom>
          <a:solidFill>
            <a:srgbClr val="241733"/>
          </a:solidFill>
          <a:ln w="12700">
            <a:solidFill>
              <a:srgbClr val="241733"/>
            </a:solidFill>
            <a:prstDash val="solid"/>
          </a:ln>
        </p:spPr>
      </p:sp>
      <p:sp>
        <p:nvSpPr>
          <p:cNvPr id="7" name="Text 4"/>
          <p:cNvSpPr txBox="1"/>
          <p:nvPr/>
        </p:nvSpPr>
        <p:spPr>
          <a:xfrm>
            <a:off x="640080" y="1371600"/>
            <a:ext cx="384048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A HANDLER</a:t>
            </a:r>
            <a:endParaRPr lang="en-US" sz="1000" dirty="0"/>
          </a:p>
        </p:txBody>
      </p:sp>
      <p:sp>
        <p:nvSpPr>
          <p:cNvPr id="8" name="Text 5"/>
          <p:cNvSpPr txBox="1"/>
          <p:nvPr/>
        </p:nvSpPr>
        <p:spPr>
          <a:xfrm>
            <a:off x="640080" y="1627632"/>
            <a:ext cx="3840480" cy="978408"/>
          </a:xfrm>
          <a:prstGeom prst="rect">
            <a:avLst/>
          </a:prstGeom>
          <a:noFill/>
        </p:spPr>
        <p:txBody>
          <a:bodyPr wrap="square" lIns="0" tIns="0" rIns="0" bIns="0" rtlCol="0" anchor="t"/>
          <a:lstStyle/>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@app.get("/api/users/{id}")</a:t>
            </a:r>
            <a:endParaRPr lang="en-US" sz="1100" dirty="0"/>
          </a:p>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def get_user(id):</a:t>
            </a:r>
            <a:endParaRPr lang="en-US" sz="1100" dirty="0"/>
          </a:p>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return get_user_from_database(id)</a:t>
            </a:r>
            <a:endParaRPr lang="en-US" sz="1100" dirty="0"/>
          </a:p>
        </p:txBody>
      </p:sp>
      <p:graphicFrame>
        <p:nvGraphicFramePr>
          <p:cNvPr id="56" name="Table 0"/>
          <p:cNvGraphicFramePr>
            <a:graphicFrameLocks noGrp="1"/>
          </p:cNvGraphicFramePr>
          <p:nvPr/>
        </p:nvGraphicFramePr>
        <p:xfrm>
          <a:off x="4846320" y="1280160"/>
          <a:ext cx="3840480" cy="1554480"/>
        </p:xfrm>
        <a:graphic>
          <a:graphicData uri="http://schemas.openxmlformats.org/drawingml/2006/table">
            <a:tbl>
              <a:tblPr/>
              <a:tblGrid>
                <a:gridCol w="1463040"/>
                <a:gridCol w="2377440"/>
              </a:tblGrid>
              <a:tr h="31089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Piece</a:t>
                      </a:r>
                      <a:endParaRPr lang="en-US" sz="105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Meaning</a:t>
                      </a:r>
                      <a:endParaRPr lang="en-US" sz="105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10896">
                <a:tc>
                  <a:txBody>
                    <a:bodyPr/>
                    <a:lstStyle/>
                    <a:p>
                      <a:pPr marL="0" indent="0">
                        <a:buNone/>
                      </a:pPr>
                      <a:r>
                        <a:rPr lang="en-US" sz="95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@app.get(...)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50" dirty="0">
                          <a:solidFill>
                            <a:srgbClr val="2A2433"/>
                          </a:solidFill>
                          <a:latin typeface="Calibri" pitchFamily="34" charset="0"/>
                          <a:ea typeface="Calibri" pitchFamily="34" charset="-122"/>
                          <a:cs typeface="Calibri" pitchFamily="34" charset="-120"/>
                        </a:rPr>
                        <a:t>When a </a:t>
                      </a:r>
                      <a:r>
                        <a:rPr lang="en-US" sz="1050" b="1" dirty="0">
                          <a:solidFill>
                            <a:srgbClr val="2A2433"/>
                          </a:solidFill>
                          <a:latin typeface="Calibri" pitchFamily="34" charset="0"/>
                          <a:ea typeface="Calibri" pitchFamily="34" charset="-122"/>
                          <a:cs typeface="Calibri" pitchFamily="34" charset="-120"/>
                        </a:rPr>
                        <a:t>GET</a:t>
                      </a:r>
                      <a:r>
                        <a:rPr lang="en-US" sz="1050" dirty="0">
                          <a:solidFill>
                            <a:srgbClr val="2A2433"/>
                          </a:solidFill>
                          <a:latin typeface="Calibri" pitchFamily="34" charset="0"/>
                          <a:ea typeface="Calibri" pitchFamily="34" charset="-122"/>
                          <a:cs typeface="Calibri" pitchFamily="34" charset="-120"/>
                        </a:rPr>
                        <a:t> request arrives...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10896">
                <a:tc>
                  <a:txBody>
                    <a:bodyPr/>
                    <a:lstStyle/>
                    <a:p>
                      <a:pPr marL="0" indent="0">
                        <a:buNone/>
                      </a:pPr>
                      <a:r>
                        <a:rPr lang="en-US" sz="95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"/api/users/{id}"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050" dirty="0">
                          <a:solidFill>
                            <a:srgbClr val="2A2433"/>
                          </a:solidFill>
                          <a:latin typeface="Calibri" pitchFamily="34" charset="0"/>
                          <a:ea typeface="Calibri" pitchFamily="34" charset="-122"/>
                          <a:cs typeface="Calibri" pitchFamily="34" charset="-120"/>
                        </a:rPr>
                        <a:t>...for a path like this (</a:t>
                      </a:r>
                      <a:r>
                        <a:rPr lang="en-US" sz="95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{id}</a:t>
                      </a:r>
                      <a:r>
                        <a:rPr lang="en-US" sz="1050" dirty="0">
                          <a:solidFill>
                            <a:srgbClr val="2A2433"/>
                          </a:solidFill>
                          <a:latin typeface="Calibri" pitchFamily="34" charset="0"/>
                          <a:ea typeface="Calibri" pitchFamily="34" charset="-122"/>
                          <a:cs typeface="Calibri" pitchFamily="34" charset="-120"/>
                        </a:rPr>
                        <a:t> is a </a:t>
                      </a:r>
                      <a:r>
                        <a:rPr lang="en-US" sz="1050" b="1" dirty="0">
                          <a:solidFill>
                            <a:srgbClr val="2A2433"/>
                          </a:solidFill>
                          <a:latin typeface="Calibri" pitchFamily="34" charset="0"/>
                          <a:ea typeface="Calibri" pitchFamily="34" charset="-122"/>
                          <a:cs typeface="Calibri" pitchFamily="34" charset="-120"/>
                        </a:rPr>
                        <a:t>path parameter</a:t>
                      </a:r>
                      <a:r>
                        <a:rPr lang="en-US" sz="1050" dirty="0">
                          <a:solidFill>
                            <a:srgbClr val="2A2433"/>
                          </a:solidFill>
                          <a:latin typeface="Calibri" pitchFamily="34" charset="0"/>
                          <a:ea typeface="Calibri" pitchFamily="34" charset="-122"/>
                          <a:cs typeface="Calibri" pitchFamily="34" charset="-120"/>
                        </a:rPr>
                        <a: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10896">
                <a:tc>
                  <a:txBody>
                    <a:bodyPr/>
                    <a:lstStyle/>
                    <a:p>
                      <a:pPr marL="0" indent="0">
                        <a:buNone/>
                      </a:pPr>
                      <a:r>
                        <a:rPr lang="en-US" sz="95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def get_user(id):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50" dirty="0">
                          <a:solidFill>
                            <a:srgbClr val="2A2433"/>
                          </a:solidFill>
                          <a:latin typeface="Calibri" pitchFamily="34" charset="0"/>
                          <a:ea typeface="Calibri" pitchFamily="34" charset="-122"/>
                          <a:cs typeface="Calibri" pitchFamily="34" charset="-120"/>
                        </a:rPr>
                        <a:t>...run this function (the </a:t>
                      </a:r>
                      <a:r>
                        <a:rPr lang="en-US" sz="1050" b="1" dirty="0">
                          <a:solidFill>
                            <a:srgbClr val="2A2433"/>
                          </a:solidFill>
                          <a:latin typeface="Calibri" pitchFamily="34" charset="0"/>
                          <a:ea typeface="Calibri" pitchFamily="34" charset="-122"/>
                          <a:cs typeface="Calibri" pitchFamily="34" charset="-120"/>
                        </a:rPr>
                        <a:t>handler</a:t>
                      </a:r>
                      <a:r>
                        <a:rPr lang="en-US" sz="1050" dirty="0">
                          <a:solidFill>
                            <a:srgbClr val="2A2433"/>
                          </a:solidFill>
                          <a:latin typeface="Calibri" pitchFamily="34" charset="0"/>
                          <a:ea typeface="Calibri" pitchFamily="34" charset="-122"/>
                          <a:cs typeface="Calibri" pitchFamily="34" charset="-120"/>
                        </a:rPr>
                        <a:t>) with the value from the URL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10896">
                <a:tc>
                  <a:txBody>
                    <a:bodyPr/>
                    <a:lstStyle/>
                    <a:p>
                      <a:pPr marL="0" indent="0">
                        <a:buNone/>
                      </a:pPr>
                      <a:r>
                        <a:rPr lang="en-US" sz="95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return ...</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050" dirty="0">
                          <a:solidFill>
                            <a:srgbClr val="2A2433"/>
                          </a:solidFill>
                          <a:latin typeface="Calibri" pitchFamily="34" charset="0"/>
                          <a:ea typeface="Calibri" pitchFamily="34" charset="-122"/>
                          <a:cs typeface="Calibri" pitchFamily="34" charset="-120"/>
                        </a:rPr>
                        <a:t>Its result is serialized to JSON and sent back</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10" name="Shape 6"/>
          <p:cNvSpPr/>
          <p:nvPr/>
        </p:nvSpPr>
        <p:spPr>
          <a:xfrm>
            <a:off x="457200" y="3246120"/>
            <a:ext cx="2438400" cy="1325880"/>
          </a:xfrm>
          <a:prstGeom prst="rect">
            <a:avLst/>
          </a:prstGeom>
          <a:solidFill>
            <a:srgbClr val="FFFFFF"/>
          </a:solidFill>
          <a:ln w="9525">
            <a:solidFill>
              <a:srgbClr val="D6CCE6"/>
            </a:solidFill>
          </a:ln>
        </p:spPr>
      </p:sp>
      <p:sp>
        <p:nvSpPr>
          <p:cNvPr id="11" name="Text 7"/>
          <p:cNvSpPr txBox="1"/>
          <p:nvPr/>
        </p:nvSpPr>
        <p:spPr>
          <a:xfrm>
            <a:off x="548640" y="3355848"/>
            <a:ext cx="2255520" cy="274320"/>
          </a:xfrm>
          <a:prstGeom prst="rect">
            <a:avLst/>
          </a:prstGeom>
          <a:noFill/>
        </p:spPr>
        <p:txBody>
          <a:bodyPr wrap="square" lIns="0" tIns="0" rIns="0" bIns="0" rtlCol="0" anchor="ctr"/>
          <a:lstStyle/>
          <a:p>
            <a:pPr marL="0" indent="0" algn="ctr">
              <a:buNone/>
            </a:pPr>
            <a:r>
              <a:rPr lang="en-US" sz="1400" b="1" dirty="0">
                <a:solidFill>
                  <a:srgbClr val="2B1B3F"/>
                </a:solidFill>
                <a:latin typeface="Calibri" pitchFamily="34" charset="0"/>
                <a:ea typeface="Calibri" pitchFamily="34" charset="-122"/>
                <a:cs typeface="Calibri" pitchFamily="34" charset="-120"/>
              </a:rPr>
              <a:t>GET /api/users/1042</a:t>
            </a:r>
            <a:endParaRPr lang="en-US" sz="1400" dirty="0"/>
          </a:p>
        </p:txBody>
      </p:sp>
      <p:sp>
        <p:nvSpPr>
          <p:cNvPr id="12" name="Text 8"/>
          <p:cNvSpPr txBox="1"/>
          <p:nvPr/>
        </p:nvSpPr>
        <p:spPr>
          <a:xfrm>
            <a:off x="548640" y="3666744"/>
            <a:ext cx="2255520" cy="83210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Incoming request</a:t>
            </a:r>
            <a:endParaRPr lang="en-US" sz="1200" dirty="0"/>
          </a:p>
        </p:txBody>
      </p:sp>
      <p:sp>
        <p:nvSpPr>
          <p:cNvPr id="13" name="Shape 9"/>
          <p:cNvSpPr/>
          <p:nvPr/>
        </p:nvSpPr>
        <p:spPr>
          <a:xfrm>
            <a:off x="2932176" y="3790188"/>
            <a:ext cx="384048" cy="237744"/>
          </a:xfrm>
          <a:prstGeom prst="rightArrow">
            <a:avLst/>
          </a:prstGeom>
          <a:solidFill>
            <a:srgbClr val="F2705A"/>
          </a:solidFill>
          <a:ln w="12700">
            <a:solidFill>
              <a:srgbClr val="F2705A"/>
            </a:solidFill>
            <a:prstDash val="solid"/>
          </a:ln>
        </p:spPr>
      </p:sp>
      <p:sp>
        <p:nvSpPr>
          <p:cNvPr id="14" name="Shape 10"/>
          <p:cNvSpPr/>
          <p:nvPr/>
        </p:nvSpPr>
        <p:spPr>
          <a:xfrm>
            <a:off x="3352800" y="3246120"/>
            <a:ext cx="2438400" cy="1325880"/>
          </a:xfrm>
          <a:prstGeom prst="rect">
            <a:avLst/>
          </a:prstGeom>
          <a:solidFill>
            <a:srgbClr val="FDEAE5"/>
          </a:solidFill>
          <a:ln w="12700">
            <a:solidFill>
              <a:srgbClr val="FDEAE5"/>
            </a:solidFill>
            <a:prstDash val="solid"/>
          </a:ln>
        </p:spPr>
      </p:sp>
      <p:sp>
        <p:nvSpPr>
          <p:cNvPr id="15" name="Text 11"/>
          <p:cNvSpPr txBox="1"/>
          <p:nvPr/>
        </p:nvSpPr>
        <p:spPr>
          <a:xfrm>
            <a:off x="3444240" y="3355848"/>
            <a:ext cx="2255520" cy="274320"/>
          </a:xfrm>
          <a:prstGeom prst="rect">
            <a:avLst/>
          </a:prstGeom>
          <a:noFill/>
        </p:spPr>
        <p:txBody>
          <a:bodyPr wrap="square" lIns="0" tIns="0" rIns="0" bIns="0" rtlCol="0" anchor="ctr"/>
          <a:lstStyle/>
          <a:p>
            <a:pPr marL="0" indent="0" algn="ctr">
              <a:buNone/>
            </a:pPr>
            <a:r>
              <a:rPr lang="en-US" sz="1400" b="1" dirty="0">
                <a:solidFill>
                  <a:srgbClr val="2B1B3F"/>
                </a:solidFill>
                <a:latin typeface="Calibri" pitchFamily="34" charset="0"/>
                <a:ea typeface="Calibri" pitchFamily="34" charset="-122"/>
                <a:cs typeface="Calibri" pitchFamily="34" charset="-120"/>
              </a:rPr>
              <a:t>Router</a:t>
            </a:r>
            <a:endParaRPr lang="en-US" sz="1400" dirty="0"/>
          </a:p>
        </p:txBody>
      </p:sp>
      <p:sp>
        <p:nvSpPr>
          <p:cNvPr id="16" name="Text 12"/>
          <p:cNvSpPr txBox="1"/>
          <p:nvPr/>
        </p:nvSpPr>
        <p:spPr>
          <a:xfrm>
            <a:off x="3444240" y="3666744"/>
            <a:ext cx="2255520" cy="83210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Matches the method and path pattern</a:t>
            </a:r>
            <a:endParaRPr lang="en-US" sz="1200" dirty="0"/>
          </a:p>
        </p:txBody>
      </p:sp>
      <p:sp>
        <p:nvSpPr>
          <p:cNvPr id="17" name="Shape 13"/>
          <p:cNvSpPr/>
          <p:nvPr/>
        </p:nvSpPr>
        <p:spPr>
          <a:xfrm>
            <a:off x="5827776" y="3790188"/>
            <a:ext cx="384048" cy="237744"/>
          </a:xfrm>
          <a:prstGeom prst="rightArrow">
            <a:avLst/>
          </a:prstGeom>
          <a:solidFill>
            <a:srgbClr val="F2705A"/>
          </a:solidFill>
          <a:ln w="12700">
            <a:solidFill>
              <a:srgbClr val="F2705A"/>
            </a:solidFill>
            <a:prstDash val="solid"/>
          </a:ln>
        </p:spPr>
      </p:sp>
      <p:sp>
        <p:nvSpPr>
          <p:cNvPr id="18" name="Shape 14"/>
          <p:cNvSpPr/>
          <p:nvPr/>
        </p:nvSpPr>
        <p:spPr>
          <a:xfrm>
            <a:off x="6248400" y="3246120"/>
            <a:ext cx="2438400" cy="1325880"/>
          </a:xfrm>
          <a:prstGeom prst="rect">
            <a:avLst/>
          </a:prstGeom>
          <a:solidFill>
            <a:srgbClr val="FFFFFF"/>
          </a:solidFill>
          <a:ln w="9525">
            <a:solidFill>
              <a:srgbClr val="D6CCE6"/>
            </a:solidFill>
          </a:ln>
        </p:spPr>
      </p:sp>
      <p:sp>
        <p:nvSpPr>
          <p:cNvPr id="19" name="Text 15"/>
          <p:cNvSpPr txBox="1"/>
          <p:nvPr/>
        </p:nvSpPr>
        <p:spPr>
          <a:xfrm>
            <a:off x="6339840" y="3355848"/>
            <a:ext cx="2255520" cy="274320"/>
          </a:xfrm>
          <a:prstGeom prst="rect">
            <a:avLst/>
          </a:prstGeom>
          <a:noFill/>
        </p:spPr>
        <p:txBody>
          <a:bodyPr wrap="square" lIns="0" tIns="0" rIns="0" bIns="0" rtlCol="0" anchor="ctr"/>
          <a:lstStyle/>
          <a:p>
            <a:pPr marL="0" indent="0" algn="ctr">
              <a:buNone/>
            </a:pPr>
            <a:r>
              <a:rPr lang="en-US" sz="1400" b="1" dirty="0">
                <a:solidFill>
                  <a:srgbClr val="2B1B3F"/>
                </a:solidFill>
                <a:latin typeface="Calibri" pitchFamily="34" charset="0"/>
                <a:ea typeface="Calibri" pitchFamily="34" charset="-122"/>
                <a:cs typeface="Calibri" pitchFamily="34" charset="-120"/>
              </a:rPr>
              <a:t>get_user(id=1042)</a:t>
            </a:r>
            <a:endParaRPr lang="en-US" sz="1400" dirty="0"/>
          </a:p>
        </p:txBody>
      </p:sp>
      <p:sp>
        <p:nvSpPr>
          <p:cNvPr id="20" name="Text 16"/>
          <p:cNvSpPr txBox="1"/>
          <p:nvPr/>
        </p:nvSpPr>
        <p:spPr>
          <a:xfrm>
            <a:off x="6339840" y="3666744"/>
            <a:ext cx="2255520" cy="83210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The handler runs</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Same path, different methods, different handlers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58" name="Table 0"/>
          <p:cNvGraphicFramePr>
            <a:graphicFrameLocks noGrp="1"/>
          </p:cNvGraphicFramePr>
          <p:nvPr/>
        </p:nvGraphicFramePr>
        <p:xfrm>
          <a:off x="457200" y="1325880"/>
          <a:ext cx="8229600" cy="1609344"/>
        </p:xfrm>
        <a:graphic>
          <a:graphicData uri="http://schemas.openxmlformats.org/drawingml/2006/table">
            <a:tbl>
              <a:tblPr/>
              <a:tblGrid>
                <a:gridCol w="3474720"/>
                <a:gridCol w="2377440"/>
                <a:gridCol w="2377440"/>
              </a:tblGrid>
              <a:tr h="402336">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Request</a:t>
                      </a:r>
                      <a:endParaRPr lang="en-US" sz="14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Handler</a:t>
                      </a:r>
                      <a:endParaRPr lang="en-US" sz="14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Access check?</a:t>
                      </a:r>
                      <a:endParaRPr lang="en-US" sz="14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/api/users/{id}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get_user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400" dirty="0">
                          <a:solidFill>
                            <a:srgbClr val="2A2433"/>
                          </a:solidFill>
                          <a:latin typeface="Calibri" pitchFamily="34" charset="0"/>
                          <a:ea typeface="Calibri" pitchFamily="34" charset="-122"/>
                          <a:cs typeface="Calibri" pitchFamily="34" charset="-120"/>
                        </a:rPr>
                        <a:t>✔ present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PUT /api/users/{id}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replace_user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400" dirty="0">
                          <a:solidFill>
                            <a:srgbClr val="2A2433"/>
                          </a:solidFill>
                          <a:latin typeface="Calibri" pitchFamily="34" charset="0"/>
                          <a:ea typeface="Calibri" pitchFamily="34" charset="-122"/>
                          <a:cs typeface="Calibri" pitchFamily="34" charset="-120"/>
                        </a:rPr>
                        <a:t>✔ present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 /api/users/{id}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delete_user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400" dirty="0">
                          <a:solidFill>
                            <a:srgbClr val="2A2433"/>
                          </a:solidFill>
                          <a:latin typeface="Calibri" pitchFamily="34" charset="0"/>
                          <a:ea typeface="Calibri" pitchFamily="34" charset="-122"/>
                          <a:cs typeface="Calibri" pitchFamily="34" charset="-120"/>
                        </a:rPr>
                        <a:t>✘ forgotten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7" name="Shape 3"/>
          <p:cNvSpPr/>
          <p:nvPr/>
        </p:nvSpPr>
        <p:spPr>
          <a:xfrm>
            <a:off x="457200" y="3108960"/>
            <a:ext cx="8229600" cy="914400"/>
          </a:xfrm>
          <a:prstGeom prst="rect">
            <a:avLst/>
          </a:prstGeom>
          <a:solidFill>
            <a:srgbClr val="FDEAE5"/>
          </a:solidFill>
          <a:ln w="12700">
            <a:solidFill>
              <a:srgbClr val="FDEAE5"/>
            </a:solidFill>
            <a:prstDash val="solid"/>
          </a:ln>
        </p:spPr>
      </p:sp>
      <p:sp>
        <p:nvSpPr>
          <p:cNvPr id="8" name="Shape 4"/>
          <p:cNvSpPr/>
          <p:nvPr/>
        </p:nvSpPr>
        <p:spPr>
          <a:xfrm>
            <a:off x="640080" y="3337560"/>
            <a:ext cx="457200" cy="457200"/>
          </a:xfrm>
          <a:prstGeom prst="roundRect">
            <a:avLst>
              <a:gd name="adj" fmla="val 24000"/>
            </a:avLst>
          </a:prstGeom>
          <a:solidFill>
            <a:srgbClr val="F2705A"/>
          </a:solidFill>
          <a:ln w="12700">
            <a:solidFill>
              <a:srgbClr val="F2705A"/>
            </a:solidFill>
            <a:prstDash val="solid"/>
          </a:ln>
        </p:spPr>
      </p:sp>
      <p:pic>
        <p:nvPicPr>
          <p:cNvPr id="9" name="Image 0" descr="preencoded.png"/>
          <p:cNvPicPr>
            <a:picLocks noChangeAspect="1"/>
          </p:cNvPicPr>
          <p:nvPr/>
        </p:nvPicPr>
        <p:blipFill>
          <a:blip r:embed="rId1"/>
          <a:stretch>
            <a:fillRect/>
          </a:stretch>
        </p:blipFill>
        <p:spPr>
          <a:xfrm>
            <a:off x="754380" y="3451860"/>
            <a:ext cx="228600" cy="228600"/>
          </a:xfrm>
          <a:prstGeom prst="rect">
            <a:avLst/>
          </a:prstGeom>
        </p:spPr>
      </p:pic>
      <p:sp>
        <p:nvSpPr>
          <p:cNvPr id="10" name="Text 5"/>
          <p:cNvSpPr txBox="1"/>
          <p:nvPr/>
        </p:nvSpPr>
        <p:spPr>
          <a:xfrm>
            <a:off x="1280160" y="3108960"/>
            <a:ext cx="7223760" cy="914400"/>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Each method is </a:t>
            </a:r>
            <a:r>
              <a:rPr lang="en-US" sz="1400" b="1" dirty="0">
                <a:solidFill>
                  <a:srgbClr val="2A2433"/>
                </a:solidFill>
                <a:latin typeface="Calibri" pitchFamily="34" charset="0"/>
                <a:ea typeface="Calibri" pitchFamily="34" charset="-122"/>
                <a:cs typeface="Calibri" pitchFamily="34" charset="-120"/>
              </a:rPr>
              <a:t>its own function</a:t>
            </a:r>
            <a:r>
              <a:rPr lang="en-US" sz="1400" dirty="0">
                <a:solidFill>
                  <a:srgbClr val="2A2433"/>
                </a:solidFill>
                <a:latin typeface="Calibri" pitchFamily="34" charset="0"/>
                <a:ea typeface="Calibri" pitchFamily="34" charset="-122"/>
                <a:cs typeface="Calibri" pitchFamily="34" charset="-120"/>
              </a:rPr>
              <a:t> with its own (possibly missing) check. Protection on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a:t>
            </a:r>
            <a:r>
              <a:rPr lang="en-US" sz="1400" dirty="0">
                <a:solidFill>
                  <a:srgbClr val="2A2433"/>
                </a:solidFill>
                <a:latin typeface="Calibri" pitchFamily="34" charset="0"/>
                <a:ea typeface="Calibri" pitchFamily="34" charset="-122"/>
                <a:cs typeface="Calibri" pitchFamily="34" charset="-120"/>
              </a:rPr>
              <a:t> says nothing about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400" dirty="0">
                <a:solidFill>
                  <a:srgbClr val="2A2433"/>
                </a:solidFill>
                <a:latin typeface="Calibri" pitchFamily="34" charset="0"/>
                <a:ea typeface="Calibri" pitchFamily="34" charset="-122"/>
                <a:cs typeface="Calibri" pitchFamily="34" charset="-120"/>
              </a:rPr>
              <a:t>. So: always test other methods on the same path.</a:t>
            </a:r>
            <a:endParaRPr lang="en-US" sz="1400" dirty="0"/>
          </a:p>
        </p:txBody>
      </p:sp>
      <p:sp>
        <p:nvSpPr>
          <p:cNvPr id="11" name="Text 6"/>
          <p:cNvSpPr txBox="1"/>
          <p:nvPr/>
        </p:nvSpPr>
        <p:spPr>
          <a:xfrm>
            <a:off x="457200" y="4206240"/>
            <a:ext cx="8229600" cy="365760"/>
          </a:xfrm>
          <a:prstGeom prst="rect">
            <a:avLst/>
          </a:prstGeom>
          <a:noFill/>
        </p:spPr>
        <p:txBody>
          <a:bodyPr wrap="square" lIns="0" tIns="0" rIns="0" bIns="0" rtlCol="0" anchor="t"/>
          <a:lstStyle/>
          <a:p>
            <a:pPr marL="0" indent="0" algn="l">
              <a:buNone/>
            </a:pPr>
            <a:r>
              <a:rPr lang="en-US" sz="1300" dirty="0">
                <a:solidFill>
                  <a:srgbClr val="655C73"/>
                </a:solidFill>
                <a:latin typeface="Calibri" pitchFamily="34" charset="0"/>
                <a:ea typeface="Calibri" pitchFamily="34" charset="-122"/>
                <a:cs typeface="Calibri" pitchFamily="34" charset="-120"/>
              </a:rPr>
              <a:t>A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404</a:t>
            </a:r>
            <a:r>
              <a:rPr lang="en-US" sz="1300" dirty="0">
                <a:solidFill>
                  <a:srgbClr val="655C73"/>
                </a:solidFill>
                <a:latin typeface="Calibri" pitchFamily="34" charset="0"/>
                <a:ea typeface="Calibri" pitchFamily="34" charset="-122"/>
                <a:cs typeface="Calibri" pitchFamily="34" charset="-120"/>
              </a:rPr>
              <a:t> may come from the </a:t>
            </a:r>
            <a:r>
              <a:rPr lang="en-US" sz="1300" b="1" dirty="0">
                <a:solidFill>
                  <a:srgbClr val="655C73"/>
                </a:solidFill>
                <a:latin typeface="Calibri" pitchFamily="34" charset="0"/>
                <a:ea typeface="Calibri" pitchFamily="34" charset="-122"/>
                <a:cs typeface="Calibri" pitchFamily="34" charset="-120"/>
              </a:rPr>
              <a:t>router</a:t>
            </a:r>
            <a:r>
              <a:rPr lang="en-US" sz="1300" dirty="0">
                <a:solidFill>
                  <a:srgbClr val="655C73"/>
                </a:solidFill>
                <a:latin typeface="Calibri" pitchFamily="34" charset="0"/>
                <a:ea typeface="Calibri" pitchFamily="34" charset="-122"/>
                <a:cs typeface="Calibri" pitchFamily="34" charset="-120"/>
              </a:rPr>
              <a:t> (no handler matches) or from the </a:t>
            </a:r>
            <a:r>
              <a:rPr lang="en-US" sz="1300" b="1" dirty="0">
                <a:solidFill>
                  <a:srgbClr val="655C73"/>
                </a:solidFill>
                <a:latin typeface="Calibri" pitchFamily="34" charset="0"/>
                <a:ea typeface="Calibri" pitchFamily="34" charset="-122"/>
                <a:cs typeface="Calibri" pitchFamily="34" charset="-120"/>
              </a:rPr>
              <a:t>handler</a:t>
            </a:r>
            <a:r>
              <a:rPr lang="en-US" sz="1300" dirty="0">
                <a:solidFill>
                  <a:srgbClr val="655C73"/>
                </a:solidFill>
                <a:latin typeface="Calibri" pitchFamily="34" charset="0"/>
                <a:ea typeface="Calibri" pitchFamily="34" charset="-122"/>
                <a:cs typeface="Calibri" pitchFamily="34" charset="-120"/>
              </a:rPr>
              <a:t> (no such user).</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Reading a REST request and response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73736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REQUEST: LIST WITH FILTER + PAGING</a:t>
            </a:r>
            <a:endParaRPr lang="en-US" sz="1000" dirty="0"/>
          </a:p>
        </p:txBody>
      </p:sp>
      <p:sp>
        <p:nvSpPr>
          <p:cNvPr id="8" name="Text 5"/>
          <p:cNvSpPr txBox="1"/>
          <p:nvPr/>
        </p:nvSpPr>
        <p:spPr>
          <a:xfrm>
            <a:off x="640080" y="1627632"/>
            <a:ext cx="3657600" cy="129844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GET /api/v1/orders?status=shipped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&amp;limit=2&amp;page=1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Host: shop.example.com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Accept: application/json</a:t>
            </a:r>
            <a:endParaRPr lang="en-US" sz="1000" dirty="0"/>
          </a:p>
        </p:txBody>
      </p:sp>
      <p:sp>
        <p:nvSpPr>
          <p:cNvPr id="9" name="Shape 6"/>
          <p:cNvSpPr/>
          <p:nvPr/>
        </p:nvSpPr>
        <p:spPr>
          <a:xfrm>
            <a:off x="4663440" y="1280160"/>
            <a:ext cx="4023360" cy="3200400"/>
          </a:xfrm>
          <a:prstGeom prst="rect">
            <a:avLst/>
          </a:prstGeom>
          <a:solidFill>
            <a:srgbClr val="241733"/>
          </a:solidFill>
          <a:ln w="12700">
            <a:solidFill>
              <a:srgbClr val="24173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RESPONSE</a:t>
            </a:r>
            <a:endParaRPr lang="en-US" sz="1000" dirty="0"/>
          </a:p>
        </p:txBody>
      </p:sp>
      <p:sp>
        <p:nvSpPr>
          <p:cNvPr id="11" name="Text 8"/>
          <p:cNvSpPr txBox="1"/>
          <p:nvPr/>
        </p:nvSpPr>
        <p:spPr>
          <a:xfrm>
            <a:off x="4846320" y="1627632"/>
            <a:ext cx="3657600" cy="276148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HTTP/1.1 200 OK</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X-Total-Count: 57</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"data":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88104, "userId": 1042},</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88090, "userId": 1042}</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"page": 1, "limit": 2,</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"next": "/api/v1/orders?page=2"</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sp>
        <p:nvSpPr>
          <p:cNvPr id="12" name="Text 9"/>
          <p:cNvSpPr txBox="1"/>
          <p:nvPr/>
        </p:nvSpPr>
        <p:spPr>
          <a:xfrm>
            <a:off x="457200" y="3246120"/>
            <a:ext cx="4023360" cy="1280160"/>
          </a:xfrm>
          <a:prstGeom prst="rect">
            <a:avLst/>
          </a:prstGeom>
          <a:noFill/>
        </p:spPr>
        <p:txBody>
          <a:bodyPr wrap="square" lIns="0" tIns="0" rIns="0" bIns="0" rtlCol="0" anchor="t"/>
          <a:lstStyle/>
          <a:p>
            <a:pPr marL="0" indent="0" algn="l">
              <a:spcAft>
                <a:spcPts val="300"/>
              </a:spcAft>
              <a:buNone/>
            </a:pPr>
            <a:r>
              <a:rPr lang="en-US" sz="1300" dirty="0">
                <a:solidFill>
                  <a:srgbClr val="2A2433"/>
                </a:solidFill>
                <a:latin typeface="Calibri" pitchFamily="34" charset="0"/>
                <a:ea typeface="Calibri" pitchFamily="34" charset="-122"/>
                <a:cs typeface="Calibri" pitchFamily="34" charset="-120"/>
              </a:rPr>
              <a:t>Spot the ideas:</a:t>
            </a:r>
            <a:endParaRPr lang="en-US" sz="1300" dirty="0"/>
          </a:p>
          <a:p>
            <a:pPr marL="0" indent="0" algn="l">
              <a:spcAft>
                <a:spcPts val="300"/>
              </a:spcAft>
              <a:buNone/>
            </a:pPr>
            <a:r>
              <a:rPr lang="en-US" sz="1300" b="1" dirty="0">
                <a:solidFill>
                  <a:srgbClr val="2A2433"/>
                </a:solidFill>
                <a:latin typeface="Calibri" pitchFamily="34" charset="0"/>
                <a:ea typeface="Calibri" pitchFamily="34" charset="-122"/>
                <a:cs typeface="Calibri" pitchFamily="34" charset="-120"/>
              </a:rPr>
              <a:t>Filter</a:t>
            </a:r>
            <a:r>
              <a:rPr lang="en-US" sz="1300" dirty="0">
                <a:solidFill>
                  <a:srgbClr val="2A2433"/>
                </a:solidFill>
                <a:latin typeface="Calibri" pitchFamily="34" charset="0"/>
                <a:ea typeface="Calibri" pitchFamily="34" charset="-122"/>
                <a:cs typeface="Calibri" pitchFamily="34" charset="-120"/>
              </a:rPr>
              <a: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status=shipped</a:t>
            </a:r>
            <a:endParaRPr lang="en-US" sz="1300" dirty="0"/>
          </a:p>
          <a:p>
            <a:pPr marL="0" indent="0" algn="l">
              <a:spcAft>
                <a:spcPts val="300"/>
              </a:spcAft>
              <a:buNone/>
            </a:pPr>
            <a:r>
              <a:rPr lang="en-US" sz="1300" b="1" dirty="0">
                <a:solidFill>
                  <a:srgbClr val="2A2433"/>
                </a:solidFill>
                <a:latin typeface="Calibri" pitchFamily="34" charset="0"/>
                <a:ea typeface="Calibri" pitchFamily="34" charset="-122"/>
                <a:cs typeface="Calibri" pitchFamily="34" charset="-120"/>
              </a:rPr>
              <a:t>Pagination</a:t>
            </a:r>
            <a:r>
              <a:rPr lang="en-US" sz="1300" dirty="0">
                <a:solidFill>
                  <a:srgbClr val="2A2433"/>
                </a:solidFill>
                <a:latin typeface="Calibri" pitchFamily="34" charset="0"/>
                <a:ea typeface="Calibri" pitchFamily="34" charset="-122"/>
                <a:cs typeface="Calibri" pitchFamily="34" charset="-120"/>
              </a:rPr>
              <a: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limit</a:t>
            </a:r>
            <a:r>
              <a:rPr lang="en-US" sz="1300" dirty="0">
                <a:solidFill>
                  <a:srgbClr val="2A2433"/>
                </a:solidFill>
                <a:latin typeface="Calibri" pitchFamily="34" charset="0"/>
                <a:ea typeface="Calibri" pitchFamily="34" charset="-122"/>
                <a:cs typeface="Calibri" pitchFamily="34" charset="-120"/>
              </a:rPr>
              <a: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page</a:t>
            </a:r>
            <a:r>
              <a:rPr lang="en-US" sz="1300" dirty="0">
                <a:solidFill>
                  <a:srgbClr val="2A2433"/>
                </a:solidFill>
                <a:latin typeface="Calibri" pitchFamily="34" charset="0"/>
                <a:ea typeface="Calibri" pitchFamily="34" charset="-122"/>
                <a:cs typeface="Calibri" pitchFamily="34" charset="-120"/>
              </a:rPr>
              <a: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next</a:t>
            </a:r>
            <a:endParaRPr lang="en-US" sz="1300" dirty="0"/>
          </a:p>
          <a:p>
            <a:pPr marL="0" indent="0" algn="l">
              <a:buNone/>
            </a:pPr>
            <a:r>
              <a:rPr lang="en-US" sz="1300" b="1" dirty="0">
                <a:solidFill>
                  <a:srgbClr val="2A2433"/>
                </a:solidFill>
                <a:latin typeface="Calibri" pitchFamily="34" charset="0"/>
                <a:ea typeface="Calibri" pitchFamily="34" charset="-122"/>
                <a:cs typeface="Calibri" pitchFamily="34" charset="-120"/>
              </a:rPr>
              <a:t>IDs</a:t>
            </a:r>
            <a:r>
              <a:rPr lang="en-US" sz="1300" dirty="0">
                <a:solidFill>
                  <a:srgbClr val="2A2433"/>
                </a:solidFill>
                <a:latin typeface="Calibri" pitchFamily="34" charset="0"/>
                <a:ea typeface="Calibri" pitchFamily="34" charset="-122"/>
                <a:cs typeface="Calibri" pitchFamily="34" charset="-120"/>
              </a:rPr>
              <a:t> in the body: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id</a:t>
            </a:r>
            <a:r>
              <a:rPr lang="en-US" sz="1300" dirty="0">
                <a:solidFill>
                  <a:srgbClr val="2A2433"/>
                </a:solidFill>
                <a:latin typeface="Calibri" pitchFamily="34" charset="0"/>
                <a:ea typeface="Calibri" pitchFamily="34" charset="-122"/>
                <a:cs typeface="Calibri" pitchFamily="34" charset="-120"/>
              </a:rPr>
              <a: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userId</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Create, replace, update, delete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60020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CREATE</a:t>
            </a:r>
            <a:endParaRPr lang="en-US" sz="1000" dirty="0"/>
          </a:p>
        </p:txBody>
      </p:sp>
      <p:sp>
        <p:nvSpPr>
          <p:cNvPr id="8" name="Text 5"/>
          <p:cNvSpPr txBox="1"/>
          <p:nvPr/>
        </p:nvSpPr>
        <p:spPr>
          <a:xfrm>
            <a:off x="640080" y="1627632"/>
            <a:ext cx="3657600" cy="116128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POST /api/v1/users</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{"email": "alice@example.com",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"name": "Alice"}</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-&gt; 201 Created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Location: /api/v1/users/1043</a:t>
            </a:r>
            <a:endParaRPr lang="en-US" sz="1000" dirty="0"/>
          </a:p>
        </p:txBody>
      </p:sp>
      <p:sp>
        <p:nvSpPr>
          <p:cNvPr id="9" name="Shape 6"/>
          <p:cNvSpPr/>
          <p:nvPr/>
        </p:nvSpPr>
        <p:spPr>
          <a:xfrm>
            <a:off x="4663440" y="1280160"/>
            <a:ext cx="4023360" cy="1600200"/>
          </a:xfrm>
          <a:prstGeom prst="rect">
            <a:avLst/>
          </a:prstGeom>
          <a:solidFill>
            <a:srgbClr val="241733"/>
          </a:solidFill>
          <a:ln w="12700">
            <a:solidFill>
              <a:srgbClr val="24173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REPLACE (PUT)</a:t>
            </a:r>
            <a:endParaRPr lang="en-US" sz="1000" dirty="0"/>
          </a:p>
        </p:txBody>
      </p:sp>
      <p:sp>
        <p:nvSpPr>
          <p:cNvPr id="11" name="Text 8"/>
          <p:cNvSpPr txBox="1"/>
          <p:nvPr/>
        </p:nvSpPr>
        <p:spPr>
          <a:xfrm>
            <a:off x="4846320" y="1627632"/>
            <a:ext cx="3657600" cy="116128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PUT /api/v1/users/1043</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{"email": "alice@example.com",</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"name": "Alice Smith",</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"role": "user"}</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-&gt; whole object replaced</a:t>
            </a:r>
            <a:endParaRPr lang="en-US" sz="1000" dirty="0"/>
          </a:p>
        </p:txBody>
      </p:sp>
      <p:sp>
        <p:nvSpPr>
          <p:cNvPr id="12" name="Shape 9"/>
          <p:cNvSpPr/>
          <p:nvPr/>
        </p:nvSpPr>
        <p:spPr>
          <a:xfrm>
            <a:off x="457200" y="3017520"/>
            <a:ext cx="4023360" cy="1508760"/>
          </a:xfrm>
          <a:prstGeom prst="rect">
            <a:avLst/>
          </a:prstGeom>
          <a:solidFill>
            <a:srgbClr val="241733"/>
          </a:solidFill>
          <a:ln w="12700">
            <a:solidFill>
              <a:srgbClr val="241733"/>
            </a:solidFill>
            <a:prstDash val="solid"/>
          </a:ln>
        </p:spPr>
      </p:sp>
      <p:sp>
        <p:nvSpPr>
          <p:cNvPr id="13" name="Text 10"/>
          <p:cNvSpPr txBox="1"/>
          <p:nvPr/>
        </p:nvSpPr>
        <p:spPr>
          <a:xfrm>
            <a:off x="640080" y="310896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UPDATE PART (PATCH)</a:t>
            </a:r>
            <a:endParaRPr lang="en-US" sz="1000" dirty="0"/>
          </a:p>
        </p:txBody>
      </p:sp>
      <p:sp>
        <p:nvSpPr>
          <p:cNvPr id="14" name="Text 11"/>
          <p:cNvSpPr txBox="1"/>
          <p:nvPr/>
        </p:nvSpPr>
        <p:spPr>
          <a:xfrm>
            <a:off x="640080" y="3364992"/>
            <a:ext cx="3657600" cy="106984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PATCH /api/v1/users/1043</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{"name": "Alice Smith"}</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-&gt; only "name" changes</a:t>
            </a:r>
            <a:endParaRPr lang="en-US" sz="1000" dirty="0"/>
          </a:p>
        </p:txBody>
      </p:sp>
      <p:sp>
        <p:nvSpPr>
          <p:cNvPr id="15" name="Shape 12"/>
          <p:cNvSpPr/>
          <p:nvPr/>
        </p:nvSpPr>
        <p:spPr>
          <a:xfrm>
            <a:off x="4663440" y="3017520"/>
            <a:ext cx="4023360" cy="1508760"/>
          </a:xfrm>
          <a:prstGeom prst="rect">
            <a:avLst/>
          </a:prstGeom>
          <a:solidFill>
            <a:srgbClr val="241733"/>
          </a:solidFill>
          <a:ln w="12700">
            <a:solidFill>
              <a:srgbClr val="241733"/>
            </a:solidFill>
            <a:prstDash val="solid"/>
          </a:ln>
        </p:spPr>
      </p:sp>
      <p:sp>
        <p:nvSpPr>
          <p:cNvPr id="16" name="Text 13"/>
          <p:cNvSpPr txBox="1"/>
          <p:nvPr/>
        </p:nvSpPr>
        <p:spPr>
          <a:xfrm>
            <a:off x="4846320" y="310896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DELETE</a:t>
            </a:r>
            <a:endParaRPr lang="en-US" sz="1000" dirty="0"/>
          </a:p>
        </p:txBody>
      </p:sp>
      <p:sp>
        <p:nvSpPr>
          <p:cNvPr id="17" name="Text 14"/>
          <p:cNvSpPr txBox="1"/>
          <p:nvPr/>
        </p:nvSpPr>
        <p:spPr>
          <a:xfrm>
            <a:off x="4846320" y="3364992"/>
            <a:ext cx="3657600" cy="106984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DELETE /api/v1/users/1043</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-&gt; 204 No Content</a:t>
            </a:r>
            <a:endParaRPr lang="en-US" sz="10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Recognising REST in Burp and DevTools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10081"/>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325880"/>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Paths that are </a:t>
            </a:r>
            <a:r>
              <a:rPr lang="en-US" sz="1500" b="1" dirty="0">
                <a:solidFill>
                  <a:srgbClr val="2A2433"/>
                </a:solidFill>
                <a:latin typeface="Calibri" pitchFamily="34" charset="0"/>
                <a:ea typeface="Calibri" pitchFamily="34" charset="-122"/>
                <a:cs typeface="Calibri" pitchFamily="34" charset="-120"/>
              </a:rPr>
              <a:t>nouns with IDs</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/api/v1/users/1042/orders</a:t>
            </a:r>
            <a:endParaRPr lang="en-US" sz="1500" dirty="0"/>
          </a:p>
        </p:txBody>
      </p:sp>
      <p:sp>
        <p:nvSpPr>
          <p:cNvPr id="8" name="Shape 5"/>
          <p:cNvSpPr/>
          <p:nvPr/>
        </p:nvSpPr>
        <p:spPr>
          <a:xfrm>
            <a:off x="502920" y="1797939"/>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713738"/>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Several methods on the same path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PUT</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500" dirty="0">
                <a:solidFill>
                  <a:srgbClr val="2A2433"/>
                </a:solidFill>
                <a:latin typeface="Calibri" pitchFamily="34" charset="0"/>
                <a:ea typeface="Calibri" pitchFamily="34" charset="-122"/>
                <a:cs typeface="Calibri" pitchFamily="34" charset="-120"/>
              </a:rPr>
              <a:t>)</a:t>
            </a:r>
            <a:endParaRPr lang="en-US" sz="1500" dirty="0"/>
          </a:p>
        </p:txBody>
      </p:sp>
      <p:sp>
        <p:nvSpPr>
          <p:cNvPr id="10" name="Shape 7"/>
          <p:cNvSpPr/>
          <p:nvPr/>
        </p:nvSpPr>
        <p:spPr>
          <a:xfrm>
            <a:off x="502920" y="2185797"/>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101596"/>
            <a:ext cx="7973568" cy="492252"/>
          </a:xfrm>
          <a:prstGeom prst="rect">
            <a:avLst/>
          </a:prstGeom>
          <a:noFill/>
        </p:spPr>
        <p:txBody>
          <a:bodyPr wrap="square" lIns="0" tIns="0" rIns="0" bIns="0" rtlCol="0" anchor="t"/>
          <a:lstStyle/>
          <a:p>
            <a:pPr marL="0" indent="0" algn="l">
              <a:buNone/>
            </a:pP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r>
              <a:rPr lang="en-US" sz="1500" dirty="0">
                <a:solidFill>
                  <a:srgbClr val="2A2433"/>
                </a:solidFill>
                <a:latin typeface="Calibri" pitchFamily="34" charset="0"/>
                <a:ea typeface="Calibri" pitchFamily="34" charset="-122"/>
                <a:cs typeface="Calibri" pitchFamily="34" charset="-120"/>
              </a:rPr>
              <a:t> and meaningful </a:t>
            </a:r>
            <a:r>
              <a:rPr lang="en-US" sz="1500" b="1" dirty="0">
                <a:solidFill>
                  <a:srgbClr val="2A2433"/>
                </a:solidFill>
                <a:latin typeface="Calibri" pitchFamily="34" charset="0"/>
                <a:ea typeface="Calibri" pitchFamily="34" charset="-122"/>
                <a:cs typeface="Calibri" pitchFamily="34" charset="-120"/>
              </a:rPr>
              <a:t>status codes</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201</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204</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404</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409</a:t>
            </a:r>
            <a:r>
              <a:rPr lang="en-US" sz="1500" dirty="0">
                <a:solidFill>
                  <a:srgbClr val="2A2433"/>
                </a:solidFill>
                <a:latin typeface="Calibri" pitchFamily="34" charset="0"/>
                <a:ea typeface="Calibri" pitchFamily="34" charset="-122"/>
                <a:cs typeface="Calibri" pitchFamily="34" charset="-120"/>
              </a:rPr>
              <a:t>)</a:t>
            </a:r>
            <a:endParaRPr lang="en-US" sz="1400" dirty="0"/>
          </a:p>
        </p:txBody>
      </p:sp>
      <p:sp>
        <p:nvSpPr>
          <p:cNvPr id="12" name="Shape 9"/>
          <p:cNvSpPr/>
          <p:nvPr/>
        </p:nvSpPr>
        <p:spPr>
          <a:xfrm>
            <a:off x="502920" y="2806065"/>
            <a:ext cx="82296" cy="82296"/>
          </a:xfrm>
          <a:prstGeom prst="rect">
            <a:avLst/>
          </a:prstGeom>
          <a:solidFill>
            <a:srgbClr val="F2705A"/>
          </a:solidFill>
          <a:ln w="12700">
            <a:solidFill>
              <a:srgbClr val="F2705A"/>
            </a:solidFill>
            <a:prstDash val="solid"/>
          </a:ln>
        </p:spPr>
      </p:sp>
      <p:sp>
        <p:nvSpPr>
          <p:cNvPr id="13" name="Text 10"/>
          <p:cNvSpPr txBox="1"/>
          <p:nvPr/>
        </p:nvSpPr>
        <p:spPr>
          <a:xfrm>
            <a:off x="713232" y="2721864"/>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Prefixes like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/v1/</a:t>
            </a:r>
            <a:r>
              <a:rPr lang="en-US" sz="1500" dirty="0">
                <a:solidFill>
                  <a:srgbClr val="2A2433"/>
                </a:solidFill>
                <a:latin typeface="Calibri" pitchFamily="34" charset="0"/>
                <a:ea typeface="Calibri" pitchFamily="34" charset="-122"/>
                <a:cs typeface="Calibri" pitchFamily="34" charset="-120"/>
              </a:rPr>
              <a:t>,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/rest/</a:t>
            </a:r>
            <a:endParaRPr lang="en-US" sz="1500" dirty="0"/>
          </a:p>
        </p:txBody>
      </p:sp>
      <p:sp>
        <p:nvSpPr>
          <p:cNvPr id="14" name="Shape 11"/>
          <p:cNvSpPr/>
          <p:nvPr/>
        </p:nvSpPr>
        <p:spPr>
          <a:xfrm>
            <a:off x="502920" y="3193923"/>
            <a:ext cx="82296" cy="82296"/>
          </a:xfrm>
          <a:prstGeom prst="rect">
            <a:avLst/>
          </a:prstGeom>
          <a:solidFill>
            <a:srgbClr val="F2705A"/>
          </a:solidFill>
          <a:ln w="12700">
            <a:solidFill>
              <a:srgbClr val="F2705A"/>
            </a:solidFill>
            <a:prstDash val="solid"/>
          </a:ln>
        </p:spPr>
      </p:sp>
      <p:sp>
        <p:nvSpPr>
          <p:cNvPr id="15" name="Text 12"/>
          <p:cNvSpPr txBox="1"/>
          <p:nvPr/>
        </p:nvSpPr>
        <p:spPr>
          <a:xfrm>
            <a:off x="713232" y="3109722"/>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Swagger / OpenAPI docs (see 1.7)</a:t>
            </a:r>
            <a:endParaRPr lang="en-US" sz="1500" dirty="0"/>
          </a:p>
        </p:txBody>
      </p:sp>
      <p:sp>
        <p:nvSpPr>
          <p:cNvPr id="16" name="Shape 13"/>
          <p:cNvSpPr/>
          <p:nvPr/>
        </p:nvSpPr>
        <p:spPr>
          <a:xfrm>
            <a:off x="502920" y="3581781"/>
            <a:ext cx="82296" cy="82296"/>
          </a:xfrm>
          <a:prstGeom prst="rect">
            <a:avLst/>
          </a:prstGeom>
          <a:solidFill>
            <a:srgbClr val="F2705A"/>
          </a:solidFill>
          <a:ln w="12700">
            <a:solidFill>
              <a:srgbClr val="F2705A"/>
            </a:solidFill>
            <a:prstDash val="solid"/>
          </a:ln>
        </p:spPr>
      </p:sp>
      <p:sp>
        <p:nvSpPr>
          <p:cNvPr id="17" name="Text 14"/>
          <p:cNvSpPr txBox="1"/>
          <p:nvPr/>
        </p:nvSpPr>
        <p:spPr>
          <a:xfrm>
            <a:off x="713232" y="3497580"/>
            <a:ext cx="797356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DevTools Fetch/XHR: JSON bodies with different verbs</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2.1 · REST</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REST: security-relevant notes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53162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Object IDs in paths</a:t>
            </a:r>
            <a:endParaRPr lang="en-US" sz="1300" dirty="0"/>
          </a:p>
        </p:txBody>
      </p:sp>
      <p:sp>
        <p:nvSpPr>
          <p:cNvPr id="10" name="Text 6"/>
          <p:cNvSpPr txBox="1"/>
          <p:nvPr/>
        </p:nvSpPr>
        <p:spPr>
          <a:xfrm>
            <a:off x="621792" y="2282063"/>
            <a:ext cx="2292096" cy="483997"/>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Missing check: does this order belong to the caller? (BOLA)</a:t>
            </a:r>
            <a:endParaRPr lang="en-US" sz="1200" dirty="0"/>
          </a:p>
        </p:txBody>
      </p:sp>
      <p:sp>
        <p:nvSpPr>
          <p:cNvPr id="11" name="Shape 7"/>
          <p:cNvSpPr/>
          <p:nvPr/>
        </p:nvSpPr>
        <p:spPr>
          <a:xfrm>
            <a:off x="3261360" y="1325880"/>
            <a:ext cx="2621280" cy="1531620"/>
          </a:xfrm>
          <a:prstGeom prst="rect">
            <a:avLst/>
          </a:prstGeom>
          <a:solidFill>
            <a:srgbClr val="FFFFFF"/>
          </a:solidFill>
          <a:ln w="9525">
            <a:solidFill>
              <a:srgbClr val="D6CCE6"/>
            </a:solidFill>
          </a:ln>
        </p:spPr>
      </p:sp>
      <p:sp>
        <p:nvSpPr>
          <p:cNvPr id="12" name="Shape 8"/>
          <p:cNvSpPr/>
          <p:nvPr/>
        </p:nvSpPr>
        <p:spPr>
          <a:xfrm>
            <a:off x="342595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28822" y="1593342"/>
            <a:ext cx="205740" cy="205740"/>
          </a:xfrm>
          <a:prstGeom prst="rect">
            <a:avLst/>
          </a:prstGeom>
        </p:spPr>
      </p:pic>
      <p:sp>
        <p:nvSpPr>
          <p:cNvPr id="14" name="Text 9"/>
          <p:cNvSpPr txBox="1"/>
          <p:nvPr/>
        </p:nvSpPr>
        <p:spPr>
          <a:xfrm>
            <a:off x="342595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Method tampering</a:t>
            </a:r>
            <a:endParaRPr lang="en-US" sz="1300" dirty="0"/>
          </a:p>
        </p:txBody>
      </p:sp>
      <p:sp>
        <p:nvSpPr>
          <p:cNvPr id="15" name="Text 10"/>
          <p:cNvSpPr txBox="1"/>
          <p:nvPr/>
        </p:nvSpPr>
        <p:spPr>
          <a:xfrm>
            <a:off x="3425952" y="2282063"/>
            <a:ext cx="2292096" cy="483997"/>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Each method has its own handler; try PUT and DELETE</a:t>
            </a:r>
            <a:endParaRPr lang="en-US" sz="1200" dirty="0"/>
          </a:p>
        </p:txBody>
      </p:sp>
      <p:sp>
        <p:nvSpPr>
          <p:cNvPr id="16" name="Shape 11"/>
          <p:cNvSpPr/>
          <p:nvPr/>
        </p:nvSpPr>
        <p:spPr>
          <a:xfrm>
            <a:off x="6065520" y="1325880"/>
            <a:ext cx="2621280" cy="1531620"/>
          </a:xfrm>
          <a:prstGeom prst="rect">
            <a:avLst/>
          </a:prstGeom>
          <a:solidFill>
            <a:srgbClr val="FFFFFF"/>
          </a:solidFill>
          <a:ln w="9525">
            <a:solidFill>
              <a:srgbClr val="D6CCE6"/>
            </a:solidFill>
          </a:ln>
        </p:spPr>
      </p:sp>
      <p:sp>
        <p:nvSpPr>
          <p:cNvPr id="17" name="Shape 12"/>
          <p:cNvSpPr/>
          <p:nvPr/>
        </p:nvSpPr>
        <p:spPr>
          <a:xfrm>
            <a:off x="6230112" y="1490472"/>
            <a:ext cx="411480" cy="41148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32982" y="1593342"/>
            <a:ext cx="205740" cy="205740"/>
          </a:xfrm>
          <a:prstGeom prst="rect">
            <a:avLst/>
          </a:prstGeom>
        </p:spPr>
      </p:pic>
      <p:sp>
        <p:nvSpPr>
          <p:cNvPr id="19" name="Text 13"/>
          <p:cNvSpPr txBox="1"/>
          <p:nvPr/>
        </p:nvSpPr>
        <p:spPr>
          <a:xfrm>
            <a:off x="623011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Mass assignment</a:t>
            </a:r>
            <a:endParaRPr lang="en-US" sz="1300" dirty="0"/>
          </a:p>
        </p:txBody>
      </p:sp>
      <p:sp>
        <p:nvSpPr>
          <p:cNvPr id="20" name="Text 14"/>
          <p:cNvSpPr txBox="1"/>
          <p:nvPr/>
        </p:nvSpPr>
        <p:spPr>
          <a:xfrm>
            <a:off x="6230112" y="2282063"/>
            <a:ext cx="2292096" cy="483997"/>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Handlers that copy the whole body: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"role": "admin"</a:t>
            </a:r>
            <a:endParaRPr lang="en-US" sz="1200" dirty="0"/>
          </a:p>
        </p:txBody>
      </p:sp>
      <p:sp>
        <p:nvSpPr>
          <p:cNvPr id="21" name="Shape 15"/>
          <p:cNvSpPr/>
          <p:nvPr/>
        </p:nvSpPr>
        <p:spPr>
          <a:xfrm>
            <a:off x="457200" y="3040380"/>
            <a:ext cx="2621280" cy="1531620"/>
          </a:xfrm>
          <a:prstGeom prst="rect">
            <a:avLst/>
          </a:prstGeom>
          <a:solidFill>
            <a:srgbClr val="FFFFFF"/>
          </a:solidFill>
          <a:ln w="9525">
            <a:solidFill>
              <a:srgbClr val="D6CCE6"/>
            </a:solidFill>
          </a:ln>
        </p:spPr>
      </p:sp>
      <p:sp>
        <p:nvSpPr>
          <p:cNvPr id="22" name="Shape 16"/>
          <p:cNvSpPr/>
          <p:nvPr/>
        </p:nvSpPr>
        <p:spPr>
          <a:xfrm>
            <a:off x="621792" y="3204972"/>
            <a:ext cx="411480" cy="41148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724662" y="3307842"/>
            <a:ext cx="205740" cy="205740"/>
          </a:xfrm>
          <a:prstGeom prst="rect">
            <a:avLst/>
          </a:prstGeom>
        </p:spPr>
      </p:pic>
      <p:sp>
        <p:nvSpPr>
          <p:cNvPr id="24" name="Text 17"/>
          <p:cNvSpPr txBox="1"/>
          <p:nvPr/>
        </p:nvSpPr>
        <p:spPr>
          <a:xfrm>
            <a:off x="62179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Excessive data exposure</a:t>
            </a:r>
            <a:endParaRPr lang="en-US" sz="1300" dirty="0"/>
          </a:p>
        </p:txBody>
      </p:sp>
      <p:sp>
        <p:nvSpPr>
          <p:cNvPr id="25" name="Text 18"/>
          <p:cNvSpPr txBox="1"/>
          <p:nvPr/>
        </p:nvSpPr>
        <p:spPr>
          <a:xfrm>
            <a:off x="621792" y="3996563"/>
            <a:ext cx="2292096" cy="483997"/>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Full objects returned; client hides fields</a:t>
            </a:r>
            <a:endParaRPr lang="en-US" sz="1200" dirty="0"/>
          </a:p>
        </p:txBody>
      </p:sp>
      <p:sp>
        <p:nvSpPr>
          <p:cNvPr id="26" name="Shape 19"/>
          <p:cNvSpPr/>
          <p:nvPr/>
        </p:nvSpPr>
        <p:spPr>
          <a:xfrm>
            <a:off x="3261360" y="3040380"/>
            <a:ext cx="2621280" cy="1531620"/>
          </a:xfrm>
          <a:prstGeom prst="rect">
            <a:avLst/>
          </a:prstGeom>
          <a:solidFill>
            <a:srgbClr val="FFFFFF"/>
          </a:solidFill>
          <a:ln w="9525">
            <a:solidFill>
              <a:srgbClr val="D6CCE6"/>
            </a:solidFill>
          </a:ln>
        </p:spPr>
      </p:sp>
      <p:sp>
        <p:nvSpPr>
          <p:cNvPr id="27" name="Shape 20"/>
          <p:cNvSpPr/>
          <p:nvPr/>
        </p:nvSpPr>
        <p:spPr>
          <a:xfrm>
            <a:off x="3425952" y="3204972"/>
            <a:ext cx="411480" cy="411480"/>
          </a:xfrm>
          <a:prstGeom prst="roundRect">
            <a:avLst>
              <a:gd name="adj" fmla="val 24000"/>
            </a:avLst>
          </a:prstGeom>
          <a:solidFill>
            <a:srgbClr val="6B35B5"/>
          </a:solidFill>
          <a:ln w="12700">
            <a:solidFill>
              <a:srgbClr val="6B35B5"/>
            </a:solidFill>
            <a:prstDash val="solid"/>
          </a:ln>
        </p:spPr>
      </p:sp>
      <p:pic>
        <p:nvPicPr>
          <p:cNvPr id="28" name="Image 4" descr="preencoded.png"/>
          <p:cNvPicPr>
            <a:picLocks noChangeAspect="1"/>
          </p:cNvPicPr>
          <p:nvPr/>
        </p:nvPicPr>
        <p:blipFill>
          <a:blip r:embed="rId5"/>
          <a:stretch>
            <a:fillRect/>
          </a:stretch>
        </p:blipFill>
        <p:spPr>
          <a:xfrm>
            <a:off x="3528822" y="3307842"/>
            <a:ext cx="205740" cy="205740"/>
          </a:xfrm>
          <a:prstGeom prst="rect">
            <a:avLst/>
          </a:prstGeom>
        </p:spPr>
      </p:pic>
      <p:sp>
        <p:nvSpPr>
          <p:cNvPr id="29" name="Text 21"/>
          <p:cNvSpPr txBox="1"/>
          <p:nvPr/>
        </p:nvSpPr>
        <p:spPr>
          <a:xfrm>
            <a:off x="342595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Versioning</a:t>
            </a:r>
            <a:endParaRPr lang="en-US" sz="1300" dirty="0"/>
          </a:p>
        </p:txBody>
      </p:sp>
      <p:sp>
        <p:nvSpPr>
          <p:cNvPr id="30" name="Text 22"/>
          <p:cNvSpPr txBox="1"/>
          <p:nvPr/>
        </p:nvSpPr>
        <p:spPr>
          <a:xfrm>
            <a:off x="3425952" y="3996563"/>
            <a:ext cx="2292096" cy="483997"/>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/v1 may run older, weaker code than /v2</a:t>
            </a:r>
            <a:endParaRPr lang="en-US" sz="1200" dirty="0"/>
          </a:p>
        </p:txBody>
      </p:sp>
      <p:sp>
        <p:nvSpPr>
          <p:cNvPr id="31" name="Shape 23"/>
          <p:cNvSpPr/>
          <p:nvPr/>
        </p:nvSpPr>
        <p:spPr>
          <a:xfrm>
            <a:off x="6065520" y="3040380"/>
            <a:ext cx="2621280" cy="1531620"/>
          </a:xfrm>
          <a:prstGeom prst="rect">
            <a:avLst/>
          </a:prstGeom>
          <a:solidFill>
            <a:srgbClr val="FFFFFF"/>
          </a:solidFill>
          <a:ln w="9525">
            <a:solidFill>
              <a:srgbClr val="D6CCE6"/>
            </a:solidFill>
          </a:ln>
        </p:spPr>
      </p:sp>
      <p:sp>
        <p:nvSpPr>
          <p:cNvPr id="32" name="Shape 24"/>
          <p:cNvSpPr/>
          <p:nvPr/>
        </p:nvSpPr>
        <p:spPr>
          <a:xfrm>
            <a:off x="6230112" y="3204972"/>
            <a:ext cx="411480" cy="411480"/>
          </a:xfrm>
          <a:prstGeom prst="roundRect">
            <a:avLst>
              <a:gd name="adj" fmla="val 24000"/>
            </a:avLst>
          </a:prstGeom>
          <a:solidFill>
            <a:srgbClr val="6B35B5"/>
          </a:solidFill>
          <a:ln w="12700">
            <a:solidFill>
              <a:srgbClr val="6B35B5"/>
            </a:solidFill>
            <a:prstDash val="solid"/>
          </a:ln>
        </p:spPr>
      </p:sp>
      <p:pic>
        <p:nvPicPr>
          <p:cNvPr id="33" name="Image 5" descr="preencoded.png"/>
          <p:cNvPicPr>
            <a:picLocks noChangeAspect="1"/>
          </p:cNvPicPr>
          <p:nvPr/>
        </p:nvPicPr>
        <p:blipFill>
          <a:blip r:embed="rId6"/>
          <a:stretch>
            <a:fillRect/>
          </a:stretch>
        </p:blipFill>
        <p:spPr>
          <a:xfrm>
            <a:off x="6332982" y="3307842"/>
            <a:ext cx="205740" cy="205740"/>
          </a:xfrm>
          <a:prstGeom prst="rect">
            <a:avLst/>
          </a:prstGeom>
        </p:spPr>
      </p:pic>
      <p:sp>
        <p:nvSpPr>
          <p:cNvPr id="34" name="Text 25"/>
          <p:cNvSpPr txBox="1"/>
          <p:nvPr/>
        </p:nvSpPr>
        <p:spPr>
          <a:xfrm>
            <a:off x="623011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Pagination and filters</a:t>
            </a:r>
            <a:endParaRPr lang="en-US" sz="1300" dirty="0"/>
          </a:p>
        </p:txBody>
      </p:sp>
      <p:sp>
        <p:nvSpPr>
          <p:cNvPr id="35" name="Text 26"/>
          <p:cNvSpPr txBox="1"/>
          <p:nvPr/>
        </p:nvSpPr>
        <p:spPr>
          <a:xfrm>
            <a:off x="6230112" y="3996563"/>
            <a:ext cx="2292096" cy="483997"/>
          </a:xfrm>
          <a:prstGeom prst="rect">
            <a:avLst/>
          </a:prstGeom>
          <a:noFill/>
        </p:spPr>
        <p:txBody>
          <a:bodyPr wrap="square" lIns="0" tIns="0" rIns="0" bIns="0" rtlCol="0" anchor="t"/>
          <a:lstStyle/>
          <a:p>
            <a:pPr marL="0" indent="0" algn="l">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limit=100000</a:t>
            </a:r>
            <a:r>
              <a:rPr lang="en-US" sz="1200" dirty="0">
                <a:solidFill>
                  <a:srgbClr val="2A2433"/>
                </a:solidFill>
                <a:latin typeface="Calibri" pitchFamily="34" charset="0"/>
                <a:ea typeface="Calibri" pitchFamily="34" charset="-122"/>
                <a:cs typeface="Calibri" pitchFamily="34" charset="-120"/>
              </a:rPr>
              <a:t> may dump data or exhaust resources</a:t>
            </a:r>
            <a:endParaRPr lang="en-US" sz="11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SOAP: what it is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10081"/>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325880"/>
            <a:ext cx="468172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Messages are always wrapped in an </a:t>
            </a:r>
            <a:r>
              <a:rPr lang="en-US" sz="1500" b="1" dirty="0">
                <a:solidFill>
                  <a:srgbClr val="2A2433"/>
                </a:solidFill>
                <a:latin typeface="Calibri" pitchFamily="34" charset="0"/>
                <a:ea typeface="Calibri" pitchFamily="34" charset="-122"/>
                <a:cs typeface="Calibri" pitchFamily="34" charset="-120"/>
              </a:rPr>
              <a:t>XML envelope</a:t>
            </a:r>
            <a:endParaRPr lang="en-US" sz="1500" dirty="0"/>
          </a:p>
        </p:txBody>
      </p:sp>
      <p:sp>
        <p:nvSpPr>
          <p:cNvPr id="8" name="Shape 5"/>
          <p:cNvSpPr/>
          <p:nvPr/>
        </p:nvSpPr>
        <p:spPr>
          <a:xfrm>
            <a:off x="502920" y="1797939"/>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713738"/>
            <a:ext cx="4681728" cy="49225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A </a:t>
            </a:r>
            <a:r>
              <a:rPr lang="en-US" sz="1500" b="1" dirty="0">
                <a:solidFill>
                  <a:srgbClr val="2A2433"/>
                </a:solidFill>
                <a:latin typeface="Calibri" pitchFamily="34" charset="0"/>
                <a:ea typeface="Calibri" pitchFamily="34" charset="-122"/>
                <a:cs typeface="Calibri" pitchFamily="34" charset="-120"/>
              </a:rPr>
              <a:t>WSDL</a:t>
            </a:r>
            <a:r>
              <a:rPr lang="en-US" sz="1500" dirty="0">
                <a:solidFill>
                  <a:srgbClr val="2A2433"/>
                </a:solidFill>
                <a:latin typeface="Calibri" pitchFamily="34" charset="0"/>
                <a:ea typeface="Calibri" pitchFamily="34" charset="-122"/>
                <a:cs typeface="Calibri" pitchFamily="34" charset="-120"/>
              </a:rPr>
              <a:t> file is the contract: operations, inputs, outputs, and where to send them</a:t>
            </a:r>
            <a:endParaRPr lang="en-US" sz="1500" dirty="0"/>
          </a:p>
        </p:txBody>
      </p:sp>
      <p:sp>
        <p:nvSpPr>
          <p:cNvPr id="10" name="Shape 7"/>
          <p:cNvSpPr/>
          <p:nvPr/>
        </p:nvSpPr>
        <p:spPr>
          <a:xfrm>
            <a:off x="502920" y="2418207"/>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334006"/>
            <a:ext cx="4681728" cy="49225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Usually </a:t>
            </a:r>
            <a:r>
              <a:rPr lang="en-US" sz="1500" b="1" dirty="0">
                <a:solidFill>
                  <a:srgbClr val="2A2433"/>
                </a:solidFill>
                <a:latin typeface="Calibri" pitchFamily="34" charset="0"/>
                <a:ea typeface="Calibri" pitchFamily="34" charset="-122"/>
                <a:cs typeface="Calibri" pitchFamily="34" charset="-120"/>
              </a:rPr>
              <a:t>one endpoint</a:t>
            </a:r>
            <a:r>
              <a:rPr lang="en-US" sz="1500" dirty="0">
                <a:solidFill>
                  <a:srgbClr val="2A2433"/>
                </a:solidFill>
                <a:latin typeface="Calibri" pitchFamily="34" charset="0"/>
                <a:ea typeface="Calibri" pitchFamily="34" charset="-122"/>
                <a:cs typeface="Calibri" pitchFamily="34" charset="-120"/>
              </a:rPr>
              <a:t>, always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a:t>
            </a:r>
            <a:r>
              <a:rPr lang="en-US" sz="1500" dirty="0">
                <a:solidFill>
                  <a:srgbClr val="2A2433"/>
                </a:solidFill>
                <a:latin typeface="Calibri" pitchFamily="34" charset="0"/>
                <a:ea typeface="Calibri" pitchFamily="34" charset="-122"/>
                <a:cs typeface="Calibri" pitchFamily="34" charset="-120"/>
              </a:rPr>
              <a:t>; the </a:t>
            </a:r>
            <a:r>
              <a:rPr lang="en-US" sz="1500" b="1" dirty="0">
                <a:solidFill>
                  <a:srgbClr val="2A2433"/>
                </a:solidFill>
                <a:latin typeface="Calibri" pitchFamily="34" charset="0"/>
                <a:ea typeface="Calibri" pitchFamily="34" charset="-122"/>
                <a:cs typeface="Calibri" pitchFamily="34" charset="-120"/>
              </a:rPr>
              <a:t>operation is named inside the XML</a:t>
            </a:r>
            <a:r>
              <a:rPr lang="en-US" sz="1500" dirty="0">
                <a:solidFill>
                  <a:srgbClr val="2A2433"/>
                </a:solidFill>
                <a:latin typeface="Calibri" pitchFamily="34" charset="0"/>
                <a:ea typeface="Calibri" pitchFamily="34" charset="-122"/>
                <a:cs typeface="Calibri" pitchFamily="34" charset="-120"/>
              </a:rPr>
              <a:t>, not by URL or method</a:t>
            </a:r>
            <a:endParaRPr lang="en-US" sz="1500" dirty="0"/>
          </a:p>
        </p:txBody>
      </p:sp>
      <p:sp>
        <p:nvSpPr>
          <p:cNvPr id="12" name="Shape 9"/>
          <p:cNvSpPr/>
          <p:nvPr/>
        </p:nvSpPr>
        <p:spPr>
          <a:xfrm>
            <a:off x="502920" y="3038475"/>
            <a:ext cx="82296" cy="82296"/>
          </a:xfrm>
          <a:prstGeom prst="rect">
            <a:avLst/>
          </a:prstGeom>
          <a:solidFill>
            <a:srgbClr val="F2705A"/>
          </a:solidFill>
          <a:ln w="12700">
            <a:solidFill>
              <a:srgbClr val="F2705A"/>
            </a:solidFill>
            <a:prstDash val="solid"/>
          </a:ln>
        </p:spPr>
      </p:sp>
      <p:sp>
        <p:nvSpPr>
          <p:cNvPr id="13" name="Text 10"/>
          <p:cNvSpPr txBox="1"/>
          <p:nvPr/>
        </p:nvSpPr>
        <p:spPr>
          <a:xfrm>
            <a:off x="713232" y="2954274"/>
            <a:ext cx="4681728" cy="49225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Built-in standards: </a:t>
            </a:r>
            <a:r>
              <a:rPr lang="en-US" sz="1500" b="1" dirty="0">
                <a:solidFill>
                  <a:srgbClr val="2A2433"/>
                </a:solidFill>
                <a:latin typeface="Calibri" pitchFamily="34" charset="0"/>
                <a:ea typeface="Calibri" pitchFamily="34" charset="-122"/>
                <a:cs typeface="Calibri" pitchFamily="34" charset="-120"/>
              </a:rPr>
              <a:t>WS-Security</a:t>
            </a:r>
            <a:r>
              <a:rPr lang="en-US" sz="1500" dirty="0">
                <a:solidFill>
                  <a:srgbClr val="2A2433"/>
                </a:solidFill>
                <a:latin typeface="Calibri" pitchFamily="34" charset="0"/>
                <a:ea typeface="Calibri" pitchFamily="34" charset="-122"/>
                <a:cs typeface="Calibri" pitchFamily="34" charset="-120"/>
              </a:rPr>
              <a:t>, transactions, reliable messaging</a:t>
            </a:r>
            <a:endParaRPr lang="en-US" sz="1500" dirty="0"/>
          </a:p>
        </p:txBody>
      </p:sp>
      <p:sp>
        <p:nvSpPr>
          <p:cNvPr id="14" name="Shape 11"/>
          <p:cNvSpPr/>
          <p:nvPr/>
        </p:nvSpPr>
        <p:spPr>
          <a:xfrm>
            <a:off x="5669280" y="1325880"/>
            <a:ext cx="3017520" cy="1508760"/>
          </a:xfrm>
          <a:prstGeom prst="rect">
            <a:avLst/>
          </a:prstGeom>
          <a:solidFill>
            <a:srgbClr val="FFFFFF"/>
          </a:solidFill>
          <a:ln w="9525">
            <a:solidFill>
              <a:srgbClr val="D6CCE6"/>
            </a:solidFill>
          </a:ln>
        </p:spPr>
      </p:sp>
      <p:sp>
        <p:nvSpPr>
          <p:cNvPr id="15" name="Shape 12"/>
          <p:cNvSpPr/>
          <p:nvPr/>
        </p:nvSpPr>
        <p:spPr>
          <a:xfrm>
            <a:off x="5833872" y="1490472"/>
            <a:ext cx="457200" cy="457200"/>
          </a:xfrm>
          <a:prstGeom prst="roundRect">
            <a:avLst>
              <a:gd name="adj" fmla="val 24000"/>
            </a:avLst>
          </a:prstGeom>
          <a:solidFill>
            <a:srgbClr val="6B35B5"/>
          </a:solidFill>
          <a:ln w="12700">
            <a:solidFill>
              <a:srgbClr val="6B35B5"/>
            </a:solidFill>
            <a:prstDash val="solid"/>
          </a:ln>
        </p:spPr>
      </p:sp>
      <p:pic>
        <p:nvPicPr>
          <p:cNvPr id="16" name="Image 0" descr="preencoded.png"/>
          <p:cNvPicPr>
            <a:picLocks noChangeAspect="1"/>
          </p:cNvPicPr>
          <p:nvPr/>
        </p:nvPicPr>
        <p:blipFill>
          <a:blip r:embed="rId1"/>
          <a:stretch>
            <a:fillRect/>
          </a:stretch>
        </p:blipFill>
        <p:spPr>
          <a:xfrm>
            <a:off x="5948172" y="1604772"/>
            <a:ext cx="228600" cy="228600"/>
          </a:xfrm>
          <a:prstGeom prst="rect">
            <a:avLst/>
          </a:prstGeom>
        </p:spPr>
      </p:pic>
      <p:sp>
        <p:nvSpPr>
          <p:cNvPr id="17" name="Text 13"/>
          <p:cNvSpPr txBox="1"/>
          <p:nvPr/>
        </p:nvSpPr>
        <p:spPr>
          <a:xfrm>
            <a:off x="5833872" y="2039112"/>
            <a:ext cx="268833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REST</a:t>
            </a:r>
            <a:endParaRPr lang="en-US" sz="1500" dirty="0"/>
          </a:p>
        </p:txBody>
      </p:sp>
      <p:sp>
        <p:nvSpPr>
          <p:cNvPr id="18" name="Text 14"/>
          <p:cNvSpPr txBox="1"/>
          <p:nvPr/>
        </p:nvSpPr>
        <p:spPr>
          <a:xfrm>
            <a:off x="5833872" y="2359533"/>
            <a:ext cx="268833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 quick text message</a:t>
            </a:r>
            <a:endParaRPr lang="en-US" sz="1300" dirty="0"/>
          </a:p>
        </p:txBody>
      </p:sp>
      <p:sp>
        <p:nvSpPr>
          <p:cNvPr id="19" name="Shape 15"/>
          <p:cNvSpPr/>
          <p:nvPr/>
        </p:nvSpPr>
        <p:spPr>
          <a:xfrm>
            <a:off x="5669280" y="3017520"/>
            <a:ext cx="3017520" cy="1508760"/>
          </a:xfrm>
          <a:prstGeom prst="rect">
            <a:avLst/>
          </a:prstGeom>
          <a:solidFill>
            <a:srgbClr val="FFFFFF"/>
          </a:solidFill>
          <a:ln w="9525">
            <a:solidFill>
              <a:srgbClr val="D6CCE6"/>
            </a:solidFill>
          </a:ln>
        </p:spPr>
      </p:sp>
      <p:sp>
        <p:nvSpPr>
          <p:cNvPr id="20" name="Shape 16"/>
          <p:cNvSpPr/>
          <p:nvPr/>
        </p:nvSpPr>
        <p:spPr>
          <a:xfrm>
            <a:off x="5833872" y="3182112"/>
            <a:ext cx="457200" cy="457200"/>
          </a:xfrm>
          <a:prstGeom prst="roundRect">
            <a:avLst>
              <a:gd name="adj" fmla="val 24000"/>
            </a:avLst>
          </a:prstGeom>
          <a:solidFill>
            <a:srgbClr val="6B35B5"/>
          </a:solidFill>
          <a:ln w="12700">
            <a:solidFill>
              <a:srgbClr val="6B35B5"/>
            </a:solidFill>
            <a:prstDash val="solid"/>
          </a:ln>
        </p:spPr>
      </p:sp>
      <p:pic>
        <p:nvPicPr>
          <p:cNvPr id="21" name="Image 1" descr="preencoded.png"/>
          <p:cNvPicPr>
            <a:picLocks noChangeAspect="1"/>
          </p:cNvPicPr>
          <p:nvPr/>
        </p:nvPicPr>
        <p:blipFill>
          <a:blip r:embed="rId2"/>
          <a:stretch>
            <a:fillRect/>
          </a:stretch>
        </p:blipFill>
        <p:spPr>
          <a:xfrm>
            <a:off x="5948172" y="3296412"/>
            <a:ext cx="228600" cy="228600"/>
          </a:xfrm>
          <a:prstGeom prst="rect">
            <a:avLst/>
          </a:prstGeom>
        </p:spPr>
      </p:pic>
      <p:sp>
        <p:nvSpPr>
          <p:cNvPr id="22" name="Text 17"/>
          <p:cNvSpPr txBox="1"/>
          <p:nvPr/>
        </p:nvSpPr>
        <p:spPr>
          <a:xfrm>
            <a:off x="5833872" y="3730752"/>
            <a:ext cx="268833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SOAP</a:t>
            </a:r>
            <a:endParaRPr lang="en-US" sz="1500" dirty="0"/>
          </a:p>
        </p:txBody>
      </p:sp>
      <p:sp>
        <p:nvSpPr>
          <p:cNvPr id="23" name="Text 18"/>
          <p:cNvSpPr txBox="1"/>
          <p:nvPr/>
        </p:nvSpPr>
        <p:spPr>
          <a:xfrm>
            <a:off x="5833872" y="4051173"/>
            <a:ext cx="268833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 registered letter through a courier, with a form</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How a SOAP call works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71600"/>
            <a:ext cx="1851660" cy="1874520"/>
          </a:xfrm>
          <a:prstGeom prst="rect">
            <a:avLst/>
          </a:prstGeom>
          <a:solidFill>
            <a:srgbClr val="FFFFFF"/>
          </a:solidFill>
          <a:ln w="9525">
            <a:solidFill>
              <a:srgbClr val="D6CCE6"/>
            </a:solidFill>
          </a:ln>
        </p:spPr>
      </p:sp>
      <p:sp>
        <p:nvSpPr>
          <p:cNvPr id="7" name="Shape 4"/>
          <p:cNvSpPr/>
          <p:nvPr/>
        </p:nvSpPr>
        <p:spPr>
          <a:xfrm>
            <a:off x="1154430" y="1508760"/>
            <a:ext cx="457200" cy="45720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1268730" y="1623060"/>
            <a:ext cx="228600" cy="228600"/>
          </a:xfrm>
          <a:prstGeom prst="rect">
            <a:avLst/>
          </a:prstGeom>
        </p:spPr>
      </p:pic>
      <p:sp>
        <p:nvSpPr>
          <p:cNvPr id="9" name="Text 5"/>
          <p:cNvSpPr txBox="1"/>
          <p:nvPr/>
        </p:nvSpPr>
        <p:spPr>
          <a:xfrm>
            <a:off x="548640" y="202996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1. Get the WSDL</a:t>
            </a:r>
            <a:endParaRPr lang="en-US" sz="1300" dirty="0"/>
          </a:p>
        </p:txBody>
      </p:sp>
      <p:sp>
        <p:nvSpPr>
          <p:cNvPr id="10" name="Text 6"/>
          <p:cNvSpPr txBox="1"/>
          <p:nvPr/>
        </p:nvSpPr>
        <p:spPr>
          <a:xfrm>
            <a:off x="548640" y="2340864"/>
            <a:ext cx="1668780" cy="832104"/>
          </a:xfrm>
          <a:prstGeom prst="rect">
            <a:avLst/>
          </a:prstGeom>
          <a:noFill/>
        </p:spPr>
        <p:txBody>
          <a:bodyPr wrap="square" lIns="0" tIns="0" rIns="0" bIns="0" rtlCol="0" anchor="t"/>
          <a:lstStyle/>
          <a:p>
            <a:pPr marL="0" indent="0" algn="ctr">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 /Service?wsdl</a:t>
            </a:r>
            <a:r>
              <a:rPr lang="en-US" sz="1200" dirty="0">
                <a:solidFill>
                  <a:srgbClr val="2A2433"/>
                </a:solidFill>
                <a:latin typeface="Calibri" pitchFamily="34" charset="0"/>
                <a:ea typeface="Calibri" pitchFamily="34" charset="-122"/>
                <a:cs typeface="Calibri" pitchFamily="34" charset="-120"/>
              </a:rPr>
              <a:t> to learn the contract</a:t>
            </a:r>
            <a:endParaRPr lang="en-US" sz="1100" dirty="0"/>
          </a:p>
        </p:txBody>
      </p:sp>
      <p:sp>
        <p:nvSpPr>
          <p:cNvPr id="11" name="Shape 7"/>
          <p:cNvSpPr/>
          <p:nvPr/>
        </p:nvSpPr>
        <p:spPr>
          <a:xfrm>
            <a:off x="2345436" y="2189988"/>
            <a:ext cx="201168" cy="237744"/>
          </a:xfrm>
          <a:prstGeom prst="rightArrow">
            <a:avLst/>
          </a:prstGeom>
          <a:solidFill>
            <a:srgbClr val="F2705A"/>
          </a:solidFill>
          <a:ln w="12700">
            <a:solidFill>
              <a:srgbClr val="F2705A"/>
            </a:solidFill>
            <a:prstDash val="solid"/>
          </a:ln>
        </p:spPr>
      </p:sp>
      <p:sp>
        <p:nvSpPr>
          <p:cNvPr id="12" name="Shape 8"/>
          <p:cNvSpPr/>
          <p:nvPr/>
        </p:nvSpPr>
        <p:spPr>
          <a:xfrm>
            <a:off x="2583180" y="1371600"/>
            <a:ext cx="1851660" cy="1874520"/>
          </a:xfrm>
          <a:prstGeom prst="rect">
            <a:avLst/>
          </a:prstGeom>
          <a:solidFill>
            <a:srgbClr val="FFFFFF"/>
          </a:solidFill>
          <a:ln w="9525">
            <a:solidFill>
              <a:srgbClr val="D6CCE6"/>
            </a:solidFill>
          </a:ln>
        </p:spPr>
      </p:sp>
      <p:sp>
        <p:nvSpPr>
          <p:cNvPr id="13" name="Shape 9"/>
          <p:cNvSpPr/>
          <p:nvPr/>
        </p:nvSpPr>
        <p:spPr>
          <a:xfrm>
            <a:off x="3280410" y="1508760"/>
            <a:ext cx="457200" cy="457200"/>
          </a:xfrm>
          <a:prstGeom prst="roundRect">
            <a:avLst>
              <a:gd name="adj" fmla="val 24000"/>
            </a:avLst>
          </a:prstGeom>
          <a:solidFill>
            <a:srgbClr val="6B35B5"/>
          </a:solidFill>
          <a:ln w="12700">
            <a:solidFill>
              <a:srgbClr val="6B35B5"/>
            </a:solidFill>
            <a:prstDash val="solid"/>
          </a:ln>
        </p:spPr>
      </p:sp>
      <p:pic>
        <p:nvPicPr>
          <p:cNvPr id="14" name="Image 1" descr="preencoded.png"/>
          <p:cNvPicPr>
            <a:picLocks noChangeAspect="1"/>
          </p:cNvPicPr>
          <p:nvPr/>
        </p:nvPicPr>
        <p:blipFill>
          <a:blip r:embed="rId2"/>
          <a:stretch>
            <a:fillRect/>
          </a:stretch>
        </p:blipFill>
        <p:spPr>
          <a:xfrm>
            <a:off x="3394710" y="1623060"/>
            <a:ext cx="228600" cy="228600"/>
          </a:xfrm>
          <a:prstGeom prst="rect">
            <a:avLst/>
          </a:prstGeom>
        </p:spPr>
      </p:pic>
      <p:sp>
        <p:nvSpPr>
          <p:cNvPr id="15" name="Text 10"/>
          <p:cNvSpPr txBox="1"/>
          <p:nvPr/>
        </p:nvSpPr>
        <p:spPr>
          <a:xfrm>
            <a:off x="2674620" y="202996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2. Build a request</a:t>
            </a:r>
            <a:endParaRPr lang="en-US" sz="1300" dirty="0"/>
          </a:p>
        </p:txBody>
      </p:sp>
      <p:sp>
        <p:nvSpPr>
          <p:cNvPr id="16" name="Text 11"/>
          <p:cNvSpPr txBox="1"/>
          <p:nvPr/>
        </p:nvSpPr>
        <p:spPr>
          <a:xfrm>
            <a:off x="2674620" y="2340864"/>
            <a:ext cx="1668780" cy="83210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From the WSDL (tools do this for you)</a:t>
            </a:r>
            <a:endParaRPr lang="en-US" sz="1200" dirty="0"/>
          </a:p>
        </p:txBody>
      </p:sp>
      <p:sp>
        <p:nvSpPr>
          <p:cNvPr id="17" name="Shape 12"/>
          <p:cNvSpPr/>
          <p:nvPr/>
        </p:nvSpPr>
        <p:spPr>
          <a:xfrm>
            <a:off x="4471416" y="2189988"/>
            <a:ext cx="201168" cy="237744"/>
          </a:xfrm>
          <a:prstGeom prst="rightArrow">
            <a:avLst/>
          </a:prstGeom>
          <a:solidFill>
            <a:srgbClr val="F2705A"/>
          </a:solidFill>
          <a:ln w="12700">
            <a:solidFill>
              <a:srgbClr val="F2705A"/>
            </a:solidFill>
            <a:prstDash val="solid"/>
          </a:ln>
        </p:spPr>
      </p:sp>
      <p:sp>
        <p:nvSpPr>
          <p:cNvPr id="18" name="Shape 13"/>
          <p:cNvSpPr/>
          <p:nvPr/>
        </p:nvSpPr>
        <p:spPr>
          <a:xfrm>
            <a:off x="4709160" y="1371600"/>
            <a:ext cx="1851660" cy="1874520"/>
          </a:xfrm>
          <a:prstGeom prst="rect">
            <a:avLst/>
          </a:prstGeom>
          <a:solidFill>
            <a:srgbClr val="FDEAE5"/>
          </a:solidFill>
          <a:ln w="12700">
            <a:solidFill>
              <a:srgbClr val="FDEAE5"/>
            </a:solidFill>
            <a:prstDash val="solid"/>
          </a:ln>
        </p:spPr>
      </p:sp>
      <p:sp>
        <p:nvSpPr>
          <p:cNvPr id="19" name="Shape 14"/>
          <p:cNvSpPr/>
          <p:nvPr/>
        </p:nvSpPr>
        <p:spPr>
          <a:xfrm>
            <a:off x="5406390" y="1508760"/>
            <a:ext cx="457200" cy="457200"/>
          </a:xfrm>
          <a:prstGeom prst="roundRect">
            <a:avLst>
              <a:gd name="adj" fmla="val 24000"/>
            </a:avLst>
          </a:prstGeom>
          <a:solidFill>
            <a:srgbClr val="F2705A"/>
          </a:solidFill>
          <a:ln w="12700">
            <a:solidFill>
              <a:srgbClr val="F2705A"/>
            </a:solidFill>
            <a:prstDash val="solid"/>
          </a:ln>
        </p:spPr>
      </p:sp>
      <p:pic>
        <p:nvPicPr>
          <p:cNvPr id="20" name="Image 2" descr="preencoded.png"/>
          <p:cNvPicPr>
            <a:picLocks noChangeAspect="1"/>
          </p:cNvPicPr>
          <p:nvPr/>
        </p:nvPicPr>
        <p:blipFill>
          <a:blip r:embed="rId3"/>
          <a:stretch>
            <a:fillRect/>
          </a:stretch>
        </p:blipFill>
        <p:spPr>
          <a:xfrm>
            <a:off x="5520690" y="1623060"/>
            <a:ext cx="228600" cy="228600"/>
          </a:xfrm>
          <a:prstGeom prst="rect">
            <a:avLst/>
          </a:prstGeom>
        </p:spPr>
      </p:pic>
      <p:sp>
        <p:nvSpPr>
          <p:cNvPr id="21" name="Text 15"/>
          <p:cNvSpPr txBox="1"/>
          <p:nvPr/>
        </p:nvSpPr>
        <p:spPr>
          <a:xfrm>
            <a:off x="4800600" y="202996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3. POST</a:t>
            </a:r>
            <a:endParaRPr lang="en-US" sz="1300" dirty="0"/>
          </a:p>
        </p:txBody>
      </p:sp>
      <p:sp>
        <p:nvSpPr>
          <p:cNvPr id="22" name="Text 16"/>
          <p:cNvSpPr txBox="1"/>
          <p:nvPr/>
        </p:nvSpPr>
        <p:spPr>
          <a:xfrm>
            <a:off x="4800600" y="2340864"/>
            <a:ext cx="1668780" cy="83210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Envelope plus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2A2433"/>
                </a:solidFill>
                <a:latin typeface="Calibri" pitchFamily="34" charset="0"/>
                <a:ea typeface="Calibri" pitchFamily="34" charset="-122"/>
                <a:cs typeface="Calibri" pitchFamily="34" charset="-120"/>
              </a:rPr>
              <a:t> to the one endpoint</a:t>
            </a:r>
            <a:endParaRPr lang="en-US" sz="1200" dirty="0"/>
          </a:p>
        </p:txBody>
      </p:sp>
      <p:sp>
        <p:nvSpPr>
          <p:cNvPr id="23" name="Shape 17"/>
          <p:cNvSpPr/>
          <p:nvPr/>
        </p:nvSpPr>
        <p:spPr>
          <a:xfrm>
            <a:off x="6597396" y="2189988"/>
            <a:ext cx="201168" cy="237744"/>
          </a:xfrm>
          <a:prstGeom prst="rightArrow">
            <a:avLst/>
          </a:prstGeom>
          <a:solidFill>
            <a:srgbClr val="F2705A"/>
          </a:solidFill>
          <a:ln w="12700">
            <a:solidFill>
              <a:srgbClr val="F2705A"/>
            </a:solidFill>
            <a:prstDash val="solid"/>
          </a:ln>
        </p:spPr>
      </p:sp>
      <p:sp>
        <p:nvSpPr>
          <p:cNvPr id="24" name="Shape 18"/>
          <p:cNvSpPr/>
          <p:nvPr/>
        </p:nvSpPr>
        <p:spPr>
          <a:xfrm>
            <a:off x="6835140" y="1371600"/>
            <a:ext cx="1851660" cy="1874520"/>
          </a:xfrm>
          <a:prstGeom prst="rect">
            <a:avLst/>
          </a:prstGeom>
          <a:solidFill>
            <a:srgbClr val="FFFFFF"/>
          </a:solidFill>
          <a:ln w="9525">
            <a:solidFill>
              <a:srgbClr val="D6CCE6"/>
            </a:solidFill>
          </a:ln>
        </p:spPr>
      </p:sp>
      <p:sp>
        <p:nvSpPr>
          <p:cNvPr id="25" name="Shape 19"/>
          <p:cNvSpPr/>
          <p:nvPr/>
        </p:nvSpPr>
        <p:spPr>
          <a:xfrm>
            <a:off x="7532370" y="1508760"/>
            <a:ext cx="457200" cy="457200"/>
          </a:xfrm>
          <a:prstGeom prst="roundRect">
            <a:avLst>
              <a:gd name="adj" fmla="val 24000"/>
            </a:avLst>
          </a:prstGeom>
          <a:solidFill>
            <a:srgbClr val="6B35B5"/>
          </a:solidFill>
          <a:ln w="12700">
            <a:solidFill>
              <a:srgbClr val="6B35B5"/>
            </a:solidFill>
            <a:prstDash val="solid"/>
          </a:ln>
        </p:spPr>
      </p:sp>
      <p:pic>
        <p:nvPicPr>
          <p:cNvPr id="26" name="Image 3" descr="preencoded.png"/>
          <p:cNvPicPr>
            <a:picLocks noChangeAspect="1"/>
          </p:cNvPicPr>
          <p:nvPr/>
        </p:nvPicPr>
        <p:blipFill>
          <a:blip r:embed="rId4"/>
          <a:stretch>
            <a:fillRect/>
          </a:stretch>
        </p:blipFill>
        <p:spPr>
          <a:xfrm>
            <a:off x="7646670" y="1623060"/>
            <a:ext cx="228600" cy="228600"/>
          </a:xfrm>
          <a:prstGeom prst="rect">
            <a:avLst/>
          </a:prstGeom>
        </p:spPr>
      </p:pic>
      <p:sp>
        <p:nvSpPr>
          <p:cNvPr id="27" name="Text 20"/>
          <p:cNvSpPr txBox="1"/>
          <p:nvPr/>
        </p:nvSpPr>
        <p:spPr>
          <a:xfrm>
            <a:off x="6926580" y="202996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4. Response</a:t>
            </a:r>
            <a:endParaRPr lang="en-US" sz="1300" dirty="0"/>
          </a:p>
        </p:txBody>
      </p:sp>
      <p:sp>
        <p:nvSpPr>
          <p:cNvPr id="28" name="Text 21"/>
          <p:cNvSpPr txBox="1"/>
          <p:nvPr/>
        </p:nvSpPr>
        <p:spPr>
          <a:xfrm>
            <a:off x="6926580" y="2340864"/>
            <a:ext cx="1668780" cy="83210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An Envelope with the result, or a </a:t>
            </a:r>
            <a:r>
              <a:rPr lang="en-US" sz="1200" b="1" dirty="0">
                <a:solidFill>
                  <a:srgbClr val="2A2433"/>
                </a:solidFill>
                <a:latin typeface="Calibri" pitchFamily="34" charset="0"/>
                <a:ea typeface="Calibri" pitchFamily="34" charset="-122"/>
                <a:cs typeface="Calibri" pitchFamily="34" charset="-120"/>
              </a:rPr>
              <a:t>Fault</a:t>
            </a:r>
            <a:endParaRPr lang="en-US" sz="1200" dirty="0"/>
          </a:p>
        </p:txBody>
      </p:sp>
      <p:graphicFrame>
        <p:nvGraphicFramePr>
          <p:cNvPr id="66" name="Table 0"/>
          <p:cNvGraphicFramePr>
            <a:graphicFrameLocks noGrp="1"/>
          </p:cNvGraphicFramePr>
          <p:nvPr/>
        </p:nvGraphicFramePr>
        <p:xfrm>
          <a:off x="457200" y="3520440"/>
          <a:ext cx="8229600" cy="987552"/>
        </p:xfrm>
        <a:graphic>
          <a:graphicData uri="http://schemas.openxmlformats.org/drawingml/2006/table">
            <a:tbl>
              <a:tblPr/>
              <a:tblGrid>
                <a:gridCol w="2926080"/>
                <a:gridCol w="5303520"/>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Piece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is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29184">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Envelope / Header / Body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wrapper, optional metadata, and the actual message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9184">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SOAPAction / WSDL / Fault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Header naming the operation, the contract, the standard error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The envelope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3840480" cy="3246120"/>
          </a:xfrm>
          <a:prstGeom prst="rect">
            <a:avLst/>
          </a:prstGeom>
          <a:solidFill>
            <a:srgbClr val="F6F3FA"/>
          </a:solidFill>
          <a:ln w="19050">
            <a:solidFill>
              <a:srgbClr val="6B35B5"/>
            </a:solidFill>
            <a:prstDash val="solid"/>
          </a:ln>
        </p:spPr>
      </p:sp>
      <p:sp>
        <p:nvSpPr>
          <p:cNvPr id="7" name="Text 4"/>
          <p:cNvSpPr txBox="1"/>
          <p:nvPr/>
        </p:nvSpPr>
        <p:spPr>
          <a:xfrm>
            <a:off x="640080" y="1371600"/>
            <a:ext cx="3474720" cy="320040"/>
          </a:xfrm>
          <a:prstGeom prst="rect">
            <a:avLst/>
          </a:prstGeom>
          <a:noFill/>
        </p:spPr>
        <p:txBody>
          <a:bodyPr wrap="square" lIns="0" tIns="0" rIns="0" bIns="0" rtlCol="0" anchor="ctr"/>
          <a:lstStyle/>
          <a:p>
            <a:pPr marL="0" indent="0">
              <a:buNone/>
            </a:pPr>
            <a:r>
              <a:rPr lang="en-US" sz="1500" b="1" dirty="0">
                <a:solidFill>
                  <a:srgbClr val="2B1B3F"/>
                </a:solidFill>
                <a:latin typeface="Calibri" pitchFamily="34" charset="0"/>
                <a:ea typeface="Calibri" pitchFamily="34" charset="-122"/>
                <a:cs typeface="Calibri" pitchFamily="34" charset="-120"/>
              </a:rPr>
              <a:t>Envelope</a:t>
            </a:r>
            <a:endParaRPr lang="en-US" sz="1500" dirty="0"/>
          </a:p>
        </p:txBody>
      </p:sp>
      <p:sp>
        <p:nvSpPr>
          <p:cNvPr id="8" name="Shape 5"/>
          <p:cNvSpPr/>
          <p:nvPr/>
        </p:nvSpPr>
        <p:spPr>
          <a:xfrm>
            <a:off x="685800" y="1828800"/>
            <a:ext cx="3383280" cy="960120"/>
          </a:xfrm>
          <a:prstGeom prst="rect">
            <a:avLst/>
          </a:prstGeom>
          <a:solidFill>
            <a:srgbClr val="FFFFFF"/>
          </a:solidFill>
          <a:ln w="19050">
            <a:solidFill>
              <a:srgbClr val="F2705A"/>
            </a:solidFill>
            <a:prstDash val="dash"/>
          </a:ln>
        </p:spPr>
      </p:sp>
      <p:sp>
        <p:nvSpPr>
          <p:cNvPr id="9" name="Text 6"/>
          <p:cNvSpPr txBox="1"/>
          <p:nvPr/>
        </p:nvSpPr>
        <p:spPr>
          <a:xfrm>
            <a:off x="822960" y="1874520"/>
            <a:ext cx="3108960" cy="274320"/>
          </a:xfrm>
          <a:prstGeom prst="rect">
            <a:avLst/>
          </a:prstGeom>
          <a:noFill/>
        </p:spPr>
        <p:txBody>
          <a:bodyPr wrap="square" lIns="0" tIns="0" rIns="0" bIns="0" rtlCol="0" anchor="ctr"/>
          <a:lstStyle/>
          <a:p>
            <a:pPr marL="0" indent="0">
              <a:buNone/>
            </a:pPr>
            <a:r>
              <a:rPr lang="en-US" sz="1300" b="1" dirty="0">
                <a:solidFill>
                  <a:srgbClr val="2B1B3F"/>
                </a:solidFill>
                <a:latin typeface="Calibri" pitchFamily="34" charset="0"/>
                <a:ea typeface="Calibri" pitchFamily="34" charset="-122"/>
                <a:cs typeface="Calibri" pitchFamily="34" charset="-120"/>
              </a:rPr>
              <a:t>Header (optional)</a:t>
            </a:r>
            <a:endParaRPr lang="en-US" sz="1300" dirty="0"/>
          </a:p>
        </p:txBody>
      </p:sp>
      <p:sp>
        <p:nvSpPr>
          <p:cNvPr id="10" name="Text 7"/>
          <p:cNvSpPr txBox="1"/>
          <p:nvPr/>
        </p:nvSpPr>
        <p:spPr>
          <a:xfrm>
            <a:off x="822960" y="2194560"/>
            <a:ext cx="3108960" cy="502920"/>
          </a:xfrm>
          <a:prstGeom prst="rect">
            <a:avLst/>
          </a:prstGeom>
          <a:noFill/>
        </p:spPr>
        <p:txBody>
          <a:bodyPr wrap="square" lIns="0" tIns="0" rIns="0" bIns="0" rtlCol="0" anchor="t"/>
          <a:lstStyle/>
          <a:p>
            <a:pPr marL="0" indent="0">
              <a:buNone/>
            </a:pPr>
            <a:r>
              <a:rPr lang="en-US" sz="1100" dirty="0">
                <a:solidFill>
                  <a:srgbClr val="2A2433"/>
                </a:solidFill>
                <a:latin typeface="Calibri" pitchFamily="34" charset="0"/>
                <a:ea typeface="Calibri" pitchFamily="34" charset="-122"/>
                <a:cs typeface="Calibri" pitchFamily="34" charset="-120"/>
              </a:rPr>
              <a:t>Security tokens, routing, transaction info</a:t>
            </a:r>
            <a:endParaRPr lang="en-US" sz="1100" dirty="0"/>
          </a:p>
        </p:txBody>
      </p:sp>
      <p:sp>
        <p:nvSpPr>
          <p:cNvPr id="11" name="Shape 8"/>
          <p:cNvSpPr/>
          <p:nvPr/>
        </p:nvSpPr>
        <p:spPr>
          <a:xfrm>
            <a:off x="685800" y="2971800"/>
            <a:ext cx="3383280" cy="1371600"/>
          </a:xfrm>
          <a:prstGeom prst="rect">
            <a:avLst/>
          </a:prstGeom>
          <a:solidFill>
            <a:srgbClr val="FFFFFF"/>
          </a:solidFill>
          <a:ln w="19050">
            <a:solidFill>
              <a:srgbClr val="6B35B5"/>
            </a:solidFill>
            <a:prstDash val="solid"/>
          </a:ln>
        </p:spPr>
      </p:sp>
      <p:sp>
        <p:nvSpPr>
          <p:cNvPr id="12" name="Text 9"/>
          <p:cNvSpPr txBox="1"/>
          <p:nvPr/>
        </p:nvSpPr>
        <p:spPr>
          <a:xfrm>
            <a:off x="822960" y="3017520"/>
            <a:ext cx="3108960" cy="274320"/>
          </a:xfrm>
          <a:prstGeom prst="rect">
            <a:avLst/>
          </a:prstGeom>
          <a:noFill/>
        </p:spPr>
        <p:txBody>
          <a:bodyPr wrap="square" lIns="0" tIns="0" rIns="0" bIns="0" rtlCol="0" anchor="ctr"/>
          <a:lstStyle/>
          <a:p>
            <a:pPr marL="0" indent="0">
              <a:buNone/>
            </a:pPr>
            <a:r>
              <a:rPr lang="en-US" sz="1300" b="1" dirty="0">
                <a:solidFill>
                  <a:srgbClr val="2B1B3F"/>
                </a:solidFill>
                <a:latin typeface="Calibri" pitchFamily="34" charset="0"/>
                <a:ea typeface="Calibri" pitchFamily="34" charset="-122"/>
                <a:cs typeface="Calibri" pitchFamily="34" charset="-120"/>
              </a:rPr>
              <a:t>Body (required)</a:t>
            </a:r>
            <a:endParaRPr lang="en-US" sz="1300" dirty="0"/>
          </a:p>
        </p:txBody>
      </p:sp>
      <p:sp>
        <p:nvSpPr>
          <p:cNvPr id="13" name="Text 10"/>
          <p:cNvSpPr txBox="1"/>
          <p:nvPr/>
        </p:nvSpPr>
        <p:spPr>
          <a:xfrm>
            <a:off x="822960" y="3337560"/>
            <a:ext cx="3108960" cy="868680"/>
          </a:xfrm>
          <a:prstGeom prst="rect">
            <a:avLst/>
          </a:prstGeom>
          <a:noFill/>
        </p:spPr>
        <p:txBody>
          <a:bodyPr wrap="square" lIns="0" tIns="0" rIns="0" bIns="0" rtlCol="0" anchor="t"/>
          <a:lstStyle/>
          <a:p>
            <a:pPr marL="0" indent="0">
              <a:buNone/>
            </a:pPr>
            <a:r>
              <a:rPr lang="en-US" sz="1100" dirty="0">
                <a:solidFill>
                  <a:srgbClr val="2A2433"/>
                </a:solidFill>
                <a:latin typeface="Calibri" pitchFamily="34" charset="0"/>
                <a:ea typeface="Calibri" pitchFamily="34" charset="-122"/>
                <a:cs typeface="Calibri" pitchFamily="34" charset="-120"/>
              </a:rPr>
              <a:t>The operation call, the response, or a Fault</a:t>
            </a:r>
            <a:endParaRPr lang="en-US" sz="1100" dirty="0"/>
          </a:p>
        </p:txBody>
      </p:sp>
      <p:sp>
        <p:nvSpPr>
          <p:cNvPr id="14" name="Shape 11"/>
          <p:cNvSpPr/>
          <p:nvPr/>
        </p:nvSpPr>
        <p:spPr>
          <a:xfrm>
            <a:off x="4526280" y="1280160"/>
            <a:ext cx="4160520" cy="3246120"/>
          </a:xfrm>
          <a:prstGeom prst="rect">
            <a:avLst/>
          </a:prstGeom>
          <a:solidFill>
            <a:srgbClr val="241733"/>
          </a:solidFill>
          <a:ln w="12700">
            <a:solidFill>
              <a:srgbClr val="241733"/>
            </a:solidFill>
            <a:prstDash val="solid"/>
          </a:ln>
        </p:spPr>
      </p:sp>
      <p:sp>
        <p:nvSpPr>
          <p:cNvPr id="15" name="Text 12"/>
          <p:cNvSpPr txBox="1"/>
          <p:nvPr/>
        </p:nvSpPr>
        <p:spPr>
          <a:xfrm>
            <a:off x="4709160" y="1371600"/>
            <a:ext cx="379476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SKELETON (SOAP 1.1)</a:t>
            </a:r>
            <a:endParaRPr lang="en-US" sz="1000" dirty="0"/>
          </a:p>
        </p:txBody>
      </p:sp>
      <p:sp>
        <p:nvSpPr>
          <p:cNvPr id="16" name="Text 13"/>
          <p:cNvSpPr txBox="1"/>
          <p:nvPr/>
        </p:nvSpPr>
        <p:spPr>
          <a:xfrm>
            <a:off x="4709160" y="1627632"/>
            <a:ext cx="3794760" cy="280720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&lt;soapenv:Envelope</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xmlns:soapenv="http://schemas.xmlsoap.org</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/soap/envelope/"&gt;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&lt;soapenv:Header&gt;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 optional: metadata --&gt;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&lt;/soapenv:Header&gt;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 operation and parameters --&gt;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&lt;/soapenv:Envelope&gt;</a:t>
            </a:r>
            <a:endParaRPr lang="en-US" sz="10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The SOAP Header</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480560" cy="2468880"/>
          </a:xfrm>
          <a:prstGeom prst="rect">
            <a:avLst/>
          </a:prstGeom>
          <a:solidFill>
            <a:srgbClr val="241733"/>
          </a:solidFill>
          <a:ln w="12700">
            <a:solidFill>
              <a:srgbClr val="241733"/>
            </a:solidFill>
            <a:prstDash val="solid"/>
          </a:ln>
        </p:spPr>
      </p:sp>
      <p:sp>
        <p:nvSpPr>
          <p:cNvPr id="7" name="Text 4"/>
          <p:cNvSpPr txBox="1"/>
          <p:nvPr/>
        </p:nvSpPr>
        <p:spPr>
          <a:xfrm>
            <a:off x="640080" y="1371600"/>
            <a:ext cx="41148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WS-SECURITY USERNAMETOKEN</a:t>
            </a:r>
            <a:endParaRPr lang="en-US" sz="1000" dirty="0"/>
          </a:p>
        </p:txBody>
      </p:sp>
      <p:sp>
        <p:nvSpPr>
          <p:cNvPr id="8" name="Text 5"/>
          <p:cNvSpPr txBox="1"/>
          <p:nvPr/>
        </p:nvSpPr>
        <p:spPr>
          <a:xfrm>
            <a:off x="640080" y="1627632"/>
            <a:ext cx="4114800" cy="202996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&lt;soapenv:Header&gt;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&lt;wsse:Security</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soapenv:mustUnderstand="1"&gt;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&lt;wsse:UsernameToken&gt;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&lt;wsse:Username&gt;alice&lt;/wsse:Username&gt;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&lt;wsse:Password&gt;Passw0rd!&lt;/wsse:Password&gt;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&lt;/wsse:UsernameToken&gt;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&lt;/wsse:Security&gt;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&lt;/soapenv:Header&gt;</a:t>
            </a:r>
            <a:endParaRPr lang="en-US" sz="1000" dirty="0"/>
          </a:p>
        </p:txBody>
      </p:sp>
      <p:sp>
        <p:nvSpPr>
          <p:cNvPr id="9" name="Shape 6"/>
          <p:cNvSpPr/>
          <p:nvPr/>
        </p:nvSpPr>
        <p:spPr>
          <a:xfrm>
            <a:off x="5166360" y="1386840"/>
            <a:ext cx="82296" cy="82296"/>
          </a:xfrm>
          <a:prstGeom prst="rect">
            <a:avLst/>
          </a:prstGeom>
          <a:solidFill>
            <a:srgbClr val="F2705A"/>
          </a:solidFill>
          <a:ln w="12700">
            <a:solidFill>
              <a:srgbClr val="F2705A"/>
            </a:solidFill>
            <a:prstDash val="solid"/>
          </a:ln>
        </p:spPr>
      </p:sp>
      <p:sp>
        <p:nvSpPr>
          <p:cNvPr id="10" name="Text 7"/>
          <p:cNvSpPr txBox="1"/>
          <p:nvPr/>
        </p:nvSpPr>
        <p:spPr>
          <a:xfrm>
            <a:off x="5376672" y="1325880"/>
            <a:ext cx="3310128" cy="399288"/>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Authentication and security tokens (</a:t>
            </a:r>
            <a:r>
              <a:rPr lang="en-US" sz="1200" b="1" dirty="0">
                <a:solidFill>
                  <a:srgbClr val="2A2433"/>
                </a:solidFill>
                <a:latin typeface="Calibri" pitchFamily="34" charset="0"/>
                <a:ea typeface="Calibri" pitchFamily="34" charset="-122"/>
                <a:cs typeface="Calibri" pitchFamily="34" charset="-120"/>
              </a:rPr>
              <a:t>WS-Security</a:t>
            </a:r>
            <a:r>
              <a:rPr lang="en-US" sz="1200" dirty="0">
                <a:solidFill>
                  <a:srgbClr val="2A2433"/>
                </a:solidFill>
                <a:latin typeface="Calibri" pitchFamily="34" charset="0"/>
                <a:ea typeface="Calibri" pitchFamily="34" charset="-122"/>
                <a:cs typeface="Calibri" pitchFamily="34" charset="-120"/>
              </a:rPr>
              <a:t>)</a:t>
            </a:r>
            <a:endParaRPr lang="en-US" sz="1200" dirty="0"/>
          </a:p>
        </p:txBody>
      </p:sp>
      <p:sp>
        <p:nvSpPr>
          <p:cNvPr id="11" name="Shape 8"/>
          <p:cNvSpPr/>
          <p:nvPr/>
        </p:nvSpPr>
        <p:spPr>
          <a:xfrm>
            <a:off x="5166360" y="1868424"/>
            <a:ext cx="82296" cy="82296"/>
          </a:xfrm>
          <a:prstGeom prst="rect">
            <a:avLst/>
          </a:prstGeom>
          <a:solidFill>
            <a:srgbClr val="F2705A"/>
          </a:solidFill>
          <a:ln w="12700">
            <a:solidFill>
              <a:srgbClr val="F2705A"/>
            </a:solidFill>
            <a:prstDash val="solid"/>
          </a:ln>
        </p:spPr>
      </p:sp>
      <p:sp>
        <p:nvSpPr>
          <p:cNvPr id="12" name="Text 9"/>
          <p:cNvSpPr txBox="1"/>
          <p:nvPr/>
        </p:nvSpPr>
        <p:spPr>
          <a:xfrm>
            <a:off x="5376672" y="1807464"/>
            <a:ext cx="3310128" cy="213360"/>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Transaction or correlation IDs</a:t>
            </a:r>
            <a:endParaRPr lang="en-US" sz="1200" dirty="0"/>
          </a:p>
        </p:txBody>
      </p:sp>
      <p:sp>
        <p:nvSpPr>
          <p:cNvPr id="13" name="Shape 10"/>
          <p:cNvSpPr/>
          <p:nvPr/>
        </p:nvSpPr>
        <p:spPr>
          <a:xfrm>
            <a:off x="5166360" y="2164080"/>
            <a:ext cx="82296" cy="82296"/>
          </a:xfrm>
          <a:prstGeom prst="rect">
            <a:avLst/>
          </a:prstGeom>
          <a:solidFill>
            <a:srgbClr val="F2705A"/>
          </a:solidFill>
          <a:ln w="12700">
            <a:solidFill>
              <a:srgbClr val="F2705A"/>
            </a:solidFill>
            <a:prstDash val="solid"/>
          </a:ln>
        </p:spPr>
      </p:sp>
      <p:sp>
        <p:nvSpPr>
          <p:cNvPr id="14" name="Text 11"/>
          <p:cNvSpPr txBox="1"/>
          <p:nvPr/>
        </p:nvSpPr>
        <p:spPr>
          <a:xfrm>
            <a:off x="5376672" y="2103120"/>
            <a:ext cx="3310128" cy="213360"/>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Routing info for intermediaries</a:t>
            </a:r>
            <a:endParaRPr lang="en-US" sz="1200" dirty="0"/>
          </a:p>
        </p:txBody>
      </p:sp>
      <p:sp>
        <p:nvSpPr>
          <p:cNvPr id="15" name="Shape 12"/>
          <p:cNvSpPr/>
          <p:nvPr/>
        </p:nvSpPr>
        <p:spPr>
          <a:xfrm>
            <a:off x="5166360" y="2459736"/>
            <a:ext cx="82296" cy="82296"/>
          </a:xfrm>
          <a:prstGeom prst="rect">
            <a:avLst/>
          </a:prstGeom>
          <a:solidFill>
            <a:srgbClr val="F2705A"/>
          </a:solidFill>
          <a:ln w="12700">
            <a:solidFill>
              <a:srgbClr val="F2705A"/>
            </a:solidFill>
            <a:prstDash val="solid"/>
          </a:ln>
        </p:spPr>
      </p:sp>
      <p:sp>
        <p:nvSpPr>
          <p:cNvPr id="16" name="Text 13"/>
          <p:cNvSpPr txBox="1"/>
          <p:nvPr/>
        </p:nvSpPr>
        <p:spPr>
          <a:xfrm>
            <a:off x="5376672" y="2398776"/>
            <a:ext cx="3310128" cy="399288"/>
          </a:xfrm>
          <a:prstGeom prst="rect">
            <a:avLst/>
          </a:prstGeom>
          <a:noFill/>
        </p:spPr>
        <p:txBody>
          <a:bodyPr wrap="square" lIns="0" tIns="0" rIns="0" bIns="0" rtlCol="0" anchor="t"/>
          <a:lstStyle/>
          <a:p>
            <a:pPr marL="0" indent="0" algn="l">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mustUnderstand="1"</a:t>
            </a:r>
            <a:r>
              <a:rPr lang="en-US" sz="1200" dirty="0">
                <a:solidFill>
                  <a:srgbClr val="2A2433"/>
                </a:solidFill>
                <a:latin typeface="Calibri" pitchFamily="34" charset="0"/>
                <a:ea typeface="Calibri" pitchFamily="34" charset="-122"/>
                <a:cs typeface="Calibri" pitchFamily="34" charset="-120"/>
              </a:rPr>
              <a:t>: process it or reject the message</a:t>
            </a:r>
            <a:endParaRPr lang="en-US" sz="1100" dirty="0"/>
          </a:p>
        </p:txBody>
      </p:sp>
      <p:sp>
        <p:nvSpPr>
          <p:cNvPr id="17" name="Shape 14"/>
          <p:cNvSpPr/>
          <p:nvPr/>
        </p:nvSpPr>
        <p:spPr>
          <a:xfrm>
            <a:off x="5166360" y="2941320"/>
            <a:ext cx="82296" cy="82296"/>
          </a:xfrm>
          <a:prstGeom prst="rect">
            <a:avLst/>
          </a:prstGeom>
          <a:solidFill>
            <a:srgbClr val="F2705A"/>
          </a:solidFill>
          <a:ln w="12700">
            <a:solidFill>
              <a:srgbClr val="F2705A"/>
            </a:solidFill>
            <a:prstDash val="solid"/>
          </a:ln>
        </p:spPr>
      </p:sp>
      <p:sp>
        <p:nvSpPr>
          <p:cNvPr id="18" name="Text 15"/>
          <p:cNvSpPr txBox="1"/>
          <p:nvPr/>
        </p:nvSpPr>
        <p:spPr>
          <a:xfrm>
            <a:off x="5376672" y="2880360"/>
            <a:ext cx="3310128" cy="213360"/>
          </a:xfrm>
          <a:prstGeom prst="rect">
            <a:avLst/>
          </a:prstGeom>
          <a:noFill/>
        </p:spPr>
        <p:txBody>
          <a:bodyPr wrap="square" lIns="0" tIns="0" rIns="0" bIns="0" rtlCol="0" anchor="t"/>
          <a:lstStyle/>
          <a:p>
            <a:pPr marL="0" indent="0" algn="l">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actor</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role</a:t>
            </a:r>
            <a:r>
              <a:rPr lang="en-US" sz="1200" dirty="0">
                <a:solidFill>
                  <a:srgbClr val="2A2433"/>
                </a:solidFill>
                <a:latin typeface="Calibri" pitchFamily="34" charset="0"/>
                <a:ea typeface="Calibri" pitchFamily="34" charset="-122"/>
                <a:cs typeface="Calibri" pitchFamily="34" charset="-120"/>
              </a:rPr>
              <a:t>: which node the block is for</a:t>
            </a:r>
            <a:endParaRPr lang="en-US" sz="1100" dirty="0"/>
          </a:p>
        </p:txBody>
      </p:sp>
      <p:sp>
        <p:nvSpPr>
          <p:cNvPr id="19" name="Shape 16"/>
          <p:cNvSpPr/>
          <p:nvPr/>
        </p:nvSpPr>
        <p:spPr>
          <a:xfrm>
            <a:off x="457200" y="3931920"/>
            <a:ext cx="8229600" cy="685800"/>
          </a:xfrm>
          <a:prstGeom prst="rect">
            <a:avLst/>
          </a:prstGeom>
          <a:solidFill>
            <a:srgbClr val="FDEAE5"/>
          </a:solidFill>
          <a:ln w="12700">
            <a:solidFill>
              <a:srgbClr val="FDEAE5"/>
            </a:solidFill>
            <a:prstDash val="solid"/>
          </a:ln>
        </p:spPr>
      </p:sp>
      <p:sp>
        <p:nvSpPr>
          <p:cNvPr id="20" name="Shape 17"/>
          <p:cNvSpPr/>
          <p:nvPr/>
        </p:nvSpPr>
        <p:spPr>
          <a:xfrm>
            <a:off x="640080" y="4046220"/>
            <a:ext cx="457200" cy="457200"/>
          </a:xfrm>
          <a:prstGeom prst="roundRect">
            <a:avLst>
              <a:gd name="adj" fmla="val 24000"/>
            </a:avLst>
          </a:prstGeom>
          <a:solidFill>
            <a:srgbClr val="F2705A"/>
          </a:solidFill>
          <a:ln w="12700">
            <a:solidFill>
              <a:srgbClr val="F2705A"/>
            </a:solidFill>
            <a:prstDash val="solid"/>
          </a:ln>
        </p:spPr>
      </p:sp>
      <p:pic>
        <p:nvPicPr>
          <p:cNvPr id="21" name="Image 0" descr="preencoded.png"/>
          <p:cNvPicPr>
            <a:picLocks noChangeAspect="1"/>
          </p:cNvPicPr>
          <p:nvPr/>
        </p:nvPicPr>
        <p:blipFill>
          <a:blip r:embed="rId1"/>
          <a:stretch>
            <a:fillRect/>
          </a:stretch>
        </p:blipFill>
        <p:spPr>
          <a:xfrm>
            <a:off x="754380" y="4160520"/>
            <a:ext cx="228600" cy="228600"/>
          </a:xfrm>
          <a:prstGeom prst="rect">
            <a:avLst/>
          </a:prstGeom>
        </p:spPr>
      </p:pic>
      <p:sp>
        <p:nvSpPr>
          <p:cNvPr id="22" name="Text 18"/>
          <p:cNvSpPr txBox="1"/>
          <p:nvPr/>
        </p:nvSpPr>
        <p:spPr>
          <a:xfrm>
            <a:off x="1280160" y="3931920"/>
            <a:ext cx="7223760" cy="685800"/>
          </a:xfrm>
          <a:prstGeom prst="rect">
            <a:avLst/>
          </a:prstGeom>
          <a:noFill/>
        </p:spPr>
        <p:txBody>
          <a:bodyPr wrap="square" lIns="0" tIns="0" rIns="0" bIns="0" rtlCol="0" anchor="ctr"/>
          <a:lstStyle/>
          <a:p>
            <a:pPr marL="0" indent="0" algn="l">
              <a:buNone/>
            </a:pPr>
            <a:r>
              <a:rPr lang="en-US" sz="1300" b="1" dirty="0">
                <a:solidFill>
                  <a:srgbClr val="2A2433"/>
                </a:solidFill>
                <a:latin typeface="Calibri" pitchFamily="34" charset="0"/>
                <a:ea typeface="Calibri" pitchFamily="34" charset="-122"/>
                <a:cs typeface="Calibri" pitchFamily="34" charset="-120"/>
              </a:rPr>
              <a:t>Security:</a:t>
            </a:r>
            <a:r>
              <a:rPr lang="en-US" sz="1300" dirty="0">
                <a:solidFill>
                  <a:srgbClr val="2A2433"/>
                </a:solidFill>
                <a:latin typeface="Calibri" pitchFamily="34" charset="0"/>
                <a:ea typeface="Calibri" pitchFamily="34" charset="-122"/>
                <a:cs typeface="Calibri" pitchFamily="34" charset="-120"/>
              </a:rPr>
              <a:t> authentication often lives in the XML </a:t>
            </a:r>
            <a:r>
              <a:rPr lang="en-US" sz="1300" b="1" dirty="0">
                <a:solidFill>
                  <a:srgbClr val="2A2433"/>
                </a:solidFill>
                <a:latin typeface="Calibri" pitchFamily="34" charset="0"/>
                <a:ea typeface="Calibri" pitchFamily="34" charset="-122"/>
                <a:cs typeface="Calibri" pitchFamily="34" charset="-120"/>
              </a:rPr>
              <a:t>header</a:t>
            </a:r>
            <a:r>
              <a:rPr lang="en-US" sz="1300" dirty="0">
                <a:solidFill>
                  <a:srgbClr val="2A2433"/>
                </a:solidFill>
                <a:latin typeface="Calibri" pitchFamily="34" charset="0"/>
                <a:ea typeface="Calibri" pitchFamily="34" charset="-122"/>
                <a:cs typeface="Calibri" pitchFamily="34" charset="-120"/>
              </a:rPr>
              <a:t>, not in an HTTP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Authorization</a:t>
            </a:r>
            <a:r>
              <a:rPr lang="en-US" sz="1300" dirty="0">
                <a:solidFill>
                  <a:srgbClr val="2A2433"/>
                </a:solidFill>
                <a:latin typeface="Calibri" pitchFamily="34" charset="0"/>
                <a:ea typeface="Calibri" pitchFamily="34" charset="-122"/>
                <a:cs typeface="Calibri" pitchFamily="34" charset="-120"/>
              </a:rPr>
              <a:t> header. If you only read HTTP headers in Burp, you will miss it.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The Body and SOAPAction</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5120640" cy="2286000"/>
          </a:xfrm>
          <a:prstGeom prst="rect">
            <a:avLst/>
          </a:prstGeom>
          <a:solidFill>
            <a:srgbClr val="241733"/>
          </a:solidFill>
          <a:ln w="12700">
            <a:solidFill>
              <a:srgbClr val="241733"/>
            </a:solidFill>
            <a:prstDash val="solid"/>
          </a:ln>
        </p:spPr>
      </p:sp>
      <p:sp>
        <p:nvSpPr>
          <p:cNvPr id="7" name="Text 4"/>
          <p:cNvSpPr txBox="1"/>
          <p:nvPr/>
        </p:nvSpPr>
        <p:spPr>
          <a:xfrm>
            <a:off x="640080" y="1371600"/>
            <a:ext cx="475488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THE VERB IS AN XML ELEMENT</a:t>
            </a:r>
            <a:endParaRPr lang="en-US" sz="1000" dirty="0"/>
          </a:p>
        </p:txBody>
      </p:sp>
      <p:sp>
        <p:nvSpPr>
          <p:cNvPr id="8" name="Text 5"/>
          <p:cNvSpPr txBox="1"/>
          <p:nvPr/>
        </p:nvSpPr>
        <p:spPr>
          <a:xfrm>
            <a:off x="640080" y="1627632"/>
            <a:ext cx="4754880" cy="184708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POST /services/AccountService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text/xml; charset=utf-8</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SOAPAction: "http://bank.example.com/GetBalance"</a:t>
            </a:r>
            <a:endParaRPr lang="en-US" sz="1000" dirty="0"/>
          </a:p>
          <a:p>
            <a:pPr marL="0" indent="0">
              <a:lnSpc>
                <a:spcPct val="100000"/>
              </a:lnSpc>
              <a:buNone/>
            </a:pPr>
            <a:r>
              <a:rPr lang="en-US" sz="100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&lt;soapenv:Body&gt;</a:t>
            </a:r>
            <a:endParaRPr lang="en-US" sz="1000" dirty="0"/>
          </a:p>
          <a:p>
            <a:pPr marL="0" indent="0">
              <a:lnSpc>
                <a:spcPct val="100000"/>
              </a:lnSpc>
              <a:buNone/>
            </a:pPr>
            <a:r>
              <a:rPr lang="en-US" sz="100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&lt;acc:GetBalance&gt;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&lt;acc:accountNumber&gt;1234567890&lt;/acc:accountNumber&gt;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&lt;/acc:GetBalance&gt;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&lt;/soapenv:Body&gt;</a:t>
            </a:r>
            <a:endParaRPr lang="en-US" sz="1000" dirty="0"/>
          </a:p>
        </p:txBody>
      </p:sp>
      <p:sp>
        <p:nvSpPr>
          <p:cNvPr id="9" name="Shape 6"/>
          <p:cNvSpPr/>
          <p:nvPr/>
        </p:nvSpPr>
        <p:spPr>
          <a:xfrm>
            <a:off x="5806440" y="1386840"/>
            <a:ext cx="82296" cy="82296"/>
          </a:xfrm>
          <a:prstGeom prst="rect">
            <a:avLst/>
          </a:prstGeom>
          <a:solidFill>
            <a:srgbClr val="F2705A"/>
          </a:solidFill>
          <a:ln w="12700">
            <a:solidFill>
              <a:srgbClr val="F2705A"/>
            </a:solidFill>
            <a:prstDash val="solid"/>
          </a:ln>
        </p:spPr>
      </p:sp>
      <p:sp>
        <p:nvSpPr>
          <p:cNvPr id="10" name="Text 7"/>
          <p:cNvSpPr txBox="1"/>
          <p:nvPr/>
        </p:nvSpPr>
        <p:spPr>
          <a:xfrm>
            <a:off x="6016752" y="1325880"/>
            <a:ext cx="2670048" cy="399288"/>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The </a:t>
            </a:r>
            <a:r>
              <a:rPr lang="en-US" sz="1200" b="1" dirty="0">
                <a:solidFill>
                  <a:srgbClr val="2A2433"/>
                </a:solidFill>
                <a:latin typeface="Calibri" pitchFamily="34" charset="0"/>
                <a:ea typeface="Calibri" pitchFamily="34" charset="-122"/>
                <a:cs typeface="Calibri" pitchFamily="34" charset="-120"/>
              </a:rPr>
              <a:t>body element is the operation</a:t>
            </a:r>
            <a:r>
              <a:rPr lang="en-US" sz="1200" dirty="0">
                <a:solidFill>
                  <a:srgbClr val="2A2433"/>
                </a:solidFill>
                <a:latin typeface="Calibri" pitchFamily="34" charset="0"/>
                <a:ea typeface="Calibri" pitchFamily="34" charset="-122"/>
                <a:cs typeface="Calibri" pitchFamily="34" charset="-120"/>
              </a:rPr>
              <a:t>; its children are the parameters</a:t>
            </a:r>
            <a:endParaRPr lang="en-US" sz="1200" dirty="0"/>
          </a:p>
        </p:txBody>
      </p:sp>
      <p:sp>
        <p:nvSpPr>
          <p:cNvPr id="11" name="Shape 8"/>
          <p:cNvSpPr/>
          <p:nvPr/>
        </p:nvSpPr>
        <p:spPr>
          <a:xfrm>
            <a:off x="5806440" y="1877568"/>
            <a:ext cx="82296" cy="82296"/>
          </a:xfrm>
          <a:prstGeom prst="rect">
            <a:avLst/>
          </a:prstGeom>
          <a:solidFill>
            <a:srgbClr val="F2705A"/>
          </a:solidFill>
          <a:ln w="12700">
            <a:solidFill>
              <a:srgbClr val="F2705A"/>
            </a:solidFill>
            <a:prstDash val="solid"/>
          </a:ln>
        </p:spPr>
      </p:sp>
      <p:sp>
        <p:nvSpPr>
          <p:cNvPr id="12" name="Text 9"/>
          <p:cNvSpPr txBox="1"/>
          <p:nvPr/>
        </p:nvSpPr>
        <p:spPr>
          <a:xfrm>
            <a:off x="6016752" y="1816608"/>
            <a:ext cx="2670048" cy="399288"/>
          </a:xfrm>
          <a:prstGeom prst="rect">
            <a:avLst/>
          </a:prstGeom>
          <a:noFill/>
        </p:spPr>
        <p:txBody>
          <a:bodyPr wrap="square" lIns="0" tIns="0" rIns="0" bIns="0" rtlCol="0" anchor="t"/>
          <a:lstStyle/>
          <a:p>
            <a:pPr marL="0" indent="0" algn="l">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2A2433"/>
                </a:solidFill>
                <a:latin typeface="Calibri" pitchFamily="34" charset="0"/>
                <a:ea typeface="Calibri" pitchFamily="34" charset="-122"/>
                <a:cs typeface="Calibri" pitchFamily="34" charset="-120"/>
              </a:rPr>
              <a:t> names the intended operation</a:t>
            </a:r>
            <a:endParaRPr lang="en-US" sz="1100" dirty="0"/>
          </a:p>
        </p:txBody>
      </p:sp>
      <p:sp>
        <p:nvSpPr>
          <p:cNvPr id="13" name="Shape 10"/>
          <p:cNvSpPr/>
          <p:nvPr/>
        </p:nvSpPr>
        <p:spPr>
          <a:xfrm>
            <a:off x="5806440" y="2368296"/>
            <a:ext cx="82296" cy="82296"/>
          </a:xfrm>
          <a:prstGeom prst="rect">
            <a:avLst/>
          </a:prstGeom>
          <a:solidFill>
            <a:srgbClr val="F2705A"/>
          </a:solidFill>
          <a:ln w="12700">
            <a:solidFill>
              <a:srgbClr val="F2705A"/>
            </a:solidFill>
            <a:prstDash val="solid"/>
          </a:ln>
        </p:spPr>
      </p:sp>
      <p:sp>
        <p:nvSpPr>
          <p:cNvPr id="14" name="Text 11"/>
          <p:cNvSpPr txBox="1"/>
          <p:nvPr/>
        </p:nvSpPr>
        <p:spPr>
          <a:xfrm>
            <a:off x="6016752" y="2307336"/>
            <a:ext cx="2670048" cy="213360"/>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Often an identifier, not a real URL</a:t>
            </a:r>
            <a:endParaRPr lang="en-US" sz="1200" dirty="0"/>
          </a:p>
        </p:txBody>
      </p:sp>
      <p:sp>
        <p:nvSpPr>
          <p:cNvPr id="15" name="Shape 12"/>
          <p:cNvSpPr/>
          <p:nvPr/>
        </p:nvSpPr>
        <p:spPr>
          <a:xfrm>
            <a:off x="457200" y="3794760"/>
            <a:ext cx="8229600" cy="822960"/>
          </a:xfrm>
          <a:prstGeom prst="rect">
            <a:avLst/>
          </a:prstGeom>
          <a:solidFill>
            <a:srgbClr val="FBE4E1"/>
          </a:solidFill>
          <a:ln w="12700">
            <a:solidFill>
              <a:srgbClr val="FBE4E1"/>
            </a:solidFill>
            <a:prstDash val="solid"/>
          </a:ln>
        </p:spPr>
      </p:sp>
      <p:sp>
        <p:nvSpPr>
          <p:cNvPr id="16" name="Shape 13"/>
          <p:cNvSpPr/>
          <p:nvPr/>
        </p:nvSpPr>
        <p:spPr>
          <a:xfrm>
            <a:off x="640080" y="3977640"/>
            <a:ext cx="457200" cy="457200"/>
          </a:xfrm>
          <a:prstGeom prst="roundRect">
            <a:avLst>
              <a:gd name="adj" fmla="val 24000"/>
            </a:avLst>
          </a:prstGeom>
          <a:solidFill>
            <a:srgbClr val="C0392B"/>
          </a:solidFill>
          <a:ln w="12700">
            <a:solidFill>
              <a:srgbClr val="C0392B"/>
            </a:solidFill>
            <a:prstDash val="solid"/>
          </a:ln>
        </p:spPr>
      </p:sp>
      <p:pic>
        <p:nvPicPr>
          <p:cNvPr id="17" name="Image 0" descr="preencoded.png"/>
          <p:cNvPicPr>
            <a:picLocks noChangeAspect="1"/>
          </p:cNvPicPr>
          <p:nvPr/>
        </p:nvPicPr>
        <p:blipFill>
          <a:blip r:embed="rId1"/>
          <a:stretch>
            <a:fillRect/>
          </a:stretch>
        </p:blipFill>
        <p:spPr>
          <a:xfrm>
            <a:off x="754380" y="4091940"/>
            <a:ext cx="228600" cy="228600"/>
          </a:xfrm>
          <a:prstGeom prst="rect">
            <a:avLst/>
          </a:prstGeom>
        </p:spPr>
      </p:pic>
      <p:sp>
        <p:nvSpPr>
          <p:cNvPr id="18" name="Text 14"/>
          <p:cNvSpPr txBox="1"/>
          <p:nvPr/>
        </p:nvSpPr>
        <p:spPr>
          <a:xfrm>
            <a:off x="1280160" y="3794760"/>
            <a:ext cx="7223760" cy="822960"/>
          </a:xfrm>
          <a:prstGeom prst="rect">
            <a:avLst/>
          </a:prstGeom>
          <a:noFill/>
        </p:spPr>
        <p:txBody>
          <a:bodyPr wrap="square" lIns="0" tIns="0" rIns="0" bIns="0" rtlCol="0" anchor="ctr"/>
          <a:lstStyle/>
          <a:p>
            <a:pPr marL="0" indent="0" algn="l">
              <a:buNone/>
            </a:pPr>
            <a:r>
              <a:rPr lang="en-US" sz="1300" b="1" dirty="0">
                <a:solidFill>
                  <a:srgbClr val="2A2433"/>
                </a:solidFill>
                <a:latin typeface="Calibri" pitchFamily="34" charset="0"/>
                <a:ea typeface="Calibri" pitchFamily="34" charset="-122"/>
                <a:cs typeface="Calibri" pitchFamily="34" charset="-120"/>
              </a:rPr>
              <a:t>SOAPAction spoofing:</a:t>
            </a:r>
            <a:r>
              <a:rPr lang="en-US" sz="1300" dirty="0">
                <a:solidFill>
                  <a:srgbClr val="2A2433"/>
                </a:solidFill>
                <a:latin typeface="Calibri" pitchFamily="34" charset="0"/>
                <a:ea typeface="Calibri" pitchFamily="34" charset="-122"/>
                <a:cs typeface="Calibri" pitchFamily="34" charset="-120"/>
              </a:rPr>
              <a:t> the operation is named in </a:t>
            </a:r>
            <a:r>
              <a:rPr lang="en-US" sz="1300" b="1" dirty="0">
                <a:solidFill>
                  <a:srgbClr val="2A2433"/>
                </a:solidFill>
                <a:latin typeface="Calibri" pitchFamily="34" charset="0"/>
                <a:ea typeface="Calibri" pitchFamily="34" charset="-122"/>
                <a:cs typeface="Calibri" pitchFamily="34" charset="-120"/>
              </a:rPr>
              <a:t>two places</a:t>
            </a:r>
            <a:r>
              <a:rPr lang="en-US" sz="1300" dirty="0">
                <a:solidFill>
                  <a:srgbClr val="2A2433"/>
                </a:solidFill>
                <a:latin typeface="Calibri" pitchFamily="34" charset="0"/>
                <a:ea typeface="Calibri" pitchFamily="34" charset="-122"/>
                <a:cs typeface="Calibri" pitchFamily="34" charset="-120"/>
              </a:rPr>
              <a:t> (header and body). If the gateway trusts one and the backend the other, a sensitive operation can slip past.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SOAP 1.1 vs 1.2</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70" name="Table 0"/>
          <p:cNvGraphicFramePr>
            <a:graphicFrameLocks noGrp="1"/>
          </p:cNvGraphicFramePr>
          <p:nvPr/>
        </p:nvGraphicFramePr>
        <p:xfrm>
          <a:off x="457200" y="1325880"/>
          <a:ext cx="8229600" cy="2414016"/>
        </p:xfrm>
        <a:graphic>
          <a:graphicData uri="http://schemas.openxmlformats.org/drawingml/2006/table">
            <a:tbl>
              <a:tblPr/>
              <a:tblGrid>
                <a:gridCol w="2194560"/>
                <a:gridCol w="3017520"/>
                <a:gridCol w="3017520"/>
              </a:tblGrid>
              <a:tr h="402336">
                <a:tc>
                  <a:txBody>
                    <a:bodyPr/>
                    <a:lstStyle/>
                    <a:p>
                      <a:pPr marL="0" indent="0">
                        <a:buNone/>
                      </a:pP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SOAP 1.1</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SOAP 1.2</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Envelope namespace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schemas.xmlsoap.org/soap/envelope/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www.w3.org/2003/05/soap-envelope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Content-Type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text/xml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application/soap+xml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SOAPAction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Separate HTTP header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Moved into Content-Type as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action=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Fault format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faultcode</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faultstring</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detail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Code</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Reason</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Detail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Intermediary attribute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actor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role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WSDL: the five building blocks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71" name="Table 0"/>
          <p:cNvGraphicFramePr>
            <a:graphicFrameLocks noGrp="1"/>
          </p:cNvGraphicFramePr>
          <p:nvPr/>
        </p:nvGraphicFramePr>
        <p:xfrm>
          <a:off x="457200" y="1325880"/>
          <a:ext cx="8229600" cy="2414016"/>
        </p:xfrm>
        <a:graphic>
          <a:graphicData uri="http://schemas.openxmlformats.org/drawingml/2006/table">
            <a:tbl>
              <a:tblPr/>
              <a:tblGrid>
                <a:gridCol w="2011680"/>
                <a:gridCol w="3657600"/>
                <a:gridCol w="2560320"/>
              </a:tblGrid>
              <a:tr h="40233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Element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Question it answers</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Restaurant analogy</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40233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&lt;types&gt;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What data structures exist? (XML Schema)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Ingredients and their definitions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&lt;message&gt;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What is in each request and response?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order slip / the plate served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&lt;portType&gt;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What operations are available?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menu of dishes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40233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&lt;binding&gt;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How</a:t>
                      </a:r>
                      <a:r>
                        <a:rPr lang="en-US" sz="1200" dirty="0">
                          <a:solidFill>
                            <a:srgbClr val="2A2433"/>
                          </a:solidFill>
                          <a:latin typeface="Calibri" pitchFamily="34" charset="0"/>
                          <a:ea typeface="Calibri" pitchFamily="34" charset="-122"/>
                          <a:cs typeface="Calibri" pitchFamily="34" charset="-120"/>
                        </a:rPr>
                        <a:t> are they sent? (SOAP, style,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2A2433"/>
                          </a:solidFill>
                          <a:latin typeface="Calibri" pitchFamily="34" charset="0"/>
                          <a:ea typeface="Calibri" pitchFamily="34" charset="-122"/>
                          <a:cs typeface="Calibri" pitchFamily="34" charset="-120"/>
                        </a:rPr>
                        <a: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Dine-in vs takeaway rules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402336">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&lt;service&gt;</a:t>
                      </a:r>
                      <a:r>
                        <a:rPr lang="en-US" sz="1200" dirty="0">
                          <a:solidFill>
                            <a:srgbClr val="2A2433"/>
                          </a:solidFill>
                          <a:latin typeface="Calibri" pitchFamily="34" charset="0"/>
                          <a:ea typeface="Calibri" pitchFamily="34" charset="-122"/>
                          <a:cs typeface="Calibri" pitchFamily="34" charset="-120"/>
                        </a:rPr>
                        <a:t> /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&lt;port&gt;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Where</a:t>
                      </a:r>
                      <a:r>
                        <a:rPr lang="en-US" sz="1200" dirty="0">
                          <a:solidFill>
                            <a:srgbClr val="2A2433"/>
                          </a:solidFill>
                          <a:latin typeface="Calibri" pitchFamily="34" charset="0"/>
                          <a:ea typeface="Calibri" pitchFamily="34" charset="-122"/>
                          <a:cs typeface="Calibri" pitchFamily="34" charset="-120"/>
                        </a:rPr>
                        <a:t> is it? (the URL)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restaurant's address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4023360"/>
            <a:ext cx="8229600" cy="457200"/>
          </a:xfrm>
          <a:prstGeom prst="rect">
            <a:avLst/>
          </a:prstGeom>
          <a:noFill/>
        </p:spPr>
        <p:txBody>
          <a:bodyPr wrap="square" lIns="0" tIns="0" rIns="0" bIns="0" rtlCol="0" anchor="t"/>
          <a:lstStyle/>
          <a:p>
            <a:pPr marL="0" indent="0" algn="l">
              <a:buNone/>
            </a:pPr>
            <a:r>
              <a:rPr lang="en-US" sz="1300" dirty="0">
                <a:solidFill>
                  <a:srgbClr val="655C73"/>
                </a:solidFill>
                <a:latin typeface="Calibri" pitchFamily="34" charset="0"/>
                <a:ea typeface="Calibri" pitchFamily="34" charset="-122"/>
                <a:cs typeface="Calibri" pitchFamily="34" charset="-120"/>
              </a:rPr>
              <a:t>Style: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document/literal</a:t>
            </a:r>
            <a:r>
              <a:rPr lang="en-US" sz="1300" dirty="0">
                <a:solidFill>
                  <a:srgbClr val="655C73"/>
                </a:solidFill>
                <a:latin typeface="Calibri" pitchFamily="34" charset="0"/>
                <a:ea typeface="Calibri" pitchFamily="34" charset="-122"/>
                <a:cs typeface="Calibri" pitchFamily="34" charset="-120"/>
              </a:rPr>
              <a:t> is the modern default; </a:t>
            </a:r>
            <a:r>
              <a:rPr lang="en-US" sz="12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rpc/encoded</a:t>
            </a:r>
            <a:r>
              <a:rPr lang="en-US" sz="1300" dirty="0">
                <a:solidFill>
                  <a:srgbClr val="655C73"/>
                </a:solidFill>
                <a:latin typeface="Calibri" pitchFamily="34" charset="0"/>
                <a:ea typeface="Calibri" pitchFamily="34" charset="-122"/>
                <a:cs typeface="Calibri" pitchFamily="34" charset="-120"/>
              </a:rPr>
              <a:t> is older. Both exist.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Reading a WSDL: bottom-up</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71600"/>
            <a:ext cx="1851660" cy="1920240"/>
          </a:xfrm>
          <a:prstGeom prst="rect">
            <a:avLst/>
          </a:prstGeom>
          <a:solidFill>
            <a:srgbClr val="FFFFFF"/>
          </a:solidFill>
          <a:ln w="9525">
            <a:solidFill>
              <a:srgbClr val="D6CCE6"/>
            </a:solidFill>
          </a:ln>
        </p:spPr>
      </p:sp>
      <p:sp>
        <p:nvSpPr>
          <p:cNvPr id="7" name="Text 4"/>
          <p:cNvSpPr txBox="1"/>
          <p:nvPr/>
        </p:nvSpPr>
        <p:spPr>
          <a:xfrm>
            <a:off x="548640" y="148132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1. &lt;service&gt;</a:t>
            </a:r>
            <a:endParaRPr lang="en-US" sz="1300" dirty="0"/>
          </a:p>
        </p:txBody>
      </p:sp>
      <p:sp>
        <p:nvSpPr>
          <p:cNvPr id="8" name="Text 5"/>
          <p:cNvSpPr txBox="1"/>
          <p:nvPr/>
        </p:nvSpPr>
        <p:spPr>
          <a:xfrm>
            <a:off x="548640" y="1792224"/>
            <a:ext cx="1668780" cy="142646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Find the endpoint URL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soap:address location</a:t>
            </a:r>
            <a:r>
              <a:rPr lang="en-US" sz="1200" dirty="0">
                <a:solidFill>
                  <a:srgbClr val="2A2433"/>
                </a:solidFill>
                <a:latin typeface="Calibri" pitchFamily="34" charset="0"/>
                <a:ea typeface="Calibri" pitchFamily="34" charset="-122"/>
                <a:cs typeface="Calibri" pitchFamily="34" charset="-120"/>
              </a:rPr>
              <a:t>)</a:t>
            </a:r>
            <a:endParaRPr lang="en-US" sz="1200" dirty="0"/>
          </a:p>
        </p:txBody>
      </p:sp>
      <p:sp>
        <p:nvSpPr>
          <p:cNvPr id="9" name="Shape 6"/>
          <p:cNvSpPr/>
          <p:nvPr/>
        </p:nvSpPr>
        <p:spPr>
          <a:xfrm>
            <a:off x="2345436" y="2212848"/>
            <a:ext cx="201168" cy="237744"/>
          </a:xfrm>
          <a:prstGeom prst="rightArrow">
            <a:avLst/>
          </a:prstGeom>
          <a:solidFill>
            <a:srgbClr val="F2705A"/>
          </a:solidFill>
          <a:ln w="12700">
            <a:solidFill>
              <a:srgbClr val="F2705A"/>
            </a:solidFill>
            <a:prstDash val="solid"/>
          </a:ln>
        </p:spPr>
      </p:sp>
      <p:sp>
        <p:nvSpPr>
          <p:cNvPr id="10" name="Shape 7"/>
          <p:cNvSpPr/>
          <p:nvPr/>
        </p:nvSpPr>
        <p:spPr>
          <a:xfrm>
            <a:off x="2583180" y="1371600"/>
            <a:ext cx="1851660" cy="1920240"/>
          </a:xfrm>
          <a:prstGeom prst="rect">
            <a:avLst/>
          </a:prstGeom>
          <a:solidFill>
            <a:srgbClr val="FFFFFF"/>
          </a:solidFill>
          <a:ln w="9525">
            <a:solidFill>
              <a:srgbClr val="D6CCE6"/>
            </a:solidFill>
          </a:ln>
        </p:spPr>
      </p:sp>
      <p:sp>
        <p:nvSpPr>
          <p:cNvPr id="11" name="Text 8"/>
          <p:cNvSpPr txBox="1"/>
          <p:nvPr/>
        </p:nvSpPr>
        <p:spPr>
          <a:xfrm>
            <a:off x="2674620" y="148132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2. &lt;binding&gt;</a:t>
            </a:r>
            <a:endParaRPr lang="en-US" sz="1300" dirty="0"/>
          </a:p>
        </p:txBody>
      </p:sp>
      <p:sp>
        <p:nvSpPr>
          <p:cNvPr id="12" name="Text 9"/>
          <p:cNvSpPr txBox="1"/>
          <p:nvPr/>
        </p:nvSpPr>
        <p:spPr>
          <a:xfrm>
            <a:off x="2674620" y="1792224"/>
            <a:ext cx="1668780" cy="142646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Each operation's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2A2433"/>
                </a:solidFill>
                <a:latin typeface="Calibri" pitchFamily="34" charset="0"/>
                <a:ea typeface="Calibri" pitchFamily="34" charset="-122"/>
                <a:cs typeface="Calibri" pitchFamily="34" charset="-120"/>
              </a:rPr>
              <a:t> and style</a:t>
            </a:r>
            <a:endParaRPr lang="en-US" sz="1200" dirty="0"/>
          </a:p>
        </p:txBody>
      </p:sp>
      <p:sp>
        <p:nvSpPr>
          <p:cNvPr id="13" name="Shape 10"/>
          <p:cNvSpPr/>
          <p:nvPr/>
        </p:nvSpPr>
        <p:spPr>
          <a:xfrm>
            <a:off x="4471416" y="2212848"/>
            <a:ext cx="201168" cy="237744"/>
          </a:xfrm>
          <a:prstGeom prst="rightArrow">
            <a:avLst/>
          </a:prstGeom>
          <a:solidFill>
            <a:srgbClr val="F2705A"/>
          </a:solidFill>
          <a:ln w="12700">
            <a:solidFill>
              <a:srgbClr val="F2705A"/>
            </a:solidFill>
            <a:prstDash val="solid"/>
          </a:ln>
        </p:spPr>
      </p:sp>
      <p:sp>
        <p:nvSpPr>
          <p:cNvPr id="14" name="Shape 11"/>
          <p:cNvSpPr/>
          <p:nvPr/>
        </p:nvSpPr>
        <p:spPr>
          <a:xfrm>
            <a:off x="4709160" y="1371600"/>
            <a:ext cx="1851660" cy="1920240"/>
          </a:xfrm>
          <a:prstGeom prst="rect">
            <a:avLst/>
          </a:prstGeom>
          <a:solidFill>
            <a:srgbClr val="FDEAE5"/>
          </a:solidFill>
          <a:ln w="12700">
            <a:solidFill>
              <a:srgbClr val="FDEAE5"/>
            </a:solidFill>
            <a:prstDash val="solid"/>
          </a:ln>
        </p:spPr>
      </p:sp>
      <p:sp>
        <p:nvSpPr>
          <p:cNvPr id="15" name="Text 12"/>
          <p:cNvSpPr txBox="1"/>
          <p:nvPr/>
        </p:nvSpPr>
        <p:spPr>
          <a:xfrm>
            <a:off x="4800600" y="148132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3. &lt;portType&gt;</a:t>
            </a:r>
            <a:endParaRPr lang="en-US" sz="1300" dirty="0"/>
          </a:p>
        </p:txBody>
      </p:sp>
      <p:sp>
        <p:nvSpPr>
          <p:cNvPr id="16" name="Text 13"/>
          <p:cNvSpPr txBox="1"/>
          <p:nvPr/>
        </p:nvSpPr>
        <p:spPr>
          <a:xfrm>
            <a:off x="4800600" y="1792224"/>
            <a:ext cx="1668780" cy="142646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List all operations: your </a:t>
            </a:r>
            <a:r>
              <a:rPr lang="en-US" sz="1200" b="1" dirty="0">
                <a:solidFill>
                  <a:srgbClr val="2A2433"/>
                </a:solidFill>
                <a:latin typeface="Calibri" pitchFamily="34" charset="0"/>
                <a:ea typeface="Calibri" pitchFamily="34" charset="-122"/>
                <a:cs typeface="Calibri" pitchFamily="34" charset="-120"/>
              </a:rPr>
              <a:t>attack surface</a:t>
            </a:r>
            <a:endParaRPr lang="en-US" sz="1200" dirty="0"/>
          </a:p>
        </p:txBody>
      </p:sp>
      <p:sp>
        <p:nvSpPr>
          <p:cNvPr id="17" name="Shape 14"/>
          <p:cNvSpPr/>
          <p:nvPr/>
        </p:nvSpPr>
        <p:spPr>
          <a:xfrm>
            <a:off x="6597396" y="2212848"/>
            <a:ext cx="201168" cy="237744"/>
          </a:xfrm>
          <a:prstGeom prst="rightArrow">
            <a:avLst/>
          </a:prstGeom>
          <a:solidFill>
            <a:srgbClr val="F2705A"/>
          </a:solidFill>
          <a:ln w="12700">
            <a:solidFill>
              <a:srgbClr val="F2705A"/>
            </a:solidFill>
            <a:prstDash val="solid"/>
          </a:ln>
        </p:spPr>
      </p:sp>
      <p:sp>
        <p:nvSpPr>
          <p:cNvPr id="18" name="Shape 15"/>
          <p:cNvSpPr/>
          <p:nvPr/>
        </p:nvSpPr>
        <p:spPr>
          <a:xfrm>
            <a:off x="6835140" y="1371600"/>
            <a:ext cx="1851660" cy="1920240"/>
          </a:xfrm>
          <a:prstGeom prst="rect">
            <a:avLst/>
          </a:prstGeom>
          <a:solidFill>
            <a:srgbClr val="FFFFFF"/>
          </a:solidFill>
          <a:ln w="9525">
            <a:solidFill>
              <a:srgbClr val="D6CCE6"/>
            </a:solidFill>
          </a:ln>
        </p:spPr>
      </p:sp>
      <p:sp>
        <p:nvSpPr>
          <p:cNvPr id="19" name="Text 16"/>
          <p:cNvSpPr txBox="1"/>
          <p:nvPr/>
        </p:nvSpPr>
        <p:spPr>
          <a:xfrm>
            <a:off x="6926580" y="1481328"/>
            <a:ext cx="1668780" cy="274320"/>
          </a:xfrm>
          <a:prstGeom prst="rect">
            <a:avLst/>
          </a:prstGeom>
          <a:noFill/>
        </p:spPr>
        <p:txBody>
          <a:bodyPr wrap="square" lIns="0" tIns="0" rIns="0" bIns="0" rtlCol="0" anchor="ctr"/>
          <a:lstStyle/>
          <a:p>
            <a:pPr marL="0" indent="0" algn="ctr">
              <a:buNone/>
            </a:pPr>
            <a:r>
              <a:rPr lang="en-US" sz="1300" b="1" dirty="0">
                <a:solidFill>
                  <a:srgbClr val="2B1B3F"/>
                </a:solidFill>
                <a:latin typeface="Calibri" pitchFamily="34" charset="0"/>
                <a:ea typeface="Calibri" pitchFamily="34" charset="-122"/>
                <a:cs typeface="Calibri" pitchFamily="34" charset="-120"/>
              </a:rPr>
              <a:t>4. &lt;message&gt;, &lt;types&gt;</a:t>
            </a:r>
            <a:endParaRPr lang="en-US" sz="1300" dirty="0"/>
          </a:p>
        </p:txBody>
      </p:sp>
      <p:sp>
        <p:nvSpPr>
          <p:cNvPr id="20" name="Text 17"/>
          <p:cNvSpPr txBox="1"/>
          <p:nvPr/>
        </p:nvSpPr>
        <p:spPr>
          <a:xfrm>
            <a:off x="6926580" y="1792224"/>
            <a:ext cx="1668780" cy="1426464"/>
          </a:xfrm>
          <a:prstGeom prst="rect">
            <a:avLst/>
          </a:prstGeom>
          <a:noFill/>
        </p:spPr>
        <p:txBody>
          <a:bodyPr wrap="square" lIns="0" tIns="0" rIns="0" bIns="0" rtlCol="0" anchor="t"/>
          <a:lstStyle/>
          <a:p>
            <a:pPr marL="0" indent="0" algn="ctr">
              <a:buNone/>
            </a:pPr>
            <a:r>
              <a:rPr lang="en-US" sz="1200" dirty="0">
                <a:solidFill>
                  <a:srgbClr val="2A2433"/>
                </a:solidFill>
                <a:latin typeface="Calibri" pitchFamily="34" charset="0"/>
                <a:ea typeface="Calibri" pitchFamily="34" charset="-122"/>
                <a:cs typeface="Calibri" pitchFamily="34" charset="-120"/>
              </a:rPr>
              <a:t>Parameters and data types, to build valid (and invalid) requests</a:t>
            </a:r>
            <a:endParaRPr lang="en-US" sz="1200" dirty="0"/>
          </a:p>
        </p:txBody>
      </p:sp>
      <p:sp>
        <p:nvSpPr>
          <p:cNvPr id="21" name="Shape 18"/>
          <p:cNvSpPr/>
          <p:nvPr/>
        </p:nvSpPr>
        <p:spPr>
          <a:xfrm>
            <a:off x="457200" y="3566160"/>
            <a:ext cx="8229600" cy="822960"/>
          </a:xfrm>
          <a:prstGeom prst="rect">
            <a:avLst/>
          </a:prstGeom>
          <a:solidFill>
            <a:srgbClr val="FDEAE5"/>
          </a:solidFill>
          <a:ln w="12700">
            <a:solidFill>
              <a:srgbClr val="FDEAE5"/>
            </a:solidFill>
            <a:prstDash val="solid"/>
          </a:ln>
        </p:spPr>
      </p:sp>
      <p:sp>
        <p:nvSpPr>
          <p:cNvPr id="22" name="Shape 19"/>
          <p:cNvSpPr/>
          <p:nvPr/>
        </p:nvSpPr>
        <p:spPr>
          <a:xfrm>
            <a:off x="640080" y="3749040"/>
            <a:ext cx="457200" cy="457200"/>
          </a:xfrm>
          <a:prstGeom prst="roundRect">
            <a:avLst>
              <a:gd name="adj" fmla="val 24000"/>
            </a:avLst>
          </a:prstGeom>
          <a:solidFill>
            <a:srgbClr val="F2705A"/>
          </a:solidFill>
          <a:ln w="12700">
            <a:solidFill>
              <a:srgbClr val="F2705A"/>
            </a:solidFill>
            <a:prstDash val="solid"/>
          </a:ln>
        </p:spPr>
      </p:sp>
      <p:pic>
        <p:nvPicPr>
          <p:cNvPr id="23" name="Image 0" descr="preencoded.png"/>
          <p:cNvPicPr>
            <a:picLocks noChangeAspect="1"/>
          </p:cNvPicPr>
          <p:nvPr/>
        </p:nvPicPr>
        <p:blipFill>
          <a:blip r:embed="rId1"/>
          <a:stretch>
            <a:fillRect/>
          </a:stretch>
        </p:blipFill>
        <p:spPr>
          <a:xfrm>
            <a:off x="754380" y="3863340"/>
            <a:ext cx="228600" cy="228600"/>
          </a:xfrm>
          <a:prstGeom prst="rect">
            <a:avLst/>
          </a:prstGeom>
        </p:spPr>
      </p:pic>
      <p:sp>
        <p:nvSpPr>
          <p:cNvPr id="24" name="Text 20"/>
          <p:cNvSpPr txBox="1"/>
          <p:nvPr/>
        </p:nvSpPr>
        <p:spPr>
          <a:xfrm>
            <a:off x="1280160" y="3566160"/>
            <a:ext cx="7223760" cy="822960"/>
          </a:xfrm>
          <a:prstGeom prst="rect">
            <a:avLst/>
          </a:prstGeom>
          <a:noFill/>
        </p:spPr>
        <p:txBody>
          <a:bodyPr wrap="square" lIns="0" tIns="0" rIns="0" bIns="0" rtlCol="0" anchor="ctr"/>
          <a:lstStyle/>
          <a:p>
            <a:pPr marL="0" indent="0" algn="l">
              <a:buNone/>
            </a:pPr>
            <a:r>
              <a:rPr lang="en-US" sz="1500" dirty="0">
                <a:solidFill>
                  <a:srgbClr val="2A2433"/>
                </a:solidFill>
                <a:latin typeface="Calibri" pitchFamily="34" charset="0"/>
                <a:ea typeface="Calibri" pitchFamily="34" charset="-122"/>
                <a:cs typeface="Calibri" pitchFamily="34" charset="-120"/>
              </a:rPr>
              <a:t>Read </a:t>
            </a:r>
            <a:r>
              <a:rPr lang="en-US" sz="1500" b="1" dirty="0">
                <a:solidFill>
                  <a:srgbClr val="2A2433"/>
                </a:solidFill>
                <a:latin typeface="Calibri" pitchFamily="34" charset="0"/>
                <a:ea typeface="Calibri" pitchFamily="34" charset="-122"/>
                <a:cs typeface="Calibri" pitchFamily="34" charset="-120"/>
              </a:rPr>
              <a:t>bottom-up</a:t>
            </a:r>
            <a:r>
              <a:rPr lang="en-US" sz="1500" dirty="0">
                <a:solidFill>
                  <a:srgbClr val="2A2433"/>
                </a:solidFill>
                <a:latin typeface="Calibri" pitchFamily="34" charset="0"/>
                <a:ea typeface="Calibri" pitchFamily="34" charset="-122"/>
                <a:cs typeface="Calibri" pitchFamily="34" charset="-120"/>
              </a:rPr>
              <a:t>: where to send it, how, what is offered, then what to put in it.</a:t>
            </a:r>
            <a:endParaRPr lang="en-US" sz="15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From WSDL to request</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73" name="Table 0"/>
          <p:cNvGraphicFramePr>
            <a:graphicFrameLocks noGrp="1"/>
          </p:cNvGraphicFramePr>
          <p:nvPr/>
        </p:nvGraphicFramePr>
        <p:xfrm>
          <a:off x="457200" y="1325880"/>
          <a:ext cx="8229600" cy="1645920"/>
        </p:xfrm>
        <a:graphic>
          <a:graphicData uri="http://schemas.openxmlformats.org/drawingml/2006/table">
            <a:tbl>
              <a:tblPr/>
              <a:tblGrid>
                <a:gridCol w="4206240"/>
                <a:gridCol w="4023360"/>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 the WSDL</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it appears in the request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29184">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soapAction="http://bank.example.com/GetBalance"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200" dirty="0">
                          <a:solidFill>
                            <a:srgbClr val="2A2433"/>
                          </a:solidFill>
                          <a:latin typeface="Calibri" pitchFamily="34" charset="0"/>
                          <a:ea typeface="Calibri" pitchFamily="34" charset="-122"/>
                          <a:cs typeface="Calibri" pitchFamily="34" charset="-120"/>
                        </a:rPr>
                        <a:t> header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GetBalance</a:t>
                      </a:r>
                      <a:r>
                        <a:rPr lang="en-US" sz="1200" dirty="0">
                          <a:solidFill>
                            <a:srgbClr val="2A2433"/>
                          </a:solidFill>
                          <a:latin typeface="Calibri" pitchFamily="34" charset="0"/>
                          <a:ea typeface="Calibri" pitchFamily="34" charset="-122"/>
                          <a:cs typeface="Calibri" pitchFamily="34" charset="-120"/>
                        </a:rPr>
                        <a:t> element in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&lt;types&gt;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element inside the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Body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29184">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accountNumber</a:t>
                      </a:r>
                      <a:r>
                        <a:rPr lang="en-US" sz="1200" dirty="0">
                          <a:solidFill>
                            <a:srgbClr val="2A2433"/>
                          </a:solidFill>
                          <a:latin typeface="Calibri" pitchFamily="34" charset="0"/>
                          <a:ea typeface="Calibri" pitchFamily="34" charset="-122"/>
                          <a:cs typeface="Calibri" pitchFamily="34" charset="-120"/>
                        </a:rPr>
                        <a:t> child element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 parameter: child of that element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29184">
                <a:tc>
                  <a:txBody>
                    <a:bodyPr/>
                    <a:lstStyle/>
                    <a:p>
                      <a:pPr marL="0" indent="0">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soap:address location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The URL you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a:t>
                      </a:r>
                      <a:r>
                        <a:rPr lang="en-US" sz="1200" dirty="0">
                          <a:solidFill>
                            <a:srgbClr val="2A2433"/>
                          </a:solidFill>
                          <a:latin typeface="Calibri" pitchFamily="34" charset="0"/>
                          <a:ea typeface="Calibri" pitchFamily="34" charset="-122"/>
                          <a:cs typeface="Calibri" pitchFamily="34" charset="-120"/>
                        </a:rPr>
                        <a:t> to</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bl>
          </a:graphicData>
        </a:graphic>
      </p:graphicFrame>
      <p:sp>
        <p:nvSpPr>
          <p:cNvPr id="7" name="Shape 3"/>
          <p:cNvSpPr/>
          <p:nvPr/>
        </p:nvSpPr>
        <p:spPr>
          <a:xfrm>
            <a:off x="457200" y="3383280"/>
            <a:ext cx="4023360" cy="1188720"/>
          </a:xfrm>
          <a:prstGeom prst="rect">
            <a:avLst/>
          </a:prstGeom>
          <a:solidFill>
            <a:srgbClr val="FFFFFF"/>
          </a:solidFill>
          <a:ln w="9525">
            <a:solidFill>
              <a:srgbClr val="D6CCE6"/>
            </a:solidFill>
          </a:ln>
        </p:spPr>
      </p:sp>
      <p:sp>
        <p:nvSpPr>
          <p:cNvPr id="8" name="Text 4"/>
          <p:cNvSpPr txBox="1"/>
          <p:nvPr/>
        </p:nvSpPr>
        <p:spPr>
          <a:xfrm>
            <a:off x="621792" y="3520440"/>
            <a:ext cx="369417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Getting a WSDL</a:t>
            </a:r>
            <a:endParaRPr lang="en-US" sz="1300" dirty="0"/>
          </a:p>
        </p:txBody>
      </p:sp>
      <p:sp>
        <p:nvSpPr>
          <p:cNvPr id="9" name="Text 5"/>
          <p:cNvSpPr txBox="1"/>
          <p:nvPr/>
        </p:nvSpPr>
        <p:spPr>
          <a:xfrm>
            <a:off x="621792" y="3809111"/>
            <a:ext cx="3694176" cy="671449"/>
          </a:xfrm>
          <a:prstGeom prst="rect">
            <a:avLst/>
          </a:prstGeom>
          <a:noFill/>
        </p:spPr>
        <p:txBody>
          <a:bodyPr wrap="square" lIns="0" tIns="0" rIns="0" bIns="0" rtlCol="0" anchor="t"/>
          <a:lstStyle/>
          <a:p>
            <a:pPr marL="0" indent="0" algn="l">
              <a:buNone/>
            </a:pP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?wsdl</a:t>
            </a:r>
            <a:r>
              <a:rPr lang="en-US" sz="1200" dirty="0">
                <a:solidFill>
                  <a:srgbClr val="2A2433"/>
                </a:solidFill>
                <a:latin typeface="Calibri" pitchFamily="34" charset="0"/>
                <a:ea typeface="Calibri" pitchFamily="34" charset="-122"/>
                <a:cs typeface="Calibri" pitchFamily="34" charset="-120"/>
              </a:rPr>
              <a:t> on the endpoint,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Service.asmx?WSDL</a:t>
            </a:r>
            <a:r>
              <a:rPr lang="en-US" sz="1200" dirty="0">
                <a:solidFill>
                  <a:srgbClr val="2A2433"/>
                </a:solidFill>
                <a:latin typeface="Calibri" pitchFamily="34" charset="0"/>
                <a:ea typeface="Calibri" pitchFamily="34" charset="-122"/>
                <a:cs typeface="Calibri" pitchFamily="34" charset="-120"/>
              </a:rPr>
              <a:t>,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Service.svc?wsdl</a:t>
            </a:r>
            <a:r>
              <a:rPr lang="en-US" sz="1200" dirty="0">
                <a:solidFill>
                  <a:srgbClr val="2A2433"/>
                </a:solidFill>
                <a:latin typeface="Calibri" pitchFamily="34" charset="0"/>
                <a:ea typeface="Calibri" pitchFamily="34" charset="-122"/>
                <a:cs typeface="Calibri" pitchFamily="34" charset="-120"/>
              </a:rPr>
              <a:t>, or a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/services/</a:t>
            </a:r>
            <a:r>
              <a:rPr lang="en-US" sz="1200" dirty="0">
                <a:solidFill>
                  <a:srgbClr val="2A2433"/>
                </a:solidFill>
                <a:latin typeface="Calibri" pitchFamily="34" charset="0"/>
                <a:ea typeface="Calibri" pitchFamily="34" charset="-122"/>
                <a:cs typeface="Calibri" pitchFamily="34" charset="-120"/>
              </a:rPr>
              <a:t> listing</a:t>
            </a:r>
            <a:endParaRPr lang="en-US" sz="1100" dirty="0"/>
          </a:p>
        </p:txBody>
      </p:sp>
      <p:sp>
        <p:nvSpPr>
          <p:cNvPr id="10" name="Shape 6"/>
          <p:cNvSpPr/>
          <p:nvPr/>
        </p:nvSpPr>
        <p:spPr>
          <a:xfrm>
            <a:off x="4663440" y="3383280"/>
            <a:ext cx="4023360" cy="1188720"/>
          </a:xfrm>
          <a:prstGeom prst="rect">
            <a:avLst/>
          </a:prstGeom>
          <a:solidFill>
            <a:srgbClr val="FFFFFF"/>
          </a:solidFill>
          <a:ln w="9525">
            <a:solidFill>
              <a:srgbClr val="D6CCE6"/>
            </a:solidFill>
          </a:ln>
        </p:spPr>
      </p:sp>
      <p:sp>
        <p:nvSpPr>
          <p:cNvPr id="11" name="Text 7"/>
          <p:cNvSpPr txBox="1"/>
          <p:nvPr/>
        </p:nvSpPr>
        <p:spPr>
          <a:xfrm>
            <a:off x="4828032" y="3520440"/>
            <a:ext cx="369417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Blocked </a:t>
            </a:r>
            <a:r>
              <a:rPr lang="en-US" sz="1200" b="1"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?wsdl</a:t>
            </a:r>
            <a:endParaRPr lang="en-US" sz="1300" dirty="0"/>
          </a:p>
        </p:txBody>
      </p:sp>
      <p:sp>
        <p:nvSpPr>
          <p:cNvPr id="12" name="Text 8"/>
          <p:cNvSpPr txBox="1"/>
          <p:nvPr/>
        </p:nvSpPr>
        <p:spPr>
          <a:xfrm>
            <a:off x="4828032" y="3809111"/>
            <a:ext cx="3694176" cy="671449"/>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Does </a:t>
            </a:r>
            <a:r>
              <a:rPr lang="en-US" sz="1200" b="1" dirty="0">
                <a:solidFill>
                  <a:srgbClr val="2A2433"/>
                </a:solidFill>
                <a:latin typeface="Calibri" pitchFamily="34" charset="0"/>
                <a:ea typeface="Calibri" pitchFamily="34" charset="-122"/>
                <a:cs typeface="Calibri" pitchFamily="34" charset="-120"/>
              </a:rPr>
              <a:t>not</a:t>
            </a:r>
            <a:r>
              <a:rPr lang="en-US" sz="1200" dirty="0">
                <a:solidFill>
                  <a:srgbClr val="2A2433"/>
                </a:solidFill>
                <a:latin typeface="Calibri" pitchFamily="34" charset="0"/>
                <a:ea typeface="Calibri" pitchFamily="34" charset="-122"/>
                <a:cs typeface="Calibri" pitchFamily="34" charset="-120"/>
              </a:rPr>
              <a:t> mean the service is protected: operations work if you know their names</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 SOAP request and response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572000" cy="3291840"/>
          </a:xfrm>
          <a:prstGeom prst="rect">
            <a:avLst/>
          </a:prstGeom>
          <a:solidFill>
            <a:srgbClr val="241733"/>
          </a:solidFill>
          <a:ln w="12700">
            <a:solidFill>
              <a:srgbClr val="241733"/>
            </a:solidFill>
            <a:prstDash val="solid"/>
          </a:ln>
        </p:spPr>
      </p:sp>
      <p:sp>
        <p:nvSpPr>
          <p:cNvPr id="7" name="Text 4"/>
          <p:cNvSpPr txBox="1"/>
          <p:nvPr/>
        </p:nvSpPr>
        <p:spPr>
          <a:xfrm>
            <a:off x="640080" y="1371600"/>
            <a:ext cx="420624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REQUEST</a:t>
            </a:r>
            <a:endParaRPr lang="en-US" sz="1000" dirty="0"/>
          </a:p>
        </p:txBody>
      </p:sp>
      <p:sp>
        <p:nvSpPr>
          <p:cNvPr id="8" name="Text 5"/>
          <p:cNvSpPr txBox="1"/>
          <p:nvPr/>
        </p:nvSpPr>
        <p:spPr>
          <a:xfrm>
            <a:off x="640080" y="1627632"/>
            <a:ext cx="4206240" cy="285292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POST /services/AccountService HTTP/1.1</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text/xml; charset=utf-8</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SOAPAction: "http://bank.example.com/GetBalance"</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&lt;soapenv:Envelope ...&gt;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&lt;soapenv:Header&gt;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&lt;wsse:Security&gt;...username/password...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&lt;/wsse:Security&gt;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&lt;/soapenv:Header&gt;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&lt;acc:GetBalance&gt;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&lt;acc:accountNumber&gt;1234567890</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&lt;/acc:accountNumber&gt;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&lt;/acc:GetBalance&gt;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&lt;/soapenv:Envelope&gt;</a:t>
            </a:r>
            <a:endParaRPr lang="en-US" sz="1000" dirty="0"/>
          </a:p>
        </p:txBody>
      </p:sp>
      <p:sp>
        <p:nvSpPr>
          <p:cNvPr id="9" name="Shape 6"/>
          <p:cNvSpPr/>
          <p:nvPr/>
        </p:nvSpPr>
        <p:spPr>
          <a:xfrm>
            <a:off x="5212080" y="1280160"/>
            <a:ext cx="3474720" cy="3291840"/>
          </a:xfrm>
          <a:prstGeom prst="rect">
            <a:avLst/>
          </a:prstGeom>
          <a:solidFill>
            <a:srgbClr val="241733"/>
          </a:solidFill>
          <a:ln w="12700">
            <a:solidFill>
              <a:srgbClr val="241733"/>
            </a:solidFill>
            <a:prstDash val="solid"/>
          </a:ln>
        </p:spPr>
      </p:sp>
      <p:sp>
        <p:nvSpPr>
          <p:cNvPr id="10" name="Text 7"/>
          <p:cNvSpPr txBox="1"/>
          <p:nvPr/>
        </p:nvSpPr>
        <p:spPr>
          <a:xfrm>
            <a:off x="5394960" y="1371600"/>
            <a:ext cx="310896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RESPONSE</a:t>
            </a:r>
            <a:endParaRPr lang="en-US" sz="1000" dirty="0"/>
          </a:p>
        </p:txBody>
      </p:sp>
      <p:sp>
        <p:nvSpPr>
          <p:cNvPr id="11" name="Text 8"/>
          <p:cNvSpPr txBox="1"/>
          <p:nvPr/>
        </p:nvSpPr>
        <p:spPr>
          <a:xfrm>
            <a:off x="5394960" y="1627632"/>
            <a:ext cx="3108960" cy="285292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HTTP/1.1 200 OK</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text/xml; charset=utf-8</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&lt;soapenv:Envelope ...&gt;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&lt;acc:GetBalanceResponse&gt;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&lt;acc:balance&gt;10450.75</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&lt;/acc:balance&gt;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&lt;acc:currency&gt;INR</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&lt;/acc:currency&gt;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&lt;/acc:GetBalanceResponse&gt;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&lt;/soapenv:Body&gt;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&lt;/soapenv:Envelope&gt;</a:t>
            </a:r>
            <a:endParaRPr lang="en-US" sz="10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SOAP faults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754880" cy="3291840"/>
          </a:xfrm>
          <a:prstGeom prst="rect">
            <a:avLst/>
          </a:prstGeom>
          <a:solidFill>
            <a:srgbClr val="241733"/>
          </a:solidFill>
          <a:ln w="12700">
            <a:solidFill>
              <a:srgbClr val="241733"/>
            </a:solidFill>
            <a:prstDash val="solid"/>
          </a:ln>
        </p:spPr>
      </p:sp>
      <p:sp>
        <p:nvSpPr>
          <p:cNvPr id="7" name="Text 4"/>
          <p:cNvSpPr txBox="1"/>
          <p:nvPr/>
        </p:nvSpPr>
        <p:spPr>
          <a:xfrm>
            <a:off x="640080" y="1371600"/>
            <a:ext cx="438912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A FAULT</a:t>
            </a:r>
            <a:endParaRPr lang="en-US" sz="1000" dirty="0"/>
          </a:p>
        </p:txBody>
      </p:sp>
      <p:sp>
        <p:nvSpPr>
          <p:cNvPr id="8" name="Text 5"/>
          <p:cNvSpPr txBox="1"/>
          <p:nvPr/>
        </p:nvSpPr>
        <p:spPr>
          <a:xfrm>
            <a:off x="640080" y="1627632"/>
            <a:ext cx="4389120" cy="2852928"/>
          </a:xfrm>
          <a:prstGeom prst="rect">
            <a:avLst/>
          </a:prstGeom>
          <a:noFill/>
        </p:spPr>
        <p:txBody>
          <a:bodyPr wrap="square" lIns="0" tIns="0" rIns="0" bIns="0" rtlCol="0" anchor="t"/>
          <a:lstStyle/>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HTTP/1.1 500 Internal Server Error</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&lt;soapenv:Fault&gt;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&lt;faultcode&gt;soapenv:Client&lt;/faultcode&gt;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&lt;faultstring&gt;Invalid account number</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&lt;/faultstring&gt;</a:t>
            </a:r>
            <a:endParaRPr lang="en-US" sz="950" dirty="0"/>
          </a:p>
          <a:p>
            <a:pPr marL="0" indent="0">
              <a:lnSpc>
                <a:spcPct val="100000"/>
              </a:lnSpc>
              <a:buNone/>
            </a:pPr>
            <a:r>
              <a:rPr lang="en-US" sz="95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&lt;detail&gt;</a:t>
            </a:r>
            <a:endParaRPr lang="en-US" sz="950" dirty="0"/>
          </a:p>
          <a:p>
            <a:pPr marL="0" indent="0">
              <a:lnSpc>
                <a:spcPct val="100000"/>
              </a:lnSpc>
              <a:buNone/>
            </a:pPr>
            <a:r>
              <a:rPr lang="en-US" sz="95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&lt;error&gt;AccountNotFoundException at</a:t>
            </a:r>
            <a:endParaRPr lang="en-US" sz="950" dirty="0"/>
          </a:p>
          <a:p>
            <a:pPr marL="0" indent="0">
              <a:lnSpc>
                <a:spcPct val="100000"/>
              </a:lnSpc>
              <a:buNone/>
            </a:pPr>
            <a:r>
              <a:rPr lang="en-US" sz="95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com.bank.AccountDao.find(</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AccountDao.java:88)&lt;/error&gt;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&lt;/detail&gt;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&lt;/soapenv:Fault&gt;</a:t>
            </a:r>
            <a:endParaRPr lang="en-US" sz="950" dirty="0"/>
          </a:p>
        </p:txBody>
      </p:sp>
      <p:graphicFrame>
        <p:nvGraphicFramePr>
          <p:cNvPr id="75" name="Table 0"/>
          <p:cNvGraphicFramePr>
            <a:graphicFrameLocks noGrp="1"/>
          </p:cNvGraphicFramePr>
          <p:nvPr/>
        </p:nvGraphicFramePr>
        <p:xfrm>
          <a:off x="5394960" y="1280160"/>
          <a:ext cx="3291840" cy="1389888"/>
        </p:xfrm>
        <a:graphic>
          <a:graphicData uri="http://schemas.openxmlformats.org/drawingml/2006/table">
            <a:tbl>
              <a:tblPr/>
              <a:tblGrid>
                <a:gridCol w="1097280"/>
                <a:gridCol w="2194560"/>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Field</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47472">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faultcode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Client</a:t>
                      </a:r>
                      <a:r>
                        <a:rPr lang="en-US" sz="1100" dirty="0">
                          <a:solidFill>
                            <a:srgbClr val="2A2433"/>
                          </a:solidFill>
                          <a:latin typeface="Calibri" pitchFamily="34" charset="0"/>
                          <a:ea typeface="Calibri" pitchFamily="34" charset="-122"/>
                          <a:cs typeface="Calibri" pitchFamily="34" charset="-120"/>
                        </a:rPr>
                        <a: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Server</a:t>
                      </a:r>
                      <a:r>
                        <a:rPr lang="en-US" sz="1100" dirty="0">
                          <a:solidFill>
                            <a:srgbClr val="2A2433"/>
                          </a:solidFill>
                          <a:latin typeface="Calibri" pitchFamily="34" charset="0"/>
                          <a:ea typeface="Calibri" pitchFamily="34" charset="-122"/>
                          <a:cs typeface="Calibri" pitchFamily="34" charset="-120"/>
                        </a:rPr>
                        <a: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VersionMismatch</a:t>
                      </a:r>
                      <a:r>
                        <a:rPr lang="en-US" sz="1100" dirty="0">
                          <a:solidFill>
                            <a:srgbClr val="2A2433"/>
                          </a:solidFill>
                          <a:latin typeface="Calibri" pitchFamily="34" charset="0"/>
                          <a:ea typeface="Calibri" pitchFamily="34" charset="-122"/>
                          <a:cs typeface="Calibri" pitchFamily="34" charset="-120"/>
                        </a:rPr>
                        <a: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MustUnderstand</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47472">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faultstring</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Human-readable message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47472">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detail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b="1" dirty="0">
                          <a:solidFill>
                            <a:srgbClr val="2A2433"/>
                          </a:solidFill>
                          <a:latin typeface="Calibri" pitchFamily="34" charset="0"/>
                          <a:ea typeface="Calibri" pitchFamily="34" charset="-122"/>
                          <a:cs typeface="Calibri" pitchFamily="34" charset="-120"/>
                        </a:rPr>
                        <a:t>Often leaks</a:t>
                      </a:r>
                      <a:r>
                        <a:rPr lang="en-US" sz="1100" dirty="0">
                          <a:solidFill>
                            <a:srgbClr val="2A2433"/>
                          </a:solidFill>
                          <a:latin typeface="Calibri" pitchFamily="34" charset="0"/>
                          <a:ea typeface="Calibri" pitchFamily="34" charset="-122"/>
                          <a:cs typeface="Calibri" pitchFamily="34" charset="-120"/>
                        </a:rPr>
                        <a:t> stack traces, class names, paths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Recognising SOAP</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02334"/>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325880"/>
            <a:ext cx="7973568" cy="244348"/>
          </a:xfrm>
          <a:prstGeom prst="rect">
            <a:avLst/>
          </a:prstGeom>
          <a:noFill/>
        </p:spPr>
        <p:txBody>
          <a:bodyPr wrap="square" lIns="0" tIns="0" rIns="0" bIns="0" rtlCol="0" anchor="t"/>
          <a:lstStyle/>
          <a:p>
            <a:pPr marL="0" indent="0" algn="l">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Content-Type: text/xml</a:t>
            </a:r>
            <a:r>
              <a:rPr lang="en-US" sz="1400" dirty="0">
                <a:solidFill>
                  <a:srgbClr val="2A2433"/>
                </a:solidFill>
                <a:latin typeface="Calibri" pitchFamily="34" charset="0"/>
                <a:ea typeface="Calibri" pitchFamily="34" charset="-122"/>
                <a:cs typeface="Calibri" pitchFamily="34" charset="-120"/>
              </a:rPr>
              <a:t> or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application/soap+xml</a:t>
            </a:r>
            <a:endParaRPr lang="en-US" sz="1300" dirty="0"/>
          </a:p>
        </p:txBody>
      </p:sp>
      <p:sp>
        <p:nvSpPr>
          <p:cNvPr id="8" name="Shape 5"/>
          <p:cNvSpPr/>
          <p:nvPr/>
        </p:nvSpPr>
        <p:spPr>
          <a:xfrm>
            <a:off x="502920" y="1765554"/>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689100"/>
            <a:ext cx="797356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A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SOAPAction</a:t>
            </a:r>
            <a:r>
              <a:rPr lang="en-US" sz="1400" dirty="0">
                <a:solidFill>
                  <a:srgbClr val="2A2433"/>
                </a:solidFill>
                <a:latin typeface="Calibri" pitchFamily="34" charset="0"/>
                <a:ea typeface="Calibri" pitchFamily="34" charset="-122"/>
                <a:cs typeface="Calibri" pitchFamily="34" charset="-120"/>
              </a:rPr>
              <a:t> header (SOAP 1.1)</a:t>
            </a:r>
            <a:endParaRPr lang="en-US" sz="1400" dirty="0"/>
          </a:p>
        </p:txBody>
      </p:sp>
      <p:sp>
        <p:nvSpPr>
          <p:cNvPr id="10" name="Shape 7"/>
          <p:cNvSpPr/>
          <p:nvPr/>
        </p:nvSpPr>
        <p:spPr>
          <a:xfrm>
            <a:off x="502920" y="2128774"/>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052320"/>
            <a:ext cx="7973568" cy="461264"/>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A body starting with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&lt;soap:Envelope&gt;</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&lt;soapenv:Envelope&gt;</a:t>
            </a:r>
            <a:r>
              <a:rPr lang="en-US" sz="1400" dirty="0">
                <a:solidFill>
                  <a:srgbClr val="2A2433"/>
                </a:solidFill>
                <a:latin typeface="Calibri" pitchFamily="34" charset="0"/>
                <a:ea typeface="Calibri" pitchFamily="34" charset="-122"/>
                <a:cs typeface="Calibri" pitchFamily="34" charset="-120"/>
              </a:rPr>
              <a:t> or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&lt;s:Envelope&gt;</a:t>
            </a:r>
            <a:r>
              <a:rPr lang="en-US" sz="1400" dirty="0">
                <a:solidFill>
                  <a:srgbClr val="2A2433"/>
                </a:solidFill>
                <a:latin typeface="Calibri" pitchFamily="34" charset="0"/>
                <a:ea typeface="Calibri" pitchFamily="34" charset="-122"/>
                <a:cs typeface="Calibri" pitchFamily="34" charset="-120"/>
              </a:rPr>
              <a:t>: the </a:t>
            </a:r>
            <a:r>
              <a:rPr lang="en-US" sz="1400" b="1" dirty="0">
                <a:solidFill>
                  <a:srgbClr val="2A2433"/>
                </a:solidFill>
                <a:latin typeface="Calibri" pitchFamily="34" charset="0"/>
                <a:ea typeface="Calibri" pitchFamily="34" charset="-122"/>
                <a:cs typeface="Calibri" pitchFamily="34" charset="-120"/>
              </a:rPr>
              <a:t>namespace</a:t>
            </a:r>
            <a:r>
              <a:rPr lang="en-US" sz="1400" dirty="0">
                <a:solidFill>
                  <a:srgbClr val="2A2433"/>
                </a:solidFill>
                <a:latin typeface="Calibri" pitchFamily="34" charset="0"/>
                <a:ea typeface="Calibri" pitchFamily="34" charset="-122"/>
                <a:cs typeface="Calibri" pitchFamily="34" charset="-120"/>
              </a:rPr>
              <a:t> counts, not the prefix</a:t>
            </a:r>
            <a:endParaRPr lang="en-US" sz="1400" dirty="0"/>
          </a:p>
        </p:txBody>
      </p:sp>
      <p:sp>
        <p:nvSpPr>
          <p:cNvPr id="12" name="Shape 9"/>
          <p:cNvSpPr/>
          <p:nvPr/>
        </p:nvSpPr>
        <p:spPr>
          <a:xfrm>
            <a:off x="502920" y="2708910"/>
            <a:ext cx="82296" cy="82296"/>
          </a:xfrm>
          <a:prstGeom prst="rect">
            <a:avLst/>
          </a:prstGeom>
          <a:solidFill>
            <a:srgbClr val="F2705A"/>
          </a:solidFill>
          <a:ln w="12700">
            <a:solidFill>
              <a:srgbClr val="F2705A"/>
            </a:solidFill>
            <a:prstDash val="solid"/>
          </a:ln>
        </p:spPr>
      </p:sp>
      <p:sp>
        <p:nvSpPr>
          <p:cNvPr id="13" name="Text 10"/>
          <p:cNvSpPr txBox="1"/>
          <p:nvPr/>
        </p:nvSpPr>
        <p:spPr>
          <a:xfrm>
            <a:off x="713232" y="2632456"/>
            <a:ext cx="797356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Paths ending in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.asmx</a:t>
            </a:r>
            <a:r>
              <a:rPr lang="en-US" sz="1400" dirty="0">
                <a:solidFill>
                  <a:srgbClr val="2A2433"/>
                </a:solidFill>
                <a:latin typeface="Calibri" pitchFamily="34" charset="0"/>
                <a:ea typeface="Calibri" pitchFamily="34" charset="-122"/>
                <a:cs typeface="Calibri" pitchFamily="34" charset="-120"/>
              </a:rPr>
              <a:t> or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.svc</a:t>
            </a:r>
            <a:r>
              <a:rPr lang="en-US" sz="1400" dirty="0">
                <a:solidFill>
                  <a:srgbClr val="2A2433"/>
                </a:solidFill>
                <a:latin typeface="Calibri" pitchFamily="34" charset="0"/>
                <a:ea typeface="Calibri" pitchFamily="34" charset="-122"/>
                <a:cs typeface="Calibri" pitchFamily="34" charset="-120"/>
              </a:rPr>
              <a:t>, or containing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/services/</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/ws/</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/soap/</a:t>
            </a:r>
            <a:endParaRPr lang="en-US" sz="1400" dirty="0"/>
          </a:p>
        </p:txBody>
      </p:sp>
      <p:sp>
        <p:nvSpPr>
          <p:cNvPr id="14" name="Shape 11"/>
          <p:cNvSpPr/>
          <p:nvPr/>
        </p:nvSpPr>
        <p:spPr>
          <a:xfrm>
            <a:off x="502920" y="3072130"/>
            <a:ext cx="82296" cy="82296"/>
          </a:xfrm>
          <a:prstGeom prst="rect">
            <a:avLst/>
          </a:prstGeom>
          <a:solidFill>
            <a:srgbClr val="F2705A"/>
          </a:solidFill>
          <a:ln w="12700">
            <a:solidFill>
              <a:srgbClr val="F2705A"/>
            </a:solidFill>
            <a:prstDash val="solid"/>
          </a:ln>
        </p:spPr>
      </p:sp>
      <p:sp>
        <p:nvSpPr>
          <p:cNvPr id="15" name="Text 12"/>
          <p:cNvSpPr txBox="1"/>
          <p:nvPr/>
        </p:nvSpPr>
        <p:spPr>
          <a:xfrm>
            <a:off x="713232" y="2995676"/>
            <a:ext cx="7973568" cy="244348"/>
          </a:xfrm>
          <a:prstGeom prst="rect">
            <a:avLst/>
          </a:prstGeom>
          <a:noFill/>
        </p:spPr>
        <p:txBody>
          <a:bodyPr wrap="square" lIns="0" tIns="0" rIns="0" bIns="0" rtlCol="0" anchor="t"/>
          <a:lstStyle/>
          <a:p>
            <a:pPr marL="0" indent="0" algn="l">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?wsdl</a:t>
            </a:r>
            <a:r>
              <a:rPr lang="en-US" sz="1400" dirty="0">
                <a:solidFill>
                  <a:srgbClr val="2A2433"/>
                </a:solidFill>
                <a:latin typeface="Calibri" pitchFamily="34" charset="0"/>
                <a:ea typeface="Calibri" pitchFamily="34" charset="-122"/>
                <a:cs typeface="Calibri" pitchFamily="34" charset="-120"/>
              </a:rPr>
              <a:t> on the endpoint returns the contract</a:t>
            </a:r>
            <a:endParaRPr lang="en-US" sz="1300" dirty="0"/>
          </a:p>
        </p:txBody>
      </p:sp>
      <p:sp>
        <p:nvSpPr>
          <p:cNvPr id="16" name="Shape 13"/>
          <p:cNvSpPr/>
          <p:nvPr/>
        </p:nvSpPr>
        <p:spPr>
          <a:xfrm>
            <a:off x="502920" y="3435350"/>
            <a:ext cx="82296" cy="82296"/>
          </a:xfrm>
          <a:prstGeom prst="rect">
            <a:avLst/>
          </a:prstGeom>
          <a:solidFill>
            <a:srgbClr val="F2705A"/>
          </a:solidFill>
          <a:ln w="12700">
            <a:solidFill>
              <a:srgbClr val="F2705A"/>
            </a:solidFill>
            <a:prstDash val="solid"/>
          </a:ln>
        </p:spPr>
      </p:sp>
      <p:sp>
        <p:nvSpPr>
          <p:cNvPr id="17" name="Text 14"/>
          <p:cNvSpPr txBox="1"/>
          <p:nvPr/>
        </p:nvSpPr>
        <p:spPr>
          <a:xfrm>
            <a:off x="713232" y="3358896"/>
            <a:ext cx="797356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Burp: one URL receiving many different XML bodies; errors mentioning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Fault</a:t>
            </a:r>
            <a:endParaRPr lang="en-US" sz="1400" dirty="0"/>
          </a:p>
        </p:txBody>
      </p:sp>
      <p:sp>
        <p:nvSpPr>
          <p:cNvPr id="18" name="Shape 15"/>
          <p:cNvSpPr/>
          <p:nvPr/>
        </p:nvSpPr>
        <p:spPr>
          <a:xfrm>
            <a:off x="457200" y="4023360"/>
            <a:ext cx="8229600" cy="548640"/>
          </a:xfrm>
          <a:prstGeom prst="rect">
            <a:avLst/>
          </a:prstGeom>
          <a:solidFill>
            <a:srgbClr val="FDEAE5"/>
          </a:solidFill>
          <a:ln w="12700">
            <a:solidFill>
              <a:srgbClr val="FDEAE5"/>
            </a:solidFill>
            <a:prstDash val="solid"/>
          </a:ln>
        </p:spPr>
      </p:sp>
      <p:sp>
        <p:nvSpPr>
          <p:cNvPr id="19" name="Text 16"/>
          <p:cNvSpPr txBox="1"/>
          <p:nvPr/>
        </p:nvSpPr>
        <p:spPr>
          <a:xfrm>
            <a:off x="685800" y="4023360"/>
            <a:ext cx="7818120" cy="548640"/>
          </a:xfrm>
          <a:prstGeom prst="rect">
            <a:avLst/>
          </a:prstGeom>
          <a:noFill/>
        </p:spPr>
        <p:txBody>
          <a:bodyPr wrap="square" lIns="0" tIns="0" rIns="0" bIns="0" rtlCol="0" anchor="ctr"/>
          <a:lstStyle/>
          <a:p>
            <a:pPr marL="0" indent="0" algn="l">
              <a:buNone/>
            </a:pPr>
            <a:r>
              <a:rPr lang="en-US" sz="1300" b="1" dirty="0">
                <a:solidFill>
                  <a:srgbClr val="2A2433"/>
                </a:solidFill>
                <a:latin typeface="Calibri" pitchFamily="34" charset="0"/>
                <a:ea typeface="Calibri" pitchFamily="34" charset="-122"/>
                <a:cs typeface="Calibri" pitchFamily="34" charset="-120"/>
              </a:rPr>
              <a:t>Where you see it:</a:t>
            </a:r>
            <a:r>
              <a:rPr lang="en-US" sz="1300" dirty="0">
                <a:solidFill>
                  <a:srgbClr val="2A2433"/>
                </a:solidFill>
                <a:latin typeface="Calibri" pitchFamily="34" charset="0"/>
                <a:ea typeface="Calibri" pitchFamily="34" charset="-122"/>
                <a:cs typeface="Calibri" pitchFamily="34" charset="-120"/>
              </a:rPr>
              <a:t> banking, insurance, telecom, government, healthcare, legacy enterprise (SAP, older Java and .NET).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SOAP: pros and cons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320040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Pros</a:t>
            </a:r>
            <a:endParaRPr lang="en-US" sz="1500" dirty="0"/>
          </a:p>
        </p:txBody>
      </p:sp>
      <p:sp>
        <p:nvSpPr>
          <p:cNvPr id="10" name="Text 6"/>
          <p:cNvSpPr txBox="1"/>
          <p:nvPr/>
        </p:nvSpPr>
        <p:spPr>
          <a:xfrm>
            <a:off x="621792" y="2313813"/>
            <a:ext cx="3671316" cy="2121027"/>
          </a:xfrm>
          <a:prstGeom prst="rect">
            <a:avLst/>
          </a:prstGeom>
          <a:noFill/>
        </p:spPr>
        <p:txBody>
          <a:bodyPr wrap="square" lIns="0" tIns="0" rIns="0" bIns="0" rtlCol="0" anchor="t"/>
          <a:lstStyle/>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Strict, formal contract (WSDL), strong typing</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Client code generated from the WSDL</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Built-in standards for security and transactions</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Language-neutral, good enterprise tooling</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Transport-independent</a:t>
            </a:r>
            <a:endParaRPr lang="en-US" sz="1400" dirty="0"/>
          </a:p>
        </p:txBody>
      </p:sp>
      <p:sp>
        <p:nvSpPr>
          <p:cNvPr id="11" name="Shape 7"/>
          <p:cNvSpPr/>
          <p:nvPr/>
        </p:nvSpPr>
        <p:spPr>
          <a:xfrm>
            <a:off x="4686300" y="1325880"/>
            <a:ext cx="4000500" cy="3200400"/>
          </a:xfrm>
          <a:prstGeom prst="rect">
            <a:avLst/>
          </a:prstGeom>
          <a:solidFill>
            <a:srgbClr val="FFFFFF"/>
          </a:solidFill>
          <a:ln w="9525">
            <a:solidFill>
              <a:srgbClr val="D6CCE6"/>
            </a:solidFill>
          </a:ln>
        </p:spPr>
      </p:sp>
      <p:sp>
        <p:nvSpPr>
          <p:cNvPr id="12" name="Shape 8"/>
          <p:cNvSpPr/>
          <p:nvPr/>
        </p:nvSpPr>
        <p:spPr>
          <a:xfrm>
            <a:off x="485089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4953762" y="1593342"/>
            <a:ext cx="205740" cy="205740"/>
          </a:xfrm>
          <a:prstGeom prst="rect">
            <a:avLst/>
          </a:prstGeom>
        </p:spPr>
      </p:pic>
      <p:sp>
        <p:nvSpPr>
          <p:cNvPr id="14" name="Text 9"/>
          <p:cNvSpPr txBox="1"/>
          <p:nvPr/>
        </p:nvSpPr>
        <p:spPr>
          <a:xfrm>
            <a:off x="4850892" y="199339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Cons</a:t>
            </a:r>
            <a:endParaRPr lang="en-US" sz="1500" dirty="0"/>
          </a:p>
        </p:txBody>
      </p:sp>
      <p:sp>
        <p:nvSpPr>
          <p:cNvPr id="15" name="Text 10"/>
          <p:cNvSpPr txBox="1"/>
          <p:nvPr/>
        </p:nvSpPr>
        <p:spPr>
          <a:xfrm>
            <a:off x="4850892" y="2313813"/>
            <a:ext cx="3671316" cy="2121027"/>
          </a:xfrm>
          <a:prstGeom prst="rect">
            <a:avLst/>
          </a:prstGeom>
          <a:noFill/>
        </p:spPr>
        <p:txBody>
          <a:bodyPr wrap="square" lIns="0" tIns="0" rIns="0" bIns="0" rtlCol="0" anchor="t"/>
          <a:lstStyle/>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Verbose and heavy (XML)</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Hard to read, write and debug by hand</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Slower to parse, larger payloads</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Poor fit for browsers and mobile; declining</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Complex specs: many WS-* extensions</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2.2 · SOAP</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SOAP: security-relevant notes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53162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XXE</a:t>
            </a:r>
            <a:endParaRPr lang="en-US" sz="1300" dirty="0"/>
          </a:p>
        </p:txBody>
      </p:sp>
      <p:sp>
        <p:nvSpPr>
          <p:cNvPr id="10" name="Text 6"/>
          <p:cNvSpPr txBox="1"/>
          <p:nvPr/>
        </p:nvSpPr>
        <p:spPr>
          <a:xfrm>
            <a:off x="621792" y="22820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XML parsing invites XML External Entity attacks, in the header too</a:t>
            </a:r>
            <a:endParaRPr lang="en-US" sz="1100" dirty="0"/>
          </a:p>
        </p:txBody>
      </p:sp>
      <p:sp>
        <p:nvSpPr>
          <p:cNvPr id="11" name="Shape 7"/>
          <p:cNvSpPr/>
          <p:nvPr/>
        </p:nvSpPr>
        <p:spPr>
          <a:xfrm>
            <a:off x="3261360" y="1325880"/>
            <a:ext cx="2621280" cy="1531620"/>
          </a:xfrm>
          <a:prstGeom prst="rect">
            <a:avLst/>
          </a:prstGeom>
          <a:solidFill>
            <a:srgbClr val="FFFFFF"/>
          </a:solidFill>
          <a:ln w="9525">
            <a:solidFill>
              <a:srgbClr val="D6CCE6"/>
            </a:solidFill>
          </a:ln>
        </p:spPr>
      </p:sp>
      <p:sp>
        <p:nvSpPr>
          <p:cNvPr id="12" name="Shape 8"/>
          <p:cNvSpPr/>
          <p:nvPr/>
        </p:nvSpPr>
        <p:spPr>
          <a:xfrm>
            <a:off x="342595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28822" y="1593342"/>
            <a:ext cx="205740" cy="205740"/>
          </a:xfrm>
          <a:prstGeom prst="rect">
            <a:avLst/>
          </a:prstGeom>
        </p:spPr>
      </p:pic>
      <p:sp>
        <p:nvSpPr>
          <p:cNvPr id="14" name="Text 9"/>
          <p:cNvSpPr txBox="1"/>
          <p:nvPr/>
        </p:nvSpPr>
        <p:spPr>
          <a:xfrm>
            <a:off x="342595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WSDL exposure</a:t>
            </a:r>
            <a:endParaRPr lang="en-US" sz="1300" dirty="0"/>
          </a:p>
        </p:txBody>
      </p:sp>
      <p:sp>
        <p:nvSpPr>
          <p:cNvPr id="15" name="Text 10"/>
          <p:cNvSpPr txBox="1"/>
          <p:nvPr/>
        </p:nvSpPr>
        <p:spPr>
          <a:xfrm>
            <a:off x="3425952" y="22820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Lists every operation; may reveal internal or admin ones</a:t>
            </a:r>
            <a:endParaRPr lang="en-US" sz="1100" dirty="0"/>
          </a:p>
        </p:txBody>
      </p:sp>
      <p:sp>
        <p:nvSpPr>
          <p:cNvPr id="16" name="Shape 11"/>
          <p:cNvSpPr/>
          <p:nvPr/>
        </p:nvSpPr>
        <p:spPr>
          <a:xfrm>
            <a:off x="6065520" y="1325880"/>
            <a:ext cx="2621280" cy="1531620"/>
          </a:xfrm>
          <a:prstGeom prst="rect">
            <a:avLst/>
          </a:prstGeom>
          <a:solidFill>
            <a:srgbClr val="FFFFFF"/>
          </a:solidFill>
          <a:ln w="9525">
            <a:solidFill>
              <a:srgbClr val="D6CCE6"/>
            </a:solidFill>
          </a:ln>
        </p:spPr>
      </p:sp>
      <p:sp>
        <p:nvSpPr>
          <p:cNvPr id="17" name="Shape 12"/>
          <p:cNvSpPr/>
          <p:nvPr/>
        </p:nvSpPr>
        <p:spPr>
          <a:xfrm>
            <a:off x="6230112" y="1490472"/>
            <a:ext cx="411480" cy="41148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32982" y="1593342"/>
            <a:ext cx="205740" cy="205740"/>
          </a:xfrm>
          <a:prstGeom prst="rect">
            <a:avLst/>
          </a:prstGeom>
        </p:spPr>
      </p:pic>
      <p:sp>
        <p:nvSpPr>
          <p:cNvPr id="19" name="Text 13"/>
          <p:cNvSpPr txBox="1"/>
          <p:nvPr/>
        </p:nvSpPr>
        <p:spPr>
          <a:xfrm>
            <a:off x="623011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Auth in the header</a:t>
            </a:r>
            <a:endParaRPr lang="en-US" sz="1300" dirty="0"/>
          </a:p>
        </p:txBody>
      </p:sp>
      <p:sp>
        <p:nvSpPr>
          <p:cNvPr id="20" name="Text 14"/>
          <p:cNvSpPr txBox="1"/>
          <p:nvPr/>
        </p:nvSpPr>
        <p:spPr>
          <a:xfrm>
            <a:off x="6230112" y="22820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Plaintext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UsernameToken</a:t>
            </a:r>
            <a:r>
              <a:rPr lang="en-US" sz="1100" dirty="0">
                <a:solidFill>
                  <a:srgbClr val="2A2433"/>
                </a:solidFill>
                <a:latin typeface="Calibri" pitchFamily="34" charset="0"/>
                <a:ea typeface="Calibri" pitchFamily="34" charset="-122"/>
                <a:cs typeface="Calibri" pitchFamily="34" charset="-120"/>
              </a:rPr>
              <a:t>, missing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Timestamp</a:t>
            </a:r>
            <a:r>
              <a:rPr lang="en-US" sz="1100" dirty="0">
                <a:solidFill>
                  <a:srgbClr val="2A2433"/>
                </a:solidFill>
                <a:latin typeface="Calibri" pitchFamily="34" charset="0"/>
                <a:ea typeface="Calibri" pitchFamily="34" charset="-122"/>
                <a:cs typeface="Calibri" pitchFamily="34" charset="-120"/>
              </a:rPr>
              <a:t>/</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Nonce</a:t>
            </a:r>
            <a:r>
              <a:rPr lang="en-US" sz="1100" dirty="0">
                <a:solidFill>
                  <a:srgbClr val="2A2433"/>
                </a:solidFill>
                <a:latin typeface="Calibri" pitchFamily="34" charset="0"/>
                <a:ea typeface="Calibri" pitchFamily="34" charset="-122"/>
                <a:cs typeface="Calibri" pitchFamily="34" charset="-120"/>
              </a:rPr>
              <a:t> (replay), weak signatures</a:t>
            </a:r>
            <a:endParaRPr lang="en-US" sz="1100" dirty="0"/>
          </a:p>
        </p:txBody>
      </p:sp>
      <p:sp>
        <p:nvSpPr>
          <p:cNvPr id="21" name="Shape 15"/>
          <p:cNvSpPr/>
          <p:nvPr/>
        </p:nvSpPr>
        <p:spPr>
          <a:xfrm>
            <a:off x="457200" y="3040380"/>
            <a:ext cx="2621280" cy="1531620"/>
          </a:xfrm>
          <a:prstGeom prst="rect">
            <a:avLst/>
          </a:prstGeom>
          <a:solidFill>
            <a:srgbClr val="FFFFFF"/>
          </a:solidFill>
          <a:ln w="9525">
            <a:solidFill>
              <a:srgbClr val="D6CCE6"/>
            </a:solidFill>
          </a:ln>
        </p:spPr>
      </p:sp>
      <p:sp>
        <p:nvSpPr>
          <p:cNvPr id="22" name="Shape 16"/>
          <p:cNvSpPr/>
          <p:nvPr/>
        </p:nvSpPr>
        <p:spPr>
          <a:xfrm>
            <a:off x="621792" y="3204972"/>
            <a:ext cx="411480" cy="41148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724662" y="3307842"/>
            <a:ext cx="205740" cy="205740"/>
          </a:xfrm>
          <a:prstGeom prst="rect">
            <a:avLst/>
          </a:prstGeom>
        </p:spPr>
      </p:pic>
      <p:sp>
        <p:nvSpPr>
          <p:cNvPr id="24" name="Text 17"/>
          <p:cNvSpPr txBox="1"/>
          <p:nvPr/>
        </p:nvSpPr>
        <p:spPr>
          <a:xfrm>
            <a:off x="62179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One endpoint</a:t>
            </a:r>
            <a:endParaRPr lang="en-US" sz="1300" dirty="0"/>
          </a:p>
        </p:txBody>
      </p:sp>
      <p:sp>
        <p:nvSpPr>
          <p:cNvPr id="25" name="Text 18"/>
          <p:cNvSpPr txBox="1"/>
          <p:nvPr/>
        </p:nvSpPr>
        <p:spPr>
          <a:xfrm>
            <a:off x="621792" y="39965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Authorize per operation; WAFs and rate limiters see one path</a:t>
            </a:r>
            <a:endParaRPr lang="en-US" sz="1100" dirty="0"/>
          </a:p>
        </p:txBody>
      </p:sp>
      <p:sp>
        <p:nvSpPr>
          <p:cNvPr id="26" name="Shape 19"/>
          <p:cNvSpPr/>
          <p:nvPr/>
        </p:nvSpPr>
        <p:spPr>
          <a:xfrm>
            <a:off x="3261360" y="3040380"/>
            <a:ext cx="2621280" cy="1531620"/>
          </a:xfrm>
          <a:prstGeom prst="rect">
            <a:avLst/>
          </a:prstGeom>
          <a:solidFill>
            <a:srgbClr val="FFFFFF"/>
          </a:solidFill>
          <a:ln w="9525">
            <a:solidFill>
              <a:srgbClr val="D6CCE6"/>
            </a:solidFill>
          </a:ln>
        </p:spPr>
      </p:sp>
      <p:sp>
        <p:nvSpPr>
          <p:cNvPr id="27" name="Shape 20"/>
          <p:cNvSpPr/>
          <p:nvPr/>
        </p:nvSpPr>
        <p:spPr>
          <a:xfrm>
            <a:off x="3425952" y="3204972"/>
            <a:ext cx="411480" cy="411480"/>
          </a:xfrm>
          <a:prstGeom prst="roundRect">
            <a:avLst>
              <a:gd name="adj" fmla="val 24000"/>
            </a:avLst>
          </a:prstGeom>
          <a:solidFill>
            <a:srgbClr val="6B35B5"/>
          </a:solidFill>
          <a:ln w="12700">
            <a:solidFill>
              <a:srgbClr val="6B35B5"/>
            </a:solidFill>
            <a:prstDash val="solid"/>
          </a:ln>
        </p:spPr>
      </p:sp>
      <p:pic>
        <p:nvPicPr>
          <p:cNvPr id="28" name="Image 4" descr="preencoded.png"/>
          <p:cNvPicPr>
            <a:picLocks noChangeAspect="1"/>
          </p:cNvPicPr>
          <p:nvPr/>
        </p:nvPicPr>
        <p:blipFill>
          <a:blip r:embed="rId5"/>
          <a:stretch>
            <a:fillRect/>
          </a:stretch>
        </p:blipFill>
        <p:spPr>
          <a:xfrm>
            <a:off x="3528822" y="3307842"/>
            <a:ext cx="205740" cy="205740"/>
          </a:xfrm>
          <a:prstGeom prst="rect">
            <a:avLst/>
          </a:prstGeom>
        </p:spPr>
      </p:pic>
      <p:sp>
        <p:nvSpPr>
          <p:cNvPr id="29" name="Text 21"/>
          <p:cNvSpPr txBox="1"/>
          <p:nvPr/>
        </p:nvSpPr>
        <p:spPr>
          <a:xfrm>
            <a:off x="342595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SOAPAction mismatch</a:t>
            </a:r>
            <a:endParaRPr lang="en-US" sz="1300" dirty="0"/>
          </a:p>
        </p:txBody>
      </p:sp>
      <p:sp>
        <p:nvSpPr>
          <p:cNvPr id="30" name="Text 22"/>
          <p:cNvSpPr txBox="1"/>
          <p:nvPr/>
        </p:nvSpPr>
        <p:spPr>
          <a:xfrm>
            <a:off x="3425952" y="39965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Header and body may name different operations</a:t>
            </a:r>
            <a:endParaRPr lang="en-US" sz="1100" dirty="0"/>
          </a:p>
        </p:txBody>
      </p:sp>
      <p:sp>
        <p:nvSpPr>
          <p:cNvPr id="31" name="Shape 23"/>
          <p:cNvSpPr/>
          <p:nvPr/>
        </p:nvSpPr>
        <p:spPr>
          <a:xfrm>
            <a:off x="6065520" y="3040380"/>
            <a:ext cx="2621280" cy="1531620"/>
          </a:xfrm>
          <a:prstGeom prst="rect">
            <a:avLst/>
          </a:prstGeom>
          <a:solidFill>
            <a:srgbClr val="FFFFFF"/>
          </a:solidFill>
          <a:ln w="9525">
            <a:solidFill>
              <a:srgbClr val="D6CCE6"/>
            </a:solidFill>
          </a:ln>
        </p:spPr>
      </p:sp>
      <p:sp>
        <p:nvSpPr>
          <p:cNvPr id="32" name="Shape 24"/>
          <p:cNvSpPr/>
          <p:nvPr/>
        </p:nvSpPr>
        <p:spPr>
          <a:xfrm>
            <a:off x="6230112" y="3204972"/>
            <a:ext cx="411480" cy="411480"/>
          </a:xfrm>
          <a:prstGeom prst="roundRect">
            <a:avLst>
              <a:gd name="adj" fmla="val 24000"/>
            </a:avLst>
          </a:prstGeom>
          <a:solidFill>
            <a:srgbClr val="6B35B5"/>
          </a:solidFill>
          <a:ln w="12700">
            <a:solidFill>
              <a:srgbClr val="6B35B5"/>
            </a:solidFill>
            <a:prstDash val="solid"/>
          </a:ln>
        </p:spPr>
      </p:sp>
      <p:pic>
        <p:nvPicPr>
          <p:cNvPr id="33" name="Image 5" descr="preencoded.png"/>
          <p:cNvPicPr>
            <a:picLocks noChangeAspect="1"/>
          </p:cNvPicPr>
          <p:nvPr/>
        </p:nvPicPr>
        <p:blipFill>
          <a:blip r:embed="rId6"/>
          <a:stretch>
            <a:fillRect/>
          </a:stretch>
        </p:blipFill>
        <p:spPr>
          <a:xfrm>
            <a:off x="6332982" y="3307842"/>
            <a:ext cx="205740" cy="205740"/>
          </a:xfrm>
          <a:prstGeom prst="rect">
            <a:avLst/>
          </a:prstGeom>
        </p:spPr>
      </p:pic>
      <p:sp>
        <p:nvSpPr>
          <p:cNvPr id="34" name="Text 25"/>
          <p:cNvSpPr txBox="1"/>
          <p:nvPr/>
        </p:nvSpPr>
        <p:spPr>
          <a:xfrm>
            <a:off x="623011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Verbose faults, resource abuse</a:t>
            </a:r>
            <a:endParaRPr lang="en-US" sz="1300" dirty="0"/>
          </a:p>
        </p:txBody>
      </p:sp>
      <p:sp>
        <p:nvSpPr>
          <p:cNvPr id="35" name="Text 26"/>
          <p:cNvSpPr txBox="1"/>
          <p:nvPr/>
        </p:nvSpPr>
        <p:spPr>
          <a:xfrm>
            <a:off x="6230112" y="39965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Stack traces in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detail</a:t>
            </a:r>
            <a:r>
              <a:rPr lang="en-US" sz="1100" dirty="0">
                <a:solidFill>
                  <a:srgbClr val="2A2433"/>
                </a:solidFill>
                <a:latin typeface="Calibri" pitchFamily="34" charset="0"/>
                <a:ea typeface="Calibri" pitchFamily="34" charset="-122"/>
                <a:cs typeface="Calibri" pitchFamily="34" charset="-120"/>
              </a:rPr>
              <a:t>; deeply nested XML, "billion laughs"</a:t>
            </a:r>
            <a:endParaRPr lang="en-US" sz="11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GraphQL: what it is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10081"/>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325880"/>
            <a:ext cx="4681728" cy="49225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A </a:t>
            </a:r>
            <a:r>
              <a:rPr lang="en-US" sz="1500" b="1" dirty="0">
                <a:solidFill>
                  <a:srgbClr val="2A2433"/>
                </a:solidFill>
                <a:latin typeface="Calibri" pitchFamily="34" charset="0"/>
                <a:ea typeface="Calibri" pitchFamily="34" charset="-122"/>
                <a:cs typeface="Calibri" pitchFamily="34" charset="-120"/>
              </a:rPr>
              <a:t>query language</a:t>
            </a:r>
            <a:r>
              <a:rPr lang="en-US" sz="1500" dirty="0">
                <a:solidFill>
                  <a:srgbClr val="2A2433"/>
                </a:solidFill>
                <a:latin typeface="Calibri" pitchFamily="34" charset="0"/>
                <a:ea typeface="Calibri" pitchFamily="34" charset="-122"/>
                <a:cs typeface="Calibri" pitchFamily="34" charset="-120"/>
              </a:rPr>
              <a:t> for APIs, open-sourced by Facebook in 2015</a:t>
            </a:r>
            <a:endParaRPr lang="en-US" sz="1500" dirty="0"/>
          </a:p>
        </p:txBody>
      </p:sp>
      <p:sp>
        <p:nvSpPr>
          <p:cNvPr id="8" name="Shape 5"/>
          <p:cNvSpPr/>
          <p:nvPr/>
        </p:nvSpPr>
        <p:spPr>
          <a:xfrm>
            <a:off x="502920" y="2030349"/>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946148"/>
            <a:ext cx="468172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Usually </a:t>
            </a:r>
            <a:r>
              <a:rPr lang="en-US" sz="1500" b="1" dirty="0">
                <a:solidFill>
                  <a:srgbClr val="2A2433"/>
                </a:solidFill>
                <a:latin typeface="Calibri" pitchFamily="34" charset="0"/>
                <a:ea typeface="Calibri" pitchFamily="34" charset="-122"/>
                <a:cs typeface="Calibri" pitchFamily="34" charset="-120"/>
              </a:rPr>
              <a:t>one endpoint</a:t>
            </a:r>
            <a:r>
              <a:rPr lang="en-US" sz="1500" dirty="0">
                <a:solidFill>
                  <a:srgbClr val="2A2433"/>
                </a:solidFill>
                <a:latin typeface="Calibri" pitchFamily="34" charset="0"/>
                <a:ea typeface="Calibri" pitchFamily="34" charset="-122"/>
                <a:cs typeface="Calibri" pitchFamily="34" charset="-120"/>
              </a:rPr>
              <a:t> (commonly </a:t>
            </a:r>
            <a:r>
              <a:rPr lang="en-US" sz="14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/graphql</a:t>
            </a:r>
            <a:r>
              <a:rPr lang="en-US" sz="1500" dirty="0">
                <a:solidFill>
                  <a:srgbClr val="2A2433"/>
                </a:solidFill>
                <a:latin typeface="Calibri" pitchFamily="34" charset="0"/>
                <a:ea typeface="Calibri" pitchFamily="34" charset="-122"/>
                <a:cs typeface="Calibri" pitchFamily="34" charset="-120"/>
              </a:rPr>
              <a:t>)</a:t>
            </a:r>
            <a:endParaRPr lang="en-US" sz="1500" dirty="0"/>
          </a:p>
        </p:txBody>
      </p:sp>
      <p:sp>
        <p:nvSpPr>
          <p:cNvPr id="10" name="Shape 7"/>
          <p:cNvSpPr/>
          <p:nvPr/>
        </p:nvSpPr>
        <p:spPr>
          <a:xfrm>
            <a:off x="502920" y="2418207"/>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334006"/>
            <a:ext cx="4681728" cy="25984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The </a:t>
            </a:r>
            <a:r>
              <a:rPr lang="en-US" sz="1500" b="1" dirty="0">
                <a:solidFill>
                  <a:srgbClr val="2A2433"/>
                </a:solidFill>
                <a:latin typeface="Calibri" pitchFamily="34" charset="0"/>
                <a:ea typeface="Calibri" pitchFamily="34" charset="-122"/>
                <a:cs typeface="Calibri" pitchFamily="34" charset="-120"/>
              </a:rPr>
              <a:t>client describes exactly the data it wants</a:t>
            </a:r>
            <a:endParaRPr lang="en-US" sz="1500" dirty="0"/>
          </a:p>
        </p:txBody>
      </p:sp>
      <p:sp>
        <p:nvSpPr>
          <p:cNvPr id="12" name="Shape 9"/>
          <p:cNvSpPr/>
          <p:nvPr/>
        </p:nvSpPr>
        <p:spPr>
          <a:xfrm>
            <a:off x="502920" y="2806065"/>
            <a:ext cx="82296" cy="82296"/>
          </a:xfrm>
          <a:prstGeom prst="rect">
            <a:avLst/>
          </a:prstGeom>
          <a:solidFill>
            <a:srgbClr val="F2705A"/>
          </a:solidFill>
          <a:ln w="12700">
            <a:solidFill>
              <a:srgbClr val="F2705A"/>
            </a:solidFill>
            <a:prstDash val="solid"/>
          </a:ln>
        </p:spPr>
      </p:sp>
      <p:sp>
        <p:nvSpPr>
          <p:cNvPr id="13" name="Text 10"/>
          <p:cNvSpPr txBox="1"/>
          <p:nvPr/>
        </p:nvSpPr>
        <p:spPr>
          <a:xfrm>
            <a:off x="713232" y="2721864"/>
            <a:ext cx="4681728" cy="492252"/>
          </a:xfrm>
          <a:prstGeom prst="rect">
            <a:avLst/>
          </a:prstGeom>
          <a:noFill/>
        </p:spPr>
        <p:txBody>
          <a:bodyPr wrap="square" lIns="0" tIns="0" rIns="0" bIns="0" rtlCol="0" anchor="t"/>
          <a:lstStyle/>
          <a:p>
            <a:pPr marL="0" indent="0" algn="l">
              <a:buNone/>
            </a:pPr>
            <a:r>
              <a:rPr lang="en-US" sz="1500" dirty="0">
                <a:solidFill>
                  <a:srgbClr val="2A2433"/>
                </a:solidFill>
                <a:latin typeface="Calibri" pitchFamily="34" charset="0"/>
                <a:ea typeface="Calibri" pitchFamily="34" charset="-122"/>
                <a:cs typeface="Calibri" pitchFamily="34" charset="-120"/>
              </a:rPr>
              <a:t>A typed </a:t>
            </a:r>
            <a:r>
              <a:rPr lang="en-US" sz="1500" b="1" dirty="0">
                <a:solidFill>
                  <a:srgbClr val="2A2433"/>
                </a:solidFill>
                <a:latin typeface="Calibri" pitchFamily="34" charset="0"/>
                <a:ea typeface="Calibri" pitchFamily="34" charset="-122"/>
                <a:cs typeface="Calibri" pitchFamily="34" charset="-120"/>
              </a:rPr>
              <a:t>schema</a:t>
            </a:r>
            <a:r>
              <a:rPr lang="en-US" sz="1500" dirty="0">
                <a:solidFill>
                  <a:srgbClr val="2A2433"/>
                </a:solidFill>
                <a:latin typeface="Calibri" pitchFamily="34" charset="0"/>
                <a:ea typeface="Calibri" pitchFamily="34" charset="-122"/>
                <a:cs typeface="Calibri" pitchFamily="34" charset="-120"/>
              </a:rPr>
              <a:t> defines everything that can be asked for</a:t>
            </a:r>
            <a:endParaRPr lang="en-US" sz="1500" dirty="0"/>
          </a:p>
        </p:txBody>
      </p:sp>
      <p:sp>
        <p:nvSpPr>
          <p:cNvPr id="14" name="Shape 11"/>
          <p:cNvSpPr/>
          <p:nvPr/>
        </p:nvSpPr>
        <p:spPr>
          <a:xfrm>
            <a:off x="5669280" y="1325880"/>
            <a:ext cx="3017520" cy="1508760"/>
          </a:xfrm>
          <a:prstGeom prst="rect">
            <a:avLst/>
          </a:prstGeom>
          <a:solidFill>
            <a:srgbClr val="FFFFFF"/>
          </a:solidFill>
          <a:ln w="9525">
            <a:solidFill>
              <a:srgbClr val="D6CCE6"/>
            </a:solidFill>
          </a:ln>
        </p:spPr>
      </p:sp>
      <p:sp>
        <p:nvSpPr>
          <p:cNvPr id="15" name="Shape 12"/>
          <p:cNvSpPr/>
          <p:nvPr/>
        </p:nvSpPr>
        <p:spPr>
          <a:xfrm>
            <a:off x="5833872" y="1490472"/>
            <a:ext cx="457200" cy="457200"/>
          </a:xfrm>
          <a:prstGeom prst="roundRect">
            <a:avLst>
              <a:gd name="adj" fmla="val 24000"/>
            </a:avLst>
          </a:prstGeom>
          <a:solidFill>
            <a:srgbClr val="6B35B5"/>
          </a:solidFill>
          <a:ln w="12700">
            <a:solidFill>
              <a:srgbClr val="6B35B5"/>
            </a:solidFill>
            <a:prstDash val="solid"/>
          </a:ln>
        </p:spPr>
      </p:sp>
      <p:pic>
        <p:nvPicPr>
          <p:cNvPr id="16" name="Image 0" descr="preencoded.png"/>
          <p:cNvPicPr>
            <a:picLocks noChangeAspect="1"/>
          </p:cNvPicPr>
          <p:nvPr/>
        </p:nvPicPr>
        <p:blipFill>
          <a:blip r:embed="rId1"/>
          <a:stretch>
            <a:fillRect/>
          </a:stretch>
        </p:blipFill>
        <p:spPr>
          <a:xfrm>
            <a:off x="5948172" y="1604772"/>
            <a:ext cx="228600" cy="228600"/>
          </a:xfrm>
          <a:prstGeom prst="rect">
            <a:avLst/>
          </a:prstGeom>
        </p:spPr>
      </p:pic>
      <p:sp>
        <p:nvSpPr>
          <p:cNvPr id="17" name="Text 13"/>
          <p:cNvSpPr txBox="1"/>
          <p:nvPr/>
        </p:nvSpPr>
        <p:spPr>
          <a:xfrm>
            <a:off x="5833872" y="2039112"/>
            <a:ext cx="268833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REST</a:t>
            </a:r>
            <a:endParaRPr lang="en-US" sz="1500" dirty="0"/>
          </a:p>
        </p:txBody>
      </p:sp>
      <p:sp>
        <p:nvSpPr>
          <p:cNvPr id="18" name="Text 14"/>
          <p:cNvSpPr txBox="1"/>
          <p:nvPr/>
        </p:nvSpPr>
        <p:spPr>
          <a:xfrm>
            <a:off x="5833872" y="2359533"/>
            <a:ext cx="268833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 set menu: each dish comes as designed</a:t>
            </a:r>
            <a:endParaRPr lang="en-US" sz="1300" dirty="0"/>
          </a:p>
        </p:txBody>
      </p:sp>
      <p:sp>
        <p:nvSpPr>
          <p:cNvPr id="19" name="Shape 15"/>
          <p:cNvSpPr/>
          <p:nvPr/>
        </p:nvSpPr>
        <p:spPr>
          <a:xfrm>
            <a:off x="5669280" y="3017520"/>
            <a:ext cx="3017520" cy="1508760"/>
          </a:xfrm>
          <a:prstGeom prst="rect">
            <a:avLst/>
          </a:prstGeom>
          <a:solidFill>
            <a:srgbClr val="FFFFFF"/>
          </a:solidFill>
          <a:ln w="9525">
            <a:solidFill>
              <a:srgbClr val="D6CCE6"/>
            </a:solidFill>
          </a:ln>
        </p:spPr>
      </p:sp>
      <p:sp>
        <p:nvSpPr>
          <p:cNvPr id="20" name="Shape 16"/>
          <p:cNvSpPr/>
          <p:nvPr/>
        </p:nvSpPr>
        <p:spPr>
          <a:xfrm>
            <a:off x="5833872" y="3182112"/>
            <a:ext cx="457200" cy="457200"/>
          </a:xfrm>
          <a:prstGeom prst="roundRect">
            <a:avLst>
              <a:gd name="adj" fmla="val 24000"/>
            </a:avLst>
          </a:prstGeom>
          <a:solidFill>
            <a:srgbClr val="6B35B5"/>
          </a:solidFill>
          <a:ln w="12700">
            <a:solidFill>
              <a:srgbClr val="6B35B5"/>
            </a:solidFill>
            <a:prstDash val="solid"/>
          </a:ln>
        </p:spPr>
      </p:sp>
      <p:pic>
        <p:nvPicPr>
          <p:cNvPr id="21" name="Image 1" descr="preencoded.png"/>
          <p:cNvPicPr>
            <a:picLocks noChangeAspect="1"/>
          </p:cNvPicPr>
          <p:nvPr/>
        </p:nvPicPr>
        <p:blipFill>
          <a:blip r:embed="rId2"/>
          <a:stretch>
            <a:fillRect/>
          </a:stretch>
        </p:blipFill>
        <p:spPr>
          <a:xfrm>
            <a:off x="5948172" y="3296412"/>
            <a:ext cx="228600" cy="228600"/>
          </a:xfrm>
          <a:prstGeom prst="rect">
            <a:avLst/>
          </a:prstGeom>
        </p:spPr>
      </p:pic>
      <p:sp>
        <p:nvSpPr>
          <p:cNvPr id="22" name="Text 17"/>
          <p:cNvSpPr txBox="1"/>
          <p:nvPr/>
        </p:nvSpPr>
        <p:spPr>
          <a:xfrm>
            <a:off x="5833872" y="3730752"/>
            <a:ext cx="268833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GraphQL</a:t>
            </a:r>
            <a:endParaRPr lang="en-US" sz="1500" dirty="0"/>
          </a:p>
        </p:txBody>
      </p:sp>
      <p:sp>
        <p:nvSpPr>
          <p:cNvPr id="23" name="Text 18"/>
          <p:cNvSpPr txBox="1"/>
          <p:nvPr/>
        </p:nvSpPr>
        <p:spPr>
          <a:xfrm>
            <a:off x="5833872" y="4051173"/>
            <a:ext cx="268833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A buffet with a tray: take what you want, one trip</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Schema, operations, resolvers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329184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A SCHEMA</a:t>
            </a:r>
            <a:endParaRPr lang="en-US" sz="1000" dirty="0"/>
          </a:p>
        </p:txBody>
      </p:sp>
      <p:sp>
        <p:nvSpPr>
          <p:cNvPr id="8" name="Text 5"/>
          <p:cNvSpPr txBox="1"/>
          <p:nvPr/>
        </p:nvSpPr>
        <p:spPr>
          <a:xfrm>
            <a:off x="640080" y="1627632"/>
            <a:ext cx="3657600" cy="285292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type User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ID!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name: String!</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email: String!</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orders: [Order!]!</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type Query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user(id: ID!): User</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type Mutation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updateEmail(id: ID!, email: String!): User</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graphicFrame>
        <p:nvGraphicFramePr>
          <p:cNvPr id="81" name="Table 0"/>
          <p:cNvGraphicFramePr>
            <a:graphicFrameLocks noGrp="1"/>
          </p:cNvGraphicFramePr>
          <p:nvPr/>
        </p:nvGraphicFramePr>
        <p:xfrm>
          <a:off x="4663440" y="1280160"/>
          <a:ext cx="4023360" cy="1389888"/>
        </p:xfrm>
        <a:graphic>
          <a:graphicData uri="http://schemas.openxmlformats.org/drawingml/2006/table">
            <a:tbl>
              <a:tblPr/>
              <a:tblGrid>
                <a:gridCol w="1188720"/>
                <a:gridCol w="1463040"/>
                <a:gridCol w="1371600"/>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Operation</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REST equivalent</a:t>
                      </a:r>
                      <a:endParaRPr lang="en-US" sz="11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347472">
                <a:tc>
                  <a:txBody>
                    <a:bodyPr/>
                    <a:lstStyle/>
                    <a:p>
                      <a:pPr marL="0" indent="0">
                        <a:buNone/>
                      </a:pPr>
                      <a:r>
                        <a:rPr lang="en-US" sz="1100" b="1" dirty="0">
                          <a:solidFill>
                            <a:srgbClr val="2A2433"/>
                          </a:solidFill>
                          <a:latin typeface="Calibri" pitchFamily="34" charset="0"/>
                          <a:ea typeface="Calibri" pitchFamily="34" charset="-122"/>
                          <a:cs typeface="Calibri" pitchFamily="34" charset="-120"/>
                        </a:rPr>
                        <a:t>Query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Read data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GET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347472">
                <a:tc>
                  <a:txBody>
                    <a:bodyPr/>
                    <a:lstStyle/>
                    <a:p>
                      <a:pPr marL="0" indent="0">
                        <a:buNone/>
                      </a:pPr>
                      <a:r>
                        <a:rPr lang="en-US" sz="1100" b="1" dirty="0">
                          <a:solidFill>
                            <a:srgbClr val="2A2433"/>
                          </a:solidFill>
                          <a:latin typeface="Calibri" pitchFamily="34" charset="0"/>
                          <a:ea typeface="Calibri" pitchFamily="34" charset="-122"/>
                          <a:cs typeface="Calibri" pitchFamily="34" charset="-120"/>
                        </a:rPr>
                        <a:t>Mutation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Change data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a:t>
                      </a:r>
                      <a:r>
                        <a:rPr lang="en-US" sz="1100" dirty="0">
                          <a:solidFill>
                            <a:srgbClr val="2A2433"/>
                          </a:solidFill>
                          <a:latin typeface="Calibri" pitchFamily="34" charset="0"/>
                          <a:ea typeface="Calibri" pitchFamily="34" charset="-122"/>
                          <a:cs typeface="Calibri" pitchFamily="34" charset="-120"/>
                        </a:rPr>
                        <a:t> /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PUT</a:t>
                      </a:r>
                      <a:r>
                        <a:rPr lang="en-US" sz="1100" dirty="0">
                          <a:solidFill>
                            <a:srgbClr val="2A2433"/>
                          </a:solidFill>
                          <a:latin typeface="Calibri" pitchFamily="34" charset="0"/>
                          <a:ea typeface="Calibri" pitchFamily="34" charset="-122"/>
                          <a:cs typeface="Calibri" pitchFamily="34" charset="-120"/>
                        </a:rPr>
                        <a:t> /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PATCH</a:t>
                      </a:r>
                      <a:r>
                        <a:rPr lang="en-US" sz="1100" dirty="0">
                          <a:solidFill>
                            <a:srgbClr val="2A2433"/>
                          </a:solidFill>
                          <a:latin typeface="Calibri" pitchFamily="34" charset="0"/>
                          <a:ea typeface="Calibri" pitchFamily="34" charset="-122"/>
                          <a:cs typeface="Calibri" pitchFamily="34" charset="-120"/>
                        </a:rPr>
                        <a:t> /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347472">
                <a:tc>
                  <a:txBody>
                    <a:bodyPr/>
                    <a:lstStyle/>
                    <a:p>
                      <a:pPr marL="0" indent="0">
                        <a:buNone/>
                      </a:pPr>
                      <a:r>
                        <a:rPr lang="en-US" sz="1100" b="1" dirty="0">
                          <a:solidFill>
                            <a:srgbClr val="2A2433"/>
                          </a:solidFill>
                          <a:latin typeface="Calibri" pitchFamily="34" charset="0"/>
                          <a:ea typeface="Calibri" pitchFamily="34" charset="-122"/>
                          <a:cs typeface="Calibri" pitchFamily="34" charset="-120"/>
                        </a:rPr>
                        <a:t>Subscription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Real-time updates (usually WebSockets)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100" dirty="0">
                          <a:solidFill>
                            <a:srgbClr val="2A2433"/>
                          </a:solidFill>
                          <a:latin typeface="Calibri" pitchFamily="34" charset="0"/>
                          <a:ea typeface="Calibri" pitchFamily="34" charset="-122"/>
                          <a:cs typeface="Calibri" pitchFamily="34" charset="-120"/>
                        </a:rPr>
                        <a:t>None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10" name="Shape 6"/>
          <p:cNvSpPr/>
          <p:nvPr/>
        </p:nvSpPr>
        <p:spPr>
          <a:xfrm>
            <a:off x="4663440" y="3200400"/>
            <a:ext cx="4023360" cy="1371600"/>
          </a:xfrm>
          <a:prstGeom prst="rect">
            <a:avLst/>
          </a:prstGeom>
          <a:solidFill>
            <a:srgbClr val="FDEAE5"/>
          </a:solidFill>
          <a:ln w="12700">
            <a:solidFill>
              <a:srgbClr val="FDEAE5"/>
            </a:solidFill>
            <a:prstDash val="solid"/>
          </a:ln>
        </p:spPr>
      </p:sp>
      <p:sp>
        <p:nvSpPr>
          <p:cNvPr id="11" name="Shape 7"/>
          <p:cNvSpPr/>
          <p:nvPr/>
        </p:nvSpPr>
        <p:spPr>
          <a:xfrm>
            <a:off x="4846320" y="3657600"/>
            <a:ext cx="457200" cy="457200"/>
          </a:xfrm>
          <a:prstGeom prst="roundRect">
            <a:avLst>
              <a:gd name="adj" fmla="val 24000"/>
            </a:avLst>
          </a:prstGeom>
          <a:solidFill>
            <a:srgbClr val="F2705A"/>
          </a:solidFill>
          <a:ln w="12700">
            <a:solidFill>
              <a:srgbClr val="F2705A"/>
            </a:solidFill>
            <a:prstDash val="solid"/>
          </a:ln>
        </p:spPr>
      </p:sp>
      <p:pic>
        <p:nvPicPr>
          <p:cNvPr id="12" name="Image 0" descr="preencoded.png"/>
          <p:cNvPicPr>
            <a:picLocks noChangeAspect="1"/>
          </p:cNvPicPr>
          <p:nvPr/>
        </p:nvPicPr>
        <p:blipFill>
          <a:blip r:embed="rId1"/>
          <a:stretch>
            <a:fillRect/>
          </a:stretch>
        </p:blipFill>
        <p:spPr>
          <a:xfrm>
            <a:off x="4960620" y="3771900"/>
            <a:ext cx="228600" cy="228600"/>
          </a:xfrm>
          <a:prstGeom prst="rect">
            <a:avLst/>
          </a:prstGeom>
        </p:spPr>
      </p:pic>
      <p:sp>
        <p:nvSpPr>
          <p:cNvPr id="13" name="Text 8"/>
          <p:cNvSpPr txBox="1"/>
          <p:nvPr/>
        </p:nvSpPr>
        <p:spPr>
          <a:xfrm>
            <a:off x="5486400" y="3200400"/>
            <a:ext cx="3017520" cy="1371600"/>
          </a:xfrm>
          <a:prstGeom prst="rect">
            <a:avLst/>
          </a:prstGeom>
          <a:noFill/>
        </p:spPr>
        <p:txBody>
          <a:bodyPr wrap="square" lIns="0" tIns="0" rIns="0" bIns="0" rtlCol="0" anchor="ctr"/>
          <a:lstStyle/>
          <a:p>
            <a:pPr marL="0" indent="0" algn="l">
              <a:buNone/>
            </a:pPr>
            <a:r>
              <a:rPr lang="en-US" sz="1300" b="1" dirty="0">
                <a:solidFill>
                  <a:srgbClr val="2A2433"/>
                </a:solidFill>
                <a:latin typeface="Calibri" pitchFamily="34" charset="0"/>
                <a:ea typeface="Calibri" pitchFamily="34" charset="-122"/>
                <a:cs typeface="Calibri" pitchFamily="34" charset="-120"/>
              </a:rPr>
              <a:t>Resolvers</a:t>
            </a:r>
            <a:r>
              <a:rPr lang="en-US" sz="1300" dirty="0">
                <a:solidFill>
                  <a:srgbClr val="2A2433"/>
                </a:solidFill>
                <a:latin typeface="Calibri" pitchFamily="34" charset="0"/>
                <a:ea typeface="Calibri" pitchFamily="34" charset="-122"/>
                <a:cs typeface="Calibri" pitchFamily="34" charset="-120"/>
              </a:rPr>
              <a:t> fetch each field. Authorization must be enforced </a:t>
            </a:r>
            <a:r>
              <a:rPr lang="en-US" sz="1300" b="1" dirty="0">
                <a:solidFill>
                  <a:srgbClr val="2A2433"/>
                </a:solidFill>
                <a:latin typeface="Calibri" pitchFamily="34" charset="0"/>
                <a:ea typeface="Calibri" pitchFamily="34" charset="-122"/>
                <a:cs typeface="Calibri" pitchFamily="34" charset="-120"/>
              </a:rPr>
              <a:t>per field</a:t>
            </a:r>
            <a:r>
              <a:rPr lang="en-US" sz="1300" dirty="0">
                <a:solidFill>
                  <a:srgbClr val="2A2433"/>
                </a:solidFill>
                <a:latin typeface="Calibri" pitchFamily="34" charset="0"/>
                <a:ea typeface="Calibri" pitchFamily="34" charset="-122"/>
                <a:cs typeface="Calibri" pitchFamily="34" charset="-120"/>
              </a:rPr>
              <a:t>, not just per endpoint.</a:t>
            </a:r>
            <a:endParaRPr lang="en-US" sz="13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 GraphQL request and response</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206240" cy="3291840"/>
          </a:xfrm>
          <a:prstGeom prst="rect">
            <a:avLst/>
          </a:prstGeom>
          <a:solidFill>
            <a:srgbClr val="241733"/>
          </a:solidFill>
          <a:ln w="12700">
            <a:solidFill>
              <a:srgbClr val="241733"/>
            </a:solidFill>
            <a:prstDash val="solid"/>
          </a:ln>
        </p:spPr>
      </p:sp>
      <p:sp>
        <p:nvSpPr>
          <p:cNvPr id="7" name="Text 4"/>
          <p:cNvSpPr txBox="1"/>
          <p:nvPr/>
        </p:nvSpPr>
        <p:spPr>
          <a:xfrm>
            <a:off x="640080" y="1371600"/>
            <a:ext cx="384048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REQUEST (POST)</a:t>
            </a:r>
            <a:endParaRPr lang="en-US" sz="1000" dirty="0"/>
          </a:p>
        </p:txBody>
      </p:sp>
      <p:sp>
        <p:nvSpPr>
          <p:cNvPr id="8" name="Text 5"/>
          <p:cNvSpPr txBox="1"/>
          <p:nvPr/>
        </p:nvSpPr>
        <p:spPr>
          <a:xfrm>
            <a:off x="640080" y="1627632"/>
            <a:ext cx="3840480" cy="2852928"/>
          </a:xfrm>
          <a:prstGeom prst="rect">
            <a:avLst/>
          </a:prstGeom>
          <a:noFill/>
        </p:spPr>
        <p:txBody>
          <a:bodyPr wrap="square" lIns="0" tIns="0" rIns="0" bIns="0" rtlCol="0" anchor="t"/>
          <a:lstStyle/>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POST /graphql HTTP/1.1</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Content-Type: application/json</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Authorization: Bearer eyJhbGciOi...</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"query": "query GetUser($id: ID!)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user(id: $id)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name email</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orders { id total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"variables": {"id": "1042"},</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"operationName": "GetUser"</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950" dirty="0"/>
          </a:p>
        </p:txBody>
      </p:sp>
      <p:sp>
        <p:nvSpPr>
          <p:cNvPr id="9" name="Shape 6"/>
          <p:cNvSpPr/>
          <p:nvPr/>
        </p:nvSpPr>
        <p:spPr>
          <a:xfrm>
            <a:off x="4846320" y="1280160"/>
            <a:ext cx="3840480" cy="3291840"/>
          </a:xfrm>
          <a:prstGeom prst="rect">
            <a:avLst/>
          </a:prstGeom>
          <a:solidFill>
            <a:srgbClr val="241733"/>
          </a:solidFill>
          <a:ln w="12700">
            <a:solidFill>
              <a:srgbClr val="241733"/>
            </a:solidFill>
            <a:prstDash val="solid"/>
          </a:ln>
        </p:spPr>
      </p:sp>
      <p:sp>
        <p:nvSpPr>
          <p:cNvPr id="10" name="Text 7"/>
          <p:cNvSpPr txBox="1"/>
          <p:nvPr/>
        </p:nvSpPr>
        <p:spPr>
          <a:xfrm>
            <a:off x="5029200" y="1371600"/>
            <a:ext cx="347472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RESPONSE</a:t>
            </a:r>
            <a:endParaRPr lang="en-US" sz="1000" dirty="0"/>
          </a:p>
        </p:txBody>
      </p:sp>
      <p:sp>
        <p:nvSpPr>
          <p:cNvPr id="11" name="Text 8"/>
          <p:cNvSpPr txBox="1"/>
          <p:nvPr/>
        </p:nvSpPr>
        <p:spPr>
          <a:xfrm>
            <a:off x="5029200" y="1627632"/>
            <a:ext cx="3474720" cy="2852928"/>
          </a:xfrm>
          <a:prstGeom prst="rect">
            <a:avLst/>
          </a:prstGeom>
          <a:noFill/>
        </p:spPr>
        <p:txBody>
          <a:bodyPr wrap="square" lIns="0" tIns="0" rIns="0" bIns="0" rtlCol="0" anchor="t"/>
          <a:lstStyle/>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HTTP/1.1 200 OK</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"data":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"user":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"name": "Alice",</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"email": "alice@example.com",</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"orders":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"88104", "total": 59.98},</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"88090", "total": 12.5}</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950" dirty="0"/>
          </a:p>
          <a:p>
            <a:pPr marL="0" indent="0">
              <a:lnSpc>
                <a:spcPct val="100000"/>
              </a:lnSpc>
              <a:buNone/>
            </a:pPr>
            <a:r>
              <a:rPr lang="en-US" sz="95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95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Errors leak: field suggestions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5120640" cy="2286000"/>
          </a:xfrm>
          <a:prstGeom prst="rect">
            <a:avLst/>
          </a:prstGeom>
          <a:solidFill>
            <a:srgbClr val="241733"/>
          </a:solidFill>
          <a:ln w="12700">
            <a:solidFill>
              <a:srgbClr val="241733"/>
            </a:solidFill>
            <a:prstDash val="solid"/>
          </a:ln>
        </p:spPr>
      </p:sp>
      <p:sp>
        <p:nvSpPr>
          <p:cNvPr id="7" name="Text 4"/>
          <p:cNvSpPr txBox="1"/>
          <p:nvPr/>
        </p:nvSpPr>
        <p:spPr>
          <a:xfrm>
            <a:off x="640080" y="1371600"/>
            <a:ext cx="475488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ERROR RESPONSE (OFTEN STILL HTTP 200)</a:t>
            </a:r>
            <a:endParaRPr lang="en-US" sz="1000" dirty="0"/>
          </a:p>
        </p:txBody>
      </p:sp>
      <p:sp>
        <p:nvSpPr>
          <p:cNvPr id="8" name="Text 5"/>
          <p:cNvSpPr txBox="1"/>
          <p:nvPr/>
        </p:nvSpPr>
        <p:spPr>
          <a:xfrm>
            <a:off x="640080" y="1627632"/>
            <a:ext cx="4754880" cy="184708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"errors":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"message": "Cannot query field \"passwrd\"</a:t>
            </a:r>
            <a:endParaRPr lang="en-US" sz="1000" dirty="0"/>
          </a:p>
          <a:p>
            <a:pPr marL="0" indent="0">
              <a:lnSpc>
                <a:spcPct val="100000"/>
              </a:lnSpc>
              <a:buNone/>
            </a:pPr>
            <a:r>
              <a:rPr lang="en-US" sz="100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on type \"User\".</a:t>
            </a:r>
            <a:endParaRPr lang="en-US" sz="1000" dirty="0"/>
          </a:p>
          <a:p>
            <a:pPr marL="0" indent="0">
              <a:lnSpc>
                <a:spcPct val="100000"/>
              </a:lnSpc>
              <a:buNone/>
            </a:pPr>
            <a:r>
              <a:rPr lang="en-US" sz="100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      Did you mean \"password\"?",</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"locations": [{"line": 1, "column": 20}]</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"data": null</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sp>
        <p:nvSpPr>
          <p:cNvPr id="9" name="Shape 6"/>
          <p:cNvSpPr/>
          <p:nvPr/>
        </p:nvSpPr>
        <p:spPr>
          <a:xfrm>
            <a:off x="5760720" y="1280160"/>
            <a:ext cx="2926080" cy="2286000"/>
          </a:xfrm>
          <a:prstGeom prst="rect">
            <a:avLst/>
          </a:prstGeom>
          <a:solidFill>
            <a:srgbClr val="FFFFFF"/>
          </a:solidFill>
          <a:ln w="9525">
            <a:solidFill>
              <a:srgbClr val="D6CCE6"/>
            </a:solidFill>
          </a:ln>
        </p:spPr>
      </p:sp>
      <p:sp>
        <p:nvSpPr>
          <p:cNvPr id="10" name="Shape 7"/>
          <p:cNvSpPr/>
          <p:nvPr/>
        </p:nvSpPr>
        <p:spPr>
          <a:xfrm>
            <a:off x="5925312" y="1444752"/>
            <a:ext cx="457200" cy="457200"/>
          </a:xfrm>
          <a:prstGeom prst="roundRect">
            <a:avLst>
              <a:gd name="adj" fmla="val 24000"/>
            </a:avLst>
          </a:prstGeom>
          <a:solidFill>
            <a:srgbClr val="6B35B5"/>
          </a:solidFill>
          <a:ln w="12700">
            <a:solidFill>
              <a:srgbClr val="6B35B5"/>
            </a:solidFill>
            <a:prstDash val="solid"/>
          </a:ln>
        </p:spPr>
      </p:sp>
      <p:pic>
        <p:nvPicPr>
          <p:cNvPr id="11" name="Image 0" descr="preencoded.png"/>
          <p:cNvPicPr>
            <a:picLocks noChangeAspect="1"/>
          </p:cNvPicPr>
          <p:nvPr/>
        </p:nvPicPr>
        <p:blipFill>
          <a:blip r:embed="rId1"/>
          <a:stretch>
            <a:fillRect/>
          </a:stretch>
        </p:blipFill>
        <p:spPr>
          <a:xfrm>
            <a:off x="6039612" y="1559052"/>
            <a:ext cx="228600" cy="228600"/>
          </a:xfrm>
          <a:prstGeom prst="rect">
            <a:avLst/>
          </a:prstGeom>
        </p:spPr>
      </p:pic>
      <p:sp>
        <p:nvSpPr>
          <p:cNvPr id="12" name="Text 8"/>
          <p:cNvSpPr txBox="1"/>
          <p:nvPr/>
        </p:nvSpPr>
        <p:spPr>
          <a:xfrm>
            <a:off x="5925312" y="1993392"/>
            <a:ext cx="2596896" cy="258826"/>
          </a:xfrm>
          <a:prstGeom prst="rect">
            <a:avLst/>
          </a:prstGeom>
          <a:noFill/>
        </p:spPr>
        <p:txBody>
          <a:bodyPr wrap="square" lIns="0" tIns="0" rIns="0" bIns="0" rtlCol="0" anchor="t"/>
          <a:lstStyle/>
          <a:p>
            <a:pPr marL="0" indent="0">
              <a:buNone/>
            </a:pPr>
            <a:r>
              <a:rPr lang="en-US" sz="1400" b="1" dirty="0">
                <a:solidFill>
                  <a:srgbClr val="2B1B3F"/>
                </a:solidFill>
                <a:latin typeface="Calibri" pitchFamily="34" charset="0"/>
                <a:ea typeface="Calibri" pitchFamily="34" charset="-122"/>
                <a:cs typeface="Calibri" pitchFamily="34" charset="-120"/>
              </a:rPr>
              <a:t>Field suggestions</a:t>
            </a:r>
            <a:endParaRPr lang="en-US" sz="1400" dirty="0"/>
          </a:p>
        </p:txBody>
      </p:sp>
      <p:sp>
        <p:nvSpPr>
          <p:cNvPr id="13" name="Text 9"/>
          <p:cNvSpPr txBox="1"/>
          <p:nvPr/>
        </p:nvSpPr>
        <p:spPr>
          <a:xfrm>
            <a:off x="5925312" y="2297938"/>
            <a:ext cx="2596896" cy="1176782"/>
          </a:xfrm>
          <a:prstGeom prst="rect">
            <a:avLst/>
          </a:prstGeom>
          <a:noFill/>
        </p:spPr>
        <p:txBody>
          <a:bodyPr wrap="square" lIns="0" tIns="0" rIns="0" bIns="0" rtlCol="0" anchor="t"/>
          <a:lstStyle/>
          <a:p>
            <a:pPr marL="0" indent="0" algn="l">
              <a:buNone/>
            </a:pPr>
            <a:r>
              <a:rPr lang="en-US" sz="1200" dirty="0">
                <a:solidFill>
                  <a:srgbClr val="2A2433"/>
                </a:solidFill>
                <a:latin typeface="Calibri" pitchFamily="34" charset="0"/>
                <a:ea typeface="Calibri" pitchFamily="34" charset="-122"/>
                <a:cs typeface="Calibri" pitchFamily="34" charset="-120"/>
              </a:rPr>
              <a:t>The hint leaks real field names, even with introspection off</a:t>
            </a:r>
            <a:endParaRPr lang="en-US" sz="1200" dirty="0"/>
          </a:p>
        </p:txBody>
      </p:sp>
      <p:sp>
        <p:nvSpPr>
          <p:cNvPr id="14" name="Shape 10"/>
          <p:cNvSpPr/>
          <p:nvPr/>
        </p:nvSpPr>
        <p:spPr>
          <a:xfrm>
            <a:off x="457200" y="3840480"/>
            <a:ext cx="8229600" cy="731520"/>
          </a:xfrm>
          <a:prstGeom prst="rect">
            <a:avLst/>
          </a:prstGeom>
          <a:solidFill>
            <a:srgbClr val="FDEAE5"/>
          </a:solidFill>
          <a:ln w="12700">
            <a:solidFill>
              <a:srgbClr val="FDEAE5"/>
            </a:solidFill>
            <a:prstDash val="solid"/>
          </a:ln>
        </p:spPr>
      </p:sp>
      <p:sp>
        <p:nvSpPr>
          <p:cNvPr id="15" name="Shape 11"/>
          <p:cNvSpPr/>
          <p:nvPr/>
        </p:nvSpPr>
        <p:spPr>
          <a:xfrm>
            <a:off x="640080" y="3977640"/>
            <a:ext cx="457200" cy="457200"/>
          </a:xfrm>
          <a:prstGeom prst="roundRect">
            <a:avLst>
              <a:gd name="adj" fmla="val 24000"/>
            </a:avLst>
          </a:prstGeom>
          <a:solidFill>
            <a:srgbClr val="F2705A"/>
          </a:solidFill>
          <a:ln w="12700">
            <a:solidFill>
              <a:srgbClr val="F2705A"/>
            </a:solidFill>
            <a:prstDash val="solid"/>
          </a:ln>
        </p:spPr>
      </p:sp>
      <p:pic>
        <p:nvPicPr>
          <p:cNvPr id="16" name="Image 1" descr="preencoded.png"/>
          <p:cNvPicPr>
            <a:picLocks noChangeAspect="1"/>
          </p:cNvPicPr>
          <p:nvPr/>
        </p:nvPicPr>
        <p:blipFill>
          <a:blip r:embed="rId2"/>
          <a:stretch>
            <a:fillRect/>
          </a:stretch>
        </p:blipFill>
        <p:spPr>
          <a:xfrm>
            <a:off x="754380" y="4091940"/>
            <a:ext cx="228600" cy="228600"/>
          </a:xfrm>
          <a:prstGeom prst="rect">
            <a:avLst/>
          </a:prstGeom>
        </p:spPr>
      </p:pic>
      <p:sp>
        <p:nvSpPr>
          <p:cNvPr id="17" name="Text 12"/>
          <p:cNvSpPr txBox="1"/>
          <p:nvPr/>
        </p:nvSpPr>
        <p:spPr>
          <a:xfrm>
            <a:off x="1280160" y="3840480"/>
            <a:ext cx="7223760" cy="731520"/>
          </a:xfrm>
          <a:prstGeom prst="rect">
            <a:avLst/>
          </a:prstGeom>
          <a:noFill/>
        </p:spPr>
        <p:txBody>
          <a:bodyPr wrap="square" lIns="0" tIns="0" rIns="0" bIns="0" rtlCol="0" anchor="ctr"/>
          <a:lstStyle/>
          <a:p>
            <a:pPr marL="0" indent="0" algn="l">
              <a:buNone/>
            </a:pPr>
            <a:r>
              <a:rPr lang="en-US" sz="1400" dirty="0">
                <a:solidFill>
                  <a:srgbClr val="2A2433"/>
                </a:solidFill>
                <a:latin typeface="Calibri" pitchFamily="34" charset="0"/>
                <a:ea typeface="Calibri" pitchFamily="34" charset="-122"/>
                <a:cs typeface="Calibri" pitchFamily="34" charset="-120"/>
              </a:rPr>
              <a:t>Do not rely on the HTTP status code: GraphQL often returns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200</a:t>
            </a:r>
            <a:r>
              <a:rPr lang="en-US" sz="1400" dirty="0">
                <a:solidFill>
                  <a:srgbClr val="2A2433"/>
                </a:solidFill>
                <a:latin typeface="Calibri" pitchFamily="34" charset="0"/>
                <a:ea typeface="Calibri" pitchFamily="34" charset="-122"/>
                <a:cs typeface="Calibri" pitchFamily="34" charset="-120"/>
              </a:rPr>
              <a:t> with an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"errors"</a:t>
            </a:r>
            <a:r>
              <a:rPr lang="en-US" sz="1400" dirty="0">
                <a:solidFill>
                  <a:srgbClr val="2A2433"/>
                </a:solidFill>
                <a:latin typeface="Calibri" pitchFamily="34" charset="0"/>
                <a:ea typeface="Calibri" pitchFamily="34" charset="-122"/>
                <a:cs typeface="Calibri" pitchFamily="34" charset="-120"/>
              </a:rPr>
              <a:t> array.</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Aliases, fragments, introspection</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280160"/>
            <a:ext cx="4023360" cy="1554480"/>
          </a:xfrm>
          <a:prstGeom prst="rect">
            <a:avLst/>
          </a:prstGeom>
          <a:solidFill>
            <a:srgbClr val="241733"/>
          </a:solidFill>
          <a:ln w="12700">
            <a:solidFill>
              <a:srgbClr val="241733"/>
            </a:solidFill>
            <a:prstDash val="solid"/>
          </a:ln>
        </p:spPr>
      </p:sp>
      <p:sp>
        <p:nvSpPr>
          <p:cNvPr id="7" name="Text 4"/>
          <p:cNvSpPr txBox="1"/>
          <p:nvPr/>
        </p:nvSpPr>
        <p:spPr>
          <a:xfrm>
            <a:off x="64008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ALIASES: SAME FIELD, MANY TIMES</a:t>
            </a:r>
            <a:endParaRPr lang="en-US" sz="1000" dirty="0"/>
          </a:p>
        </p:txBody>
      </p:sp>
      <p:sp>
        <p:nvSpPr>
          <p:cNvPr id="8" name="Text 5"/>
          <p:cNvSpPr txBox="1"/>
          <p:nvPr/>
        </p:nvSpPr>
        <p:spPr>
          <a:xfrm>
            <a:off x="640080" y="1627632"/>
            <a:ext cx="3657600" cy="111556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query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 user(id: "1") { name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b: user(id: "2") { name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c: user(id: "3") { name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p:txBody>
      </p:sp>
      <p:sp>
        <p:nvSpPr>
          <p:cNvPr id="9" name="Shape 6"/>
          <p:cNvSpPr/>
          <p:nvPr/>
        </p:nvSpPr>
        <p:spPr>
          <a:xfrm>
            <a:off x="4663440" y="1280160"/>
            <a:ext cx="4023360" cy="1554480"/>
          </a:xfrm>
          <a:prstGeom prst="rect">
            <a:avLst/>
          </a:prstGeom>
          <a:solidFill>
            <a:srgbClr val="241733"/>
          </a:solidFill>
          <a:ln w="12700">
            <a:solidFill>
              <a:srgbClr val="241733"/>
            </a:solidFill>
            <a:prstDash val="solid"/>
          </a:ln>
        </p:spPr>
      </p:sp>
      <p:sp>
        <p:nvSpPr>
          <p:cNvPr id="10" name="Text 7"/>
          <p:cNvSpPr txBox="1"/>
          <p:nvPr/>
        </p:nvSpPr>
        <p:spPr>
          <a:xfrm>
            <a:off x="4846320" y="1371600"/>
            <a:ext cx="365760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FRAGMENTS: REUSABLE FIELD SETS</a:t>
            </a:r>
            <a:endParaRPr lang="en-US" sz="1000" dirty="0"/>
          </a:p>
        </p:txBody>
      </p:sp>
      <p:sp>
        <p:nvSpPr>
          <p:cNvPr id="11" name="Text 8"/>
          <p:cNvSpPr txBox="1"/>
          <p:nvPr/>
        </p:nvSpPr>
        <p:spPr>
          <a:xfrm>
            <a:off x="4846320" y="1627632"/>
            <a:ext cx="3657600" cy="1115568"/>
          </a:xfrm>
          <a:prstGeom prst="rect">
            <a:avLst/>
          </a:prstGeom>
          <a:noFill/>
        </p:spPr>
        <p:txBody>
          <a:bodyPr wrap="square" lIns="0" tIns="0" rIns="0" bIns="0" rtlCol="0" anchor="t"/>
          <a:lstStyle/>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fragment UserBits on User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id name email</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query { user(id: "1") { ...UserBits } }</a:t>
            </a:r>
            <a:endParaRPr lang="en-US" sz="1000" dirty="0"/>
          </a:p>
        </p:txBody>
      </p:sp>
      <p:sp>
        <p:nvSpPr>
          <p:cNvPr id="12" name="Shape 9"/>
          <p:cNvSpPr/>
          <p:nvPr/>
        </p:nvSpPr>
        <p:spPr>
          <a:xfrm>
            <a:off x="457200" y="3063240"/>
            <a:ext cx="8229600" cy="777240"/>
          </a:xfrm>
          <a:prstGeom prst="rect">
            <a:avLst/>
          </a:prstGeom>
          <a:solidFill>
            <a:srgbClr val="241733"/>
          </a:solidFill>
          <a:ln w="12700">
            <a:solidFill>
              <a:srgbClr val="241733"/>
            </a:solidFill>
            <a:prstDash val="solid"/>
          </a:ln>
        </p:spPr>
      </p:sp>
      <p:sp>
        <p:nvSpPr>
          <p:cNvPr id="13" name="Text 10"/>
          <p:cNvSpPr txBox="1"/>
          <p:nvPr/>
        </p:nvSpPr>
        <p:spPr>
          <a:xfrm>
            <a:off x="640080" y="3154680"/>
            <a:ext cx="786384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INTROSPECTION: THE SERVER DESCRIBES ITS OWN SCHEMA</a:t>
            </a:r>
            <a:endParaRPr lang="en-US" sz="1000" dirty="0"/>
          </a:p>
        </p:txBody>
      </p:sp>
      <p:sp>
        <p:nvSpPr>
          <p:cNvPr id="14" name="Text 11"/>
          <p:cNvSpPr txBox="1"/>
          <p:nvPr/>
        </p:nvSpPr>
        <p:spPr>
          <a:xfrm>
            <a:off x="640080" y="3410712"/>
            <a:ext cx="7863840" cy="338328"/>
          </a:xfrm>
          <a:prstGeom prst="rect">
            <a:avLst/>
          </a:prstGeom>
          <a:noFill/>
        </p:spPr>
        <p:txBody>
          <a:bodyPr wrap="square" lIns="0" tIns="0" rIns="0" bIns="0" rtlCol="0" anchor="t"/>
          <a:lstStyle/>
          <a:p>
            <a:pPr marL="0" indent="0">
              <a:lnSpc>
                <a:spcPct val="100000"/>
              </a:lnSpc>
              <a:buNone/>
            </a:pPr>
            <a:r>
              <a:rPr lang="en-US" sz="11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__schema { types { name fields { name } } } }</a:t>
            </a:r>
            <a:endParaRPr lang="en-US" sz="1100" dirty="0"/>
          </a:p>
        </p:txBody>
      </p:sp>
      <p:sp>
        <p:nvSpPr>
          <p:cNvPr id="15" name="Text 12"/>
          <p:cNvSpPr txBox="1"/>
          <p:nvPr/>
        </p:nvSpPr>
        <p:spPr>
          <a:xfrm>
            <a:off x="457200" y="4069080"/>
            <a:ext cx="8229600" cy="457200"/>
          </a:xfrm>
          <a:prstGeom prst="rect">
            <a:avLst/>
          </a:prstGeom>
          <a:noFill/>
        </p:spPr>
        <p:txBody>
          <a:bodyPr wrap="square" lIns="0" tIns="0" rIns="0" bIns="0" rtlCol="0" anchor="t"/>
          <a:lstStyle/>
          <a:p>
            <a:pPr marL="0" indent="0" algn="l">
              <a:buNone/>
            </a:pPr>
            <a:r>
              <a:rPr lang="en-US" sz="1400" dirty="0">
                <a:solidFill>
                  <a:srgbClr val="51268E"/>
                </a:solidFill>
                <a:latin typeface="Calibri" pitchFamily="34" charset="0"/>
                <a:ea typeface="Calibri" pitchFamily="34" charset="-122"/>
                <a:cs typeface="Calibri" pitchFamily="34" charset="-120"/>
              </a:rPr>
              <a:t>When enabled, introspection hands over the </a:t>
            </a:r>
            <a:r>
              <a:rPr lang="en-US" sz="1400" b="1" dirty="0">
                <a:solidFill>
                  <a:srgbClr val="51268E"/>
                </a:solidFill>
                <a:latin typeface="Calibri" pitchFamily="34" charset="0"/>
                <a:ea typeface="Calibri" pitchFamily="34" charset="-122"/>
                <a:cs typeface="Calibri" pitchFamily="34" charset="-120"/>
              </a:rPr>
              <a:t>entire API map</a:t>
            </a:r>
            <a:r>
              <a:rPr lang="en-US" sz="1400" dirty="0">
                <a:solidFill>
                  <a:srgbClr val="51268E"/>
                </a:solidFill>
                <a:latin typeface="Calibri" pitchFamily="34" charset="0"/>
                <a:ea typeface="Calibri" pitchFamily="34" charset="-122"/>
                <a:cs typeface="Calibri" pitchFamily="34" charset="-120"/>
              </a:rPr>
              <a:t>, like an OpenAPI spec generated on demand.</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Recognising GraphQL</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02334"/>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325880"/>
            <a:ext cx="4590288" cy="461264"/>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Endpoints such as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/graphql</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/graphiql</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/api/graphql</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/v1/graphql</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/query</a:t>
            </a:r>
            <a:r>
              <a:rPr lang="en-US" sz="1400" dirty="0">
                <a:solidFill>
                  <a:srgbClr val="2A2433"/>
                </a:solidFill>
                <a:latin typeface="Calibri" pitchFamily="34" charset="0"/>
                <a:ea typeface="Calibri" pitchFamily="34" charset="-122"/>
                <a:cs typeface="Calibri" pitchFamily="34" charset="-120"/>
              </a:rPr>
              <a:t>,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/gql</a:t>
            </a:r>
            <a:endParaRPr lang="en-US" sz="1400" dirty="0"/>
          </a:p>
        </p:txBody>
      </p:sp>
      <p:sp>
        <p:nvSpPr>
          <p:cNvPr id="8" name="Shape 5"/>
          <p:cNvSpPr/>
          <p:nvPr/>
        </p:nvSpPr>
        <p:spPr>
          <a:xfrm>
            <a:off x="502920" y="1973326"/>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896872"/>
            <a:ext cx="4590288" cy="461264"/>
          </a:xfrm>
          <a:prstGeom prst="rect">
            <a:avLst/>
          </a:prstGeom>
          <a:noFill/>
        </p:spPr>
        <p:txBody>
          <a:bodyPr wrap="square" lIns="0" tIns="0" rIns="0" bIns="0" rtlCol="0" anchor="t"/>
          <a:lstStyle/>
          <a:p>
            <a:pPr marL="0" indent="0" algn="l">
              <a:buNone/>
            </a:pP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POST</a:t>
            </a:r>
            <a:r>
              <a:rPr lang="en-US" sz="1400" dirty="0">
                <a:solidFill>
                  <a:srgbClr val="2A2433"/>
                </a:solidFill>
                <a:latin typeface="Calibri" pitchFamily="34" charset="0"/>
                <a:ea typeface="Calibri" pitchFamily="34" charset="-122"/>
                <a:cs typeface="Calibri" pitchFamily="34" charset="-120"/>
              </a:rPr>
              <a:t> bodies with a </a:t>
            </a:r>
            <a:r>
              <a:rPr lang="en-US" sz="1300" b="1"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"query"</a:t>
            </a:r>
            <a:r>
              <a:rPr lang="en-US" sz="1400" dirty="0">
                <a:solidFill>
                  <a:srgbClr val="2A2433"/>
                </a:solidFill>
                <a:latin typeface="Calibri" pitchFamily="34" charset="0"/>
                <a:ea typeface="Calibri" pitchFamily="34" charset="-122"/>
                <a:cs typeface="Calibri" pitchFamily="34" charset="-120"/>
              </a:rPr>
              <a:t> key (and often </a:t>
            </a:r>
            <a:r>
              <a:rPr lang="en-US" sz="13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"variables"</a:t>
            </a:r>
            <a:r>
              <a:rPr lang="en-US" sz="1400" dirty="0">
                <a:solidFill>
                  <a:srgbClr val="2A2433"/>
                </a:solidFill>
                <a:latin typeface="Calibri" pitchFamily="34" charset="0"/>
                <a:ea typeface="Calibri" pitchFamily="34" charset="-122"/>
                <a:cs typeface="Calibri" pitchFamily="34" charset="-120"/>
              </a:rPr>
              <a:t>)</a:t>
            </a:r>
            <a:endParaRPr lang="en-US" sz="1300" dirty="0"/>
          </a:p>
        </p:txBody>
      </p:sp>
      <p:sp>
        <p:nvSpPr>
          <p:cNvPr id="10" name="Shape 7"/>
          <p:cNvSpPr/>
          <p:nvPr/>
        </p:nvSpPr>
        <p:spPr>
          <a:xfrm>
            <a:off x="502920" y="2544318"/>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467864"/>
            <a:ext cx="459028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Responses with top-level </a:t>
            </a:r>
            <a:r>
              <a:rPr lang="en-US" sz="1300" b="1"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"data"</a:t>
            </a:r>
            <a:r>
              <a:rPr lang="en-US" sz="1400" dirty="0">
                <a:solidFill>
                  <a:srgbClr val="2A2433"/>
                </a:solidFill>
                <a:latin typeface="Calibri" pitchFamily="34" charset="0"/>
                <a:ea typeface="Calibri" pitchFamily="34" charset="-122"/>
                <a:cs typeface="Calibri" pitchFamily="34" charset="-120"/>
              </a:rPr>
              <a:t> and/or </a:t>
            </a:r>
            <a:r>
              <a:rPr lang="en-US" sz="1300" b="1"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"errors"</a:t>
            </a:r>
            <a:endParaRPr lang="en-US" sz="1400" dirty="0"/>
          </a:p>
        </p:txBody>
      </p:sp>
      <p:sp>
        <p:nvSpPr>
          <p:cNvPr id="12" name="Shape 9"/>
          <p:cNvSpPr/>
          <p:nvPr/>
        </p:nvSpPr>
        <p:spPr>
          <a:xfrm>
            <a:off x="502920" y="2898394"/>
            <a:ext cx="82296" cy="82296"/>
          </a:xfrm>
          <a:prstGeom prst="rect">
            <a:avLst/>
          </a:prstGeom>
          <a:solidFill>
            <a:srgbClr val="F2705A"/>
          </a:solidFill>
          <a:ln w="12700">
            <a:solidFill>
              <a:srgbClr val="F2705A"/>
            </a:solidFill>
            <a:prstDash val="solid"/>
          </a:ln>
        </p:spPr>
      </p:sp>
      <p:sp>
        <p:nvSpPr>
          <p:cNvPr id="13" name="Text 10"/>
          <p:cNvSpPr txBox="1"/>
          <p:nvPr/>
        </p:nvSpPr>
        <p:spPr>
          <a:xfrm>
            <a:off x="713232" y="2821940"/>
            <a:ext cx="4590288" cy="244348"/>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Almost every request goes to the </a:t>
            </a:r>
            <a:r>
              <a:rPr lang="en-US" sz="1400" b="1" dirty="0">
                <a:solidFill>
                  <a:srgbClr val="2A2433"/>
                </a:solidFill>
                <a:latin typeface="Calibri" pitchFamily="34" charset="0"/>
                <a:ea typeface="Calibri" pitchFamily="34" charset="-122"/>
                <a:cs typeface="Calibri" pitchFamily="34" charset="-120"/>
              </a:rPr>
              <a:t>same URL</a:t>
            </a:r>
            <a:endParaRPr lang="en-US" sz="1400" dirty="0"/>
          </a:p>
        </p:txBody>
      </p:sp>
      <p:sp>
        <p:nvSpPr>
          <p:cNvPr id="14" name="Shape 11"/>
          <p:cNvSpPr/>
          <p:nvPr/>
        </p:nvSpPr>
        <p:spPr>
          <a:xfrm>
            <a:off x="502920" y="3252470"/>
            <a:ext cx="82296" cy="82296"/>
          </a:xfrm>
          <a:prstGeom prst="rect">
            <a:avLst/>
          </a:prstGeom>
          <a:solidFill>
            <a:srgbClr val="F2705A"/>
          </a:solidFill>
          <a:ln w="12700">
            <a:solidFill>
              <a:srgbClr val="F2705A"/>
            </a:solidFill>
            <a:prstDash val="solid"/>
          </a:ln>
        </p:spPr>
      </p:sp>
      <p:sp>
        <p:nvSpPr>
          <p:cNvPr id="15" name="Text 12"/>
          <p:cNvSpPr txBox="1"/>
          <p:nvPr/>
        </p:nvSpPr>
        <p:spPr>
          <a:xfrm>
            <a:off x="713232" y="3176016"/>
            <a:ext cx="4590288" cy="461264"/>
          </a:xfrm>
          <a:prstGeom prst="rect">
            <a:avLst/>
          </a:prstGeom>
          <a:noFill/>
        </p:spPr>
        <p:txBody>
          <a:bodyPr wrap="square" lIns="0" tIns="0" rIns="0" bIns="0" rtlCol="0" anchor="t"/>
          <a:lstStyle/>
          <a:p>
            <a:pPr marL="0" indent="0" algn="l">
              <a:buNone/>
            </a:pPr>
            <a:r>
              <a:rPr lang="en-US" sz="1400" dirty="0">
                <a:solidFill>
                  <a:srgbClr val="2A2433"/>
                </a:solidFill>
                <a:latin typeface="Calibri" pitchFamily="34" charset="0"/>
                <a:ea typeface="Calibri" pitchFamily="34" charset="-122"/>
                <a:cs typeface="Calibri" pitchFamily="34" charset="-120"/>
              </a:rPr>
              <a:t>A GraphQL IDE (GraphiQL, Playground, Altair, Apollo Sandbox) at the URL</a:t>
            </a:r>
            <a:endParaRPr lang="en-US" sz="1400" dirty="0"/>
          </a:p>
        </p:txBody>
      </p:sp>
      <p:sp>
        <p:nvSpPr>
          <p:cNvPr id="16" name="Shape 13"/>
          <p:cNvSpPr/>
          <p:nvPr/>
        </p:nvSpPr>
        <p:spPr>
          <a:xfrm>
            <a:off x="5486400" y="1325880"/>
            <a:ext cx="3200400" cy="1737360"/>
          </a:xfrm>
          <a:prstGeom prst="rect">
            <a:avLst/>
          </a:prstGeom>
          <a:solidFill>
            <a:srgbClr val="241733"/>
          </a:solidFill>
          <a:ln w="12700">
            <a:solidFill>
              <a:srgbClr val="241733"/>
            </a:solidFill>
            <a:prstDash val="solid"/>
          </a:ln>
        </p:spPr>
      </p:sp>
      <p:sp>
        <p:nvSpPr>
          <p:cNvPr id="17" name="Text 14"/>
          <p:cNvSpPr txBox="1"/>
          <p:nvPr/>
        </p:nvSpPr>
        <p:spPr>
          <a:xfrm>
            <a:off x="5669280" y="1417320"/>
            <a:ext cx="2834640" cy="228600"/>
          </a:xfrm>
          <a:prstGeom prst="rect">
            <a:avLst/>
          </a:prstGeom>
          <a:noFill/>
        </p:spPr>
        <p:txBody>
          <a:bodyPr wrap="square" lIns="0" tIns="0" rIns="0" bIns="0" rtlCol="0" anchor="ctr"/>
          <a:lstStyle/>
          <a:p>
            <a:pPr marL="0" indent="0">
              <a:buNone/>
            </a:pPr>
            <a:r>
              <a:rPr lang="en-US" sz="1000" b="1" kern="0" spc="100" dirty="0">
                <a:solidFill>
                  <a:srgbClr val="F2705A"/>
                </a:solidFill>
                <a:latin typeface="Calibri" pitchFamily="34" charset="0"/>
                <a:ea typeface="Calibri" pitchFamily="34" charset="-122"/>
                <a:cs typeface="Calibri" pitchFamily="34" charset="-120"/>
              </a:rPr>
              <a:t>QUICK PROBE</a:t>
            </a:r>
            <a:endParaRPr lang="en-US" sz="1000" dirty="0"/>
          </a:p>
        </p:txBody>
      </p:sp>
      <p:sp>
        <p:nvSpPr>
          <p:cNvPr id="18" name="Text 15"/>
          <p:cNvSpPr txBox="1"/>
          <p:nvPr/>
        </p:nvSpPr>
        <p:spPr>
          <a:xfrm>
            <a:off x="5669280" y="1673352"/>
            <a:ext cx="2834640" cy="1298448"/>
          </a:xfrm>
          <a:prstGeom prst="rect">
            <a:avLst/>
          </a:prstGeom>
          <a:noFill/>
        </p:spPr>
        <p:txBody>
          <a:bodyPr wrap="square" lIns="0" tIns="0" rIns="0" bIns="0" rtlCol="0" anchor="t"/>
          <a:lstStyle/>
          <a:p>
            <a:pPr marL="0" indent="0">
              <a:lnSpc>
                <a:spcPct val="100000"/>
              </a:lnSpc>
              <a:buNone/>
            </a:pPr>
            <a:r>
              <a:rPr lang="en-US" sz="1000" b="1" dirty="0">
                <a:solidFill>
                  <a:srgbClr val="F2705A"/>
                </a:solidFill>
                <a:latin typeface="Courier New" panose="02070609020205020404" pitchFamily="34" charset="0"/>
                <a:ea typeface="Courier New" panose="02070609020205020404" pitchFamily="34" charset="-122"/>
                <a:cs typeface="Courier New" panose="02070609020205020404" pitchFamily="34" charset="-120"/>
              </a:rPr>
              <a:t>{"query":"{__typename}"}</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-&gt; {"data":</a:t>
            </a:r>
            <a:endParaRPr lang="en-US" sz="1000" dirty="0"/>
          </a:p>
          <a:p>
            <a:pPr marL="0" indent="0">
              <a:lnSpc>
                <a:spcPct val="100000"/>
              </a:lnSpc>
              <a:buNone/>
            </a:pPr>
            <a:r>
              <a:rPr lang="en-US" sz="1000" dirty="0">
                <a:solidFill>
                  <a:srgbClr val="EEE8F6"/>
                </a:solidFill>
                <a:latin typeface="Courier New" panose="02070609020205020404" pitchFamily="34" charset="0"/>
                <a:ea typeface="Courier New" panose="02070609020205020404" pitchFamily="34" charset="-122"/>
                <a:cs typeface="Courier New" panose="02070609020205020404" pitchFamily="34" charset="-120"/>
              </a:rPr>
              <a:t>    {"__typename":"Query"}}</a:t>
            </a:r>
            <a:endParaRPr lang="en-US" sz="1000" dirty="0"/>
          </a:p>
        </p:txBody>
      </p:sp>
      <p:sp>
        <p:nvSpPr>
          <p:cNvPr id="19" name="Shape 16"/>
          <p:cNvSpPr/>
          <p:nvPr/>
        </p:nvSpPr>
        <p:spPr>
          <a:xfrm>
            <a:off x="5486400" y="3291840"/>
            <a:ext cx="3200400" cy="1280160"/>
          </a:xfrm>
          <a:prstGeom prst="rect">
            <a:avLst/>
          </a:prstGeom>
          <a:solidFill>
            <a:srgbClr val="FDEAE5"/>
          </a:solidFill>
          <a:ln w="12700">
            <a:solidFill>
              <a:srgbClr val="FDEAE5"/>
            </a:solidFill>
            <a:prstDash val="solid"/>
          </a:ln>
        </p:spPr>
      </p:sp>
      <p:sp>
        <p:nvSpPr>
          <p:cNvPr id="20" name="Shape 17"/>
          <p:cNvSpPr/>
          <p:nvPr/>
        </p:nvSpPr>
        <p:spPr>
          <a:xfrm>
            <a:off x="5669280" y="3703320"/>
            <a:ext cx="457200" cy="457200"/>
          </a:xfrm>
          <a:prstGeom prst="roundRect">
            <a:avLst>
              <a:gd name="adj" fmla="val 24000"/>
            </a:avLst>
          </a:prstGeom>
          <a:solidFill>
            <a:srgbClr val="F2705A"/>
          </a:solidFill>
          <a:ln w="12700">
            <a:solidFill>
              <a:srgbClr val="F2705A"/>
            </a:solidFill>
            <a:prstDash val="solid"/>
          </a:ln>
        </p:spPr>
      </p:sp>
      <p:pic>
        <p:nvPicPr>
          <p:cNvPr id="21" name="Image 0" descr="preencoded.png"/>
          <p:cNvPicPr>
            <a:picLocks noChangeAspect="1"/>
          </p:cNvPicPr>
          <p:nvPr/>
        </p:nvPicPr>
        <p:blipFill>
          <a:blip r:embed="rId1"/>
          <a:stretch>
            <a:fillRect/>
          </a:stretch>
        </p:blipFill>
        <p:spPr>
          <a:xfrm>
            <a:off x="5783580" y="3817620"/>
            <a:ext cx="228600" cy="228600"/>
          </a:xfrm>
          <a:prstGeom prst="rect">
            <a:avLst/>
          </a:prstGeom>
        </p:spPr>
      </p:pic>
      <p:sp>
        <p:nvSpPr>
          <p:cNvPr id="22" name="Text 18"/>
          <p:cNvSpPr txBox="1"/>
          <p:nvPr/>
        </p:nvSpPr>
        <p:spPr>
          <a:xfrm>
            <a:off x="6309360" y="3291840"/>
            <a:ext cx="2194560" cy="1280160"/>
          </a:xfrm>
          <a:prstGeom prst="rect">
            <a:avLst/>
          </a:prstGeom>
          <a:noFill/>
        </p:spPr>
        <p:txBody>
          <a:bodyPr wrap="square" lIns="0" tIns="0" rIns="0" bIns="0" rtlCol="0" anchor="ctr"/>
          <a:lstStyle/>
          <a:p>
            <a:pPr marL="0" indent="0" algn="l">
              <a:buNone/>
            </a:pPr>
            <a:r>
              <a:rPr lang="en-US" sz="1200" dirty="0">
                <a:solidFill>
                  <a:srgbClr val="2A2433"/>
                </a:solidFill>
                <a:latin typeface="Calibri" pitchFamily="34" charset="0"/>
                <a:ea typeface="Calibri" pitchFamily="34" charset="-122"/>
                <a:cs typeface="Calibri" pitchFamily="34" charset="-120"/>
              </a:rPr>
              <a:t>A GraphQL server answers the probe with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{"data":{"__typename":"Query"}}</a:t>
            </a:r>
            <a:r>
              <a:rPr lang="en-US" sz="1200" dirty="0">
                <a:solidFill>
                  <a:srgbClr val="2A2433"/>
                </a:solidFill>
                <a:latin typeface="Calibri" pitchFamily="34" charset="0"/>
                <a:ea typeface="Calibri" pitchFamily="34" charset="-122"/>
                <a:cs typeface="Calibri" pitchFamily="34" charset="-120"/>
              </a:rPr>
              <a:t>.</a:t>
            </a:r>
            <a:endParaRPr lang="en-US" sz="12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GraphQL: pros and cons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4000500" cy="320040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Pros</a:t>
            </a:r>
            <a:endParaRPr lang="en-US" sz="1500" dirty="0"/>
          </a:p>
        </p:txBody>
      </p:sp>
      <p:sp>
        <p:nvSpPr>
          <p:cNvPr id="10" name="Text 6"/>
          <p:cNvSpPr txBox="1"/>
          <p:nvPr/>
        </p:nvSpPr>
        <p:spPr>
          <a:xfrm>
            <a:off x="621792" y="2313813"/>
            <a:ext cx="3671316" cy="2121027"/>
          </a:xfrm>
          <a:prstGeom prst="rect">
            <a:avLst/>
          </a:prstGeom>
          <a:noFill/>
        </p:spPr>
        <p:txBody>
          <a:bodyPr wrap="square" lIns="0" tIns="0" rIns="0" bIns="0" rtlCol="0" anchor="t"/>
          <a:lstStyle/>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No over- or under-fetching</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One request can replace many REST calls</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Strongly typed, self-documenting schema</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Great tooling (GraphiQL, Playground)</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Evolve by deprecating fields</a:t>
            </a:r>
            <a:endParaRPr lang="en-US" sz="1400" dirty="0"/>
          </a:p>
        </p:txBody>
      </p:sp>
      <p:sp>
        <p:nvSpPr>
          <p:cNvPr id="11" name="Shape 7"/>
          <p:cNvSpPr/>
          <p:nvPr/>
        </p:nvSpPr>
        <p:spPr>
          <a:xfrm>
            <a:off x="4686300" y="1325880"/>
            <a:ext cx="4000500" cy="3200400"/>
          </a:xfrm>
          <a:prstGeom prst="rect">
            <a:avLst/>
          </a:prstGeom>
          <a:solidFill>
            <a:srgbClr val="FFFFFF"/>
          </a:solidFill>
          <a:ln w="9525">
            <a:solidFill>
              <a:srgbClr val="D6CCE6"/>
            </a:solidFill>
          </a:ln>
        </p:spPr>
      </p:sp>
      <p:sp>
        <p:nvSpPr>
          <p:cNvPr id="12" name="Shape 8"/>
          <p:cNvSpPr/>
          <p:nvPr/>
        </p:nvSpPr>
        <p:spPr>
          <a:xfrm>
            <a:off x="485089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4953762" y="1593342"/>
            <a:ext cx="205740" cy="205740"/>
          </a:xfrm>
          <a:prstGeom prst="rect">
            <a:avLst/>
          </a:prstGeom>
        </p:spPr>
      </p:pic>
      <p:sp>
        <p:nvSpPr>
          <p:cNvPr id="14" name="Text 9"/>
          <p:cNvSpPr txBox="1"/>
          <p:nvPr/>
        </p:nvSpPr>
        <p:spPr>
          <a:xfrm>
            <a:off x="4850892" y="1993392"/>
            <a:ext cx="367131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Cons</a:t>
            </a:r>
            <a:endParaRPr lang="en-US" sz="1500" dirty="0"/>
          </a:p>
        </p:txBody>
      </p:sp>
      <p:sp>
        <p:nvSpPr>
          <p:cNvPr id="15" name="Text 10"/>
          <p:cNvSpPr txBox="1"/>
          <p:nvPr/>
        </p:nvSpPr>
        <p:spPr>
          <a:xfrm>
            <a:off x="4850892" y="2313813"/>
            <a:ext cx="3671316" cy="2121027"/>
          </a:xfrm>
          <a:prstGeom prst="rect">
            <a:avLst/>
          </a:prstGeom>
          <a:noFill/>
        </p:spPr>
        <p:txBody>
          <a:bodyPr wrap="square" lIns="0" tIns="0" rIns="0" bIns="0" rtlCol="0" anchor="t"/>
          <a:lstStyle/>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Harder to cache (POST to one URL)</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Deeply nested or expensive queries</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Authorization needed at </a:t>
            </a:r>
            <a:r>
              <a:rPr lang="en-US" sz="1400" b="1" dirty="0">
                <a:solidFill>
                  <a:srgbClr val="2A2433"/>
                </a:solidFill>
                <a:latin typeface="Calibri" pitchFamily="34" charset="0"/>
                <a:ea typeface="Calibri" pitchFamily="34" charset="-122"/>
                <a:cs typeface="Calibri" pitchFamily="34" charset="-120"/>
              </a:rPr>
              <a:t>every</a:t>
            </a:r>
            <a:r>
              <a:rPr lang="en-US" sz="1400" dirty="0">
                <a:solidFill>
                  <a:srgbClr val="2A2433"/>
                </a:solidFill>
                <a:latin typeface="Calibri" pitchFamily="34" charset="0"/>
                <a:ea typeface="Calibri" pitchFamily="34" charset="-122"/>
                <a:cs typeface="Calibri" pitchFamily="34" charset="-120"/>
              </a:rPr>
              <a:t> field</a:t>
            </a:r>
            <a:endParaRPr lang="en-US" sz="1400" dirty="0"/>
          </a:p>
          <a:p>
            <a:pPr marL="0" indent="0" algn="l">
              <a:spcAft>
                <a:spcPts val="700"/>
              </a:spcAft>
              <a:buNone/>
            </a:pPr>
            <a:r>
              <a:rPr lang="en-US" sz="1400" dirty="0">
                <a:solidFill>
                  <a:srgbClr val="2A2433"/>
                </a:solidFill>
                <a:latin typeface="Calibri" pitchFamily="34" charset="0"/>
                <a:ea typeface="Calibri" pitchFamily="34" charset="-122"/>
                <a:cs typeface="Calibri" pitchFamily="34" charset="-120"/>
              </a:rPr>
              <a:t>Rate limiting and WAF rules map poorly</a:t>
            </a:r>
            <a:endParaRPr lang="en-US" sz="1400" dirty="0"/>
          </a:p>
          <a:p>
            <a:pPr marL="0" indent="0" algn="l">
              <a:buNone/>
            </a:pPr>
            <a:r>
              <a:rPr lang="en-US" sz="1400" dirty="0">
                <a:solidFill>
                  <a:srgbClr val="2A2433"/>
                </a:solidFill>
                <a:latin typeface="Calibri" pitchFamily="34" charset="0"/>
                <a:ea typeface="Calibri" pitchFamily="34" charset="-122"/>
                <a:cs typeface="Calibri" pitchFamily="34" charset="-120"/>
              </a:rPr>
              <a:t>Steeper learning curve</a:t>
            </a:r>
            <a:endParaRPr lang="en-US" sz="1400" dirty="0"/>
          </a:p>
        </p:txBody>
      </p:sp>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2.3 · GRAPHQL</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GraphQL: security-relevant notes</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457200" y="1325880"/>
            <a:ext cx="2621280" cy="1531620"/>
          </a:xfrm>
          <a:prstGeom prst="rect">
            <a:avLst/>
          </a:prstGeom>
          <a:solidFill>
            <a:srgbClr val="FFFFFF"/>
          </a:solidFill>
          <a:ln w="9525">
            <a:solidFill>
              <a:srgbClr val="D6CCE6"/>
            </a:solidFill>
          </a:ln>
        </p:spPr>
      </p:sp>
      <p:sp>
        <p:nvSpPr>
          <p:cNvPr id="7" name="Shape 4"/>
          <p:cNvSpPr/>
          <p:nvPr/>
        </p:nvSpPr>
        <p:spPr>
          <a:xfrm>
            <a:off x="621792" y="1490472"/>
            <a:ext cx="411480" cy="411480"/>
          </a:xfrm>
          <a:prstGeom prst="roundRect">
            <a:avLst>
              <a:gd name="adj" fmla="val 24000"/>
            </a:avLst>
          </a:prstGeom>
          <a:solidFill>
            <a:srgbClr val="6B35B5"/>
          </a:solidFill>
          <a:ln w="12700">
            <a:solidFill>
              <a:srgbClr val="6B35B5"/>
            </a:solidFill>
            <a:prstDash val="solid"/>
          </a:ln>
        </p:spPr>
      </p:sp>
      <p:pic>
        <p:nvPicPr>
          <p:cNvPr id="8" name="Image 0" descr="preencoded.png"/>
          <p:cNvPicPr>
            <a:picLocks noChangeAspect="1"/>
          </p:cNvPicPr>
          <p:nvPr/>
        </p:nvPicPr>
        <p:blipFill>
          <a:blip r:embed="rId1"/>
          <a:stretch>
            <a:fillRect/>
          </a:stretch>
        </p:blipFill>
        <p:spPr>
          <a:xfrm>
            <a:off x="724662" y="1593342"/>
            <a:ext cx="205740" cy="205740"/>
          </a:xfrm>
          <a:prstGeom prst="rect">
            <a:avLst/>
          </a:prstGeom>
        </p:spPr>
      </p:pic>
      <p:sp>
        <p:nvSpPr>
          <p:cNvPr id="9" name="Text 5"/>
          <p:cNvSpPr txBox="1"/>
          <p:nvPr/>
        </p:nvSpPr>
        <p:spPr>
          <a:xfrm>
            <a:off x="62179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Introspection on</a:t>
            </a:r>
            <a:endParaRPr lang="en-US" sz="1300" dirty="0"/>
          </a:p>
        </p:txBody>
      </p:sp>
      <p:sp>
        <p:nvSpPr>
          <p:cNvPr id="10" name="Text 6"/>
          <p:cNvSpPr txBox="1"/>
          <p:nvPr/>
        </p:nvSpPr>
        <p:spPr>
          <a:xfrm>
            <a:off x="621792" y="22820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Full schema exposed; suggestions leak names even when off</a:t>
            </a:r>
            <a:endParaRPr lang="en-US" sz="1100" dirty="0"/>
          </a:p>
        </p:txBody>
      </p:sp>
      <p:sp>
        <p:nvSpPr>
          <p:cNvPr id="11" name="Shape 7"/>
          <p:cNvSpPr/>
          <p:nvPr/>
        </p:nvSpPr>
        <p:spPr>
          <a:xfrm>
            <a:off x="3261360" y="1325880"/>
            <a:ext cx="2621280" cy="1531620"/>
          </a:xfrm>
          <a:prstGeom prst="rect">
            <a:avLst/>
          </a:prstGeom>
          <a:solidFill>
            <a:srgbClr val="FFFFFF"/>
          </a:solidFill>
          <a:ln w="9525">
            <a:solidFill>
              <a:srgbClr val="D6CCE6"/>
            </a:solidFill>
          </a:ln>
        </p:spPr>
      </p:sp>
      <p:sp>
        <p:nvSpPr>
          <p:cNvPr id="12" name="Shape 8"/>
          <p:cNvSpPr/>
          <p:nvPr/>
        </p:nvSpPr>
        <p:spPr>
          <a:xfrm>
            <a:off x="3425952" y="1490472"/>
            <a:ext cx="411480" cy="411480"/>
          </a:xfrm>
          <a:prstGeom prst="roundRect">
            <a:avLst>
              <a:gd name="adj" fmla="val 24000"/>
            </a:avLst>
          </a:prstGeom>
          <a:solidFill>
            <a:srgbClr val="6B35B5"/>
          </a:solidFill>
          <a:ln w="12700">
            <a:solidFill>
              <a:srgbClr val="6B35B5"/>
            </a:solidFill>
            <a:prstDash val="solid"/>
          </a:ln>
        </p:spPr>
      </p:sp>
      <p:pic>
        <p:nvPicPr>
          <p:cNvPr id="13" name="Image 1" descr="preencoded.png"/>
          <p:cNvPicPr>
            <a:picLocks noChangeAspect="1"/>
          </p:cNvPicPr>
          <p:nvPr/>
        </p:nvPicPr>
        <p:blipFill>
          <a:blip r:embed="rId2"/>
          <a:stretch>
            <a:fillRect/>
          </a:stretch>
        </p:blipFill>
        <p:spPr>
          <a:xfrm>
            <a:off x="3528822" y="1593342"/>
            <a:ext cx="205740" cy="205740"/>
          </a:xfrm>
          <a:prstGeom prst="rect">
            <a:avLst/>
          </a:prstGeom>
        </p:spPr>
      </p:pic>
      <p:sp>
        <p:nvSpPr>
          <p:cNvPr id="14" name="Text 9"/>
          <p:cNvSpPr txBox="1"/>
          <p:nvPr/>
        </p:nvSpPr>
        <p:spPr>
          <a:xfrm>
            <a:off x="342595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Per-field authorization</a:t>
            </a:r>
            <a:endParaRPr lang="en-US" sz="1300" dirty="0"/>
          </a:p>
        </p:txBody>
      </p:sp>
      <p:sp>
        <p:nvSpPr>
          <p:cNvPr id="15" name="Text 10"/>
          <p:cNvSpPr txBox="1"/>
          <p:nvPr/>
        </p:nvSpPr>
        <p:spPr>
          <a:xfrm>
            <a:off x="3425952" y="22820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A forgotten field like </a:t>
            </a:r>
            <a:r>
              <a:rPr lang="en-US" sz="10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passwordHash</a:t>
            </a:r>
            <a:r>
              <a:rPr lang="en-US" sz="1100" dirty="0">
                <a:solidFill>
                  <a:srgbClr val="2A2433"/>
                </a:solidFill>
                <a:latin typeface="Calibri" pitchFamily="34" charset="0"/>
                <a:ea typeface="Calibri" pitchFamily="34" charset="-122"/>
                <a:cs typeface="Calibri" pitchFamily="34" charset="-120"/>
              </a:rPr>
              <a:t> may work; BOLA via arguments</a:t>
            </a:r>
            <a:endParaRPr lang="en-US" sz="1100" dirty="0"/>
          </a:p>
        </p:txBody>
      </p:sp>
      <p:sp>
        <p:nvSpPr>
          <p:cNvPr id="16" name="Shape 11"/>
          <p:cNvSpPr/>
          <p:nvPr/>
        </p:nvSpPr>
        <p:spPr>
          <a:xfrm>
            <a:off x="6065520" y="1325880"/>
            <a:ext cx="2621280" cy="1531620"/>
          </a:xfrm>
          <a:prstGeom prst="rect">
            <a:avLst/>
          </a:prstGeom>
          <a:solidFill>
            <a:srgbClr val="FFFFFF"/>
          </a:solidFill>
          <a:ln w="9525">
            <a:solidFill>
              <a:srgbClr val="D6CCE6"/>
            </a:solidFill>
          </a:ln>
        </p:spPr>
      </p:sp>
      <p:sp>
        <p:nvSpPr>
          <p:cNvPr id="17" name="Shape 12"/>
          <p:cNvSpPr/>
          <p:nvPr/>
        </p:nvSpPr>
        <p:spPr>
          <a:xfrm>
            <a:off x="6230112" y="1490472"/>
            <a:ext cx="411480" cy="411480"/>
          </a:xfrm>
          <a:prstGeom prst="roundRect">
            <a:avLst>
              <a:gd name="adj" fmla="val 24000"/>
            </a:avLst>
          </a:prstGeom>
          <a:solidFill>
            <a:srgbClr val="6B35B5"/>
          </a:solidFill>
          <a:ln w="12700">
            <a:solidFill>
              <a:srgbClr val="6B35B5"/>
            </a:solidFill>
            <a:prstDash val="solid"/>
          </a:ln>
        </p:spPr>
      </p:sp>
      <p:pic>
        <p:nvPicPr>
          <p:cNvPr id="18" name="Image 2" descr="preencoded.png"/>
          <p:cNvPicPr>
            <a:picLocks noChangeAspect="1"/>
          </p:cNvPicPr>
          <p:nvPr/>
        </p:nvPicPr>
        <p:blipFill>
          <a:blip r:embed="rId3"/>
          <a:stretch>
            <a:fillRect/>
          </a:stretch>
        </p:blipFill>
        <p:spPr>
          <a:xfrm>
            <a:off x="6332982" y="1593342"/>
            <a:ext cx="205740" cy="205740"/>
          </a:xfrm>
          <a:prstGeom prst="rect">
            <a:avLst/>
          </a:prstGeom>
        </p:spPr>
      </p:pic>
      <p:sp>
        <p:nvSpPr>
          <p:cNvPr id="19" name="Text 13"/>
          <p:cNvSpPr txBox="1"/>
          <p:nvPr/>
        </p:nvSpPr>
        <p:spPr>
          <a:xfrm>
            <a:off x="6230112" y="19933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Aliases and batching</a:t>
            </a:r>
            <a:endParaRPr lang="en-US" sz="1300" dirty="0"/>
          </a:p>
        </p:txBody>
      </p:sp>
      <p:sp>
        <p:nvSpPr>
          <p:cNvPr id="20" name="Text 14"/>
          <p:cNvSpPr txBox="1"/>
          <p:nvPr/>
        </p:nvSpPr>
        <p:spPr>
          <a:xfrm>
            <a:off x="6230112" y="22820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Hundreds of operations in one request beat naive rate limits</a:t>
            </a:r>
            <a:endParaRPr lang="en-US" sz="1100" dirty="0"/>
          </a:p>
        </p:txBody>
      </p:sp>
      <p:sp>
        <p:nvSpPr>
          <p:cNvPr id="21" name="Shape 15"/>
          <p:cNvSpPr/>
          <p:nvPr/>
        </p:nvSpPr>
        <p:spPr>
          <a:xfrm>
            <a:off x="457200" y="3040380"/>
            <a:ext cx="2621280" cy="1531620"/>
          </a:xfrm>
          <a:prstGeom prst="rect">
            <a:avLst/>
          </a:prstGeom>
          <a:solidFill>
            <a:srgbClr val="FFFFFF"/>
          </a:solidFill>
          <a:ln w="9525">
            <a:solidFill>
              <a:srgbClr val="D6CCE6"/>
            </a:solidFill>
          </a:ln>
        </p:spPr>
      </p:sp>
      <p:sp>
        <p:nvSpPr>
          <p:cNvPr id="22" name="Shape 16"/>
          <p:cNvSpPr/>
          <p:nvPr/>
        </p:nvSpPr>
        <p:spPr>
          <a:xfrm>
            <a:off x="621792" y="3204972"/>
            <a:ext cx="411480" cy="411480"/>
          </a:xfrm>
          <a:prstGeom prst="roundRect">
            <a:avLst>
              <a:gd name="adj" fmla="val 24000"/>
            </a:avLst>
          </a:prstGeom>
          <a:solidFill>
            <a:srgbClr val="6B35B5"/>
          </a:solidFill>
          <a:ln w="12700">
            <a:solidFill>
              <a:srgbClr val="6B35B5"/>
            </a:solidFill>
            <a:prstDash val="solid"/>
          </a:ln>
        </p:spPr>
      </p:sp>
      <p:pic>
        <p:nvPicPr>
          <p:cNvPr id="23" name="Image 3" descr="preencoded.png"/>
          <p:cNvPicPr>
            <a:picLocks noChangeAspect="1"/>
          </p:cNvPicPr>
          <p:nvPr/>
        </p:nvPicPr>
        <p:blipFill>
          <a:blip r:embed="rId4"/>
          <a:stretch>
            <a:fillRect/>
          </a:stretch>
        </p:blipFill>
        <p:spPr>
          <a:xfrm>
            <a:off x="724662" y="3307842"/>
            <a:ext cx="205740" cy="205740"/>
          </a:xfrm>
          <a:prstGeom prst="rect">
            <a:avLst/>
          </a:prstGeom>
        </p:spPr>
      </p:pic>
      <p:sp>
        <p:nvSpPr>
          <p:cNvPr id="24" name="Text 17"/>
          <p:cNvSpPr txBox="1"/>
          <p:nvPr/>
        </p:nvSpPr>
        <p:spPr>
          <a:xfrm>
            <a:off x="62179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Nested queries</a:t>
            </a:r>
            <a:endParaRPr lang="en-US" sz="1300" dirty="0"/>
          </a:p>
        </p:txBody>
      </p:sp>
      <p:sp>
        <p:nvSpPr>
          <p:cNvPr id="25" name="Text 18"/>
          <p:cNvSpPr txBox="1"/>
          <p:nvPr/>
        </p:nvSpPr>
        <p:spPr>
          <a:xfrm>
            <a:off x="621792" y="39965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user &gt; orders &gt; user &gt; orders... exhausts resources without depth limits</a:t>
            </a:r>
            <a:endParaRPr lang="en-US" sz="1100" dirty="0"/>
          </a:p>
        </p:txBody>
      </p:sp>
      <p:sp>
        <p:nvSpPr>
          <p:cNvPr id="26" name="Shape 19"/>
          <p:cNvSpPr/>
          <p:nvPr/>
        </p:nvSpPr>
        <p:spPr>
          <a:xfrm>
            <a:off x="3261360" y="3040380"/>
            <a:ext cx="2621280" cy="1531620"/>
          </a:xfrm>
          <a:prstGeom prst="rect">
            <a:avLst/>
          </a:prstGeom>
          <a:solidFill>
            <a:srgbClr val="FFFFFF"/>
          </a:solidFill>
          <a:ln w="9525">
            <a:solidFill>
              <a:srgbClr val="D6CCE6"/>
            </a:solidFill>
          </a:ln>
        </p:spPr>
      </p:sp>
      <p:sp>
        <p:nvSpPr>
          <p:cNvPr id="27" name="Shape 20"/>
          <p:cNvSpPr/>
          <p:nvPr/>
        </p:nvSpPr>
        <p:spPr>
          <a:xfrm>
            <a:off x="3425952" y="3204972"/>
            <a:ext cx="411480" cy="411480"/>
          </a:xfrm>
          <a:prstGeom prst="roundRect">
            <a:avLst>
              <a:gd name="adj" fmla="val 24000"/>
            </a:avLst>
          </a:prstGeom>
          <a:solidFill>
            <a:srgbClr val="6B35B5"/>
          </a:solidFill>
          <a:ln w="12700">
            <a:solidFill>
              <a:srgbClr val="6B35B5"/>
            </a:solidFill>
            <a:prstDash val="solid"/>
          </a:ln>
        </p:spPr>
      </p:sp>
      <p:pic>
        <p:nvPicPr>
          <p:cNvPr id="28" name="Image 4" descr="preencoded.png"/>
          <p:cNvPicPr>
            <a:picLocks noChangeAspect="1"/>
          </p:cNvPicPr>
          <p:nvPr/>
        </p:nvPicPr>
        <p:blipFill>
          <a:blip r:embed="rId5"/>
          <a:stretch>
            <a:fillRect/>
          </a:stretch>
        </p:blipFill>
        <p:spPr>
          <a:xfrm>
            <a:off x="3528822" y="3307842"/>
            <a:ext cx="205740" cy="205740"/>
          </a:xfrm>
          <a:prstGeom prst="rect">
            <a:avLst/>
          </a:prstGeom>
        </p:spPr>
      </p:pic>
      <p:sp>
        <p:nvSpPr>
          <p:cNvPr id="29" name="Text 21"/>
          <p:cNvSpPr txBox="1"/>
          <p:nvPr/>
        </p:nvSpPr>
        <p:spPr>
          <a:xfrm>
            <a:off x="342595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Injection</a:t>
            </a:r>
            <a:endParaRPr lang="en-US" sz="1300" dirty="0"/>
          </a:p>
        </p:txBody>
      </p:sp>
      <p:sp>
        <p:nvSpPr>
          <p:cNvPr id="30" name="Text 22"/>
          <p:cNvSpPr txBox="1"/>
          <p:nvPr/>
        </p:nvSpPr>
        <p:spPr>
          <a:xfrm>
            <a:off x="3425952" y="39965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SQLi/NoSQLi in arguments if resolvers build queries unsafely</a:t>
            </a:r>
            <a:endParaRPr lang="en-US" sz="1100" dirty="0"/>
          </a:p>
        </p:txBody>
      </p:sp>
      <p:sp>
        <p:nvSpPr>
          <p:cNvPr id="31" name="Shape 23"/>
          <p:cNvSpPr/>
          <p:nvPr/>
        </p:nvSpPr>
        <p:spPr>
          <a:xfrm>
            <a:off x="6065520" y="3040380"/>
            <a:ext cx="2621280" cy="1531620"/>
          </a:xfrm>
          <a:prstGeom prst="rect">
            <a:avLst/>
          </a:prstGeom>
          <a:solidFill>
            <a:srgbClr val="FFFFFF"/>
          </a:solidFill>
          <a:ln w="9525">
            <a:solidFill>
              <a:srgbClr val="D6CCE6"/>
            </a:solidFill>
          </a:ln>
        </p:spPr>
      </p:sp>
      <p:sp>
        <p:nvSpPr>
          <p:cNvPr id="32" name="Shape 24"/>
          <p:cNvSpPr/>
          <p:nvPr/>
        </p:nvSpPr>
        <p:spPr>
          <a:xfrm>
            <a:off x="6230112" y="3204972"/>
            <a:ext cx="411480" cy="411480"/>
          </a:xfrm>
          <a:prstGeom prst="roundRect">
            <a:avLst>
              <a:gd name="adj" fmla="val 24000"/>
            </a:avLst>
          </a:prstGeom>
          <a:solidFill>
            <a:srgbClr val="6B35B5"/>
          </a:solidFill>
          <a:ln w="12700">
            <a:solidFill>
              <a:srgbClr val="6B35B5"/>
            </a:solidFill>
            <a:prstDash val="solid"/>
          </a:ln>
        </p:spPr>
      </p:sp>
      <p:pic>
        <p:nvPicPr>
          <p:cNvPr id="33" name="Image 5" descr="preencoded.png"/>
          <p:cNvPicPr>
            <a:picLocks noChangeAspect="1"/>
          </p:cNvPicPr>
          <p:nvPr/>
        </p:nvPicPr>
        <p:blipFill>
          <a:blip r:embed="rId6"/>
          <a:stretch>
            <a:fillRect/>
          </a:stretch>
        </p:blipFill>
        <p:spPr>
          <a:xfrm>
            <a:off x="6332982" y="3307842"/>
            <a:ext cx="205740" cy="205740"/>
          </a:xfrm>
          <a:prstGeom prst="rect">
            <a:avLst/>
          </a:prstGeom>
        </p:spPr>
      </p:pic>
      <p:sp>
        <p:nvSpPr>
          <p:cNvPr id="34" name="Text 25"/>
          <p:cNvSpPr txBox="1"/>
          <p:nvPr/>
        </p:nvSpPr>
        <p:spPr>
          <a:xfrm>
            <a:off x="6230112" y="3707892"/>
            <a:ext cx="2292096" cy="242951"/>
          </a:xfrm>
          <a:prstGeom prst="rect">
            <a:avLst/>
          </a:prstGeom>
          <a:noFill/>
        </p:spPr>
        <p:txBody>
          <a:bodyPr wrap="square" lIns="0" tIns="0" rIns="0" bIns="0" rtlCol="0" anchor="t"/>
          <a:lstStyle/>
          <a:p>
            <a:pPr marL="0" indent="0">
              <a:buNone/>
            </a:pPr>
            <a:r>
              <a:rPr lang="en-US" sz="1300" b="1" dirty="0">
                <a:solidFill>
                  <a:srgbClr val="2B1B3F"/>
                </a:solidFill>
                <a:latin typeface="Calibri" pitchFamily="34" charset="0"/>
                <a:ea typeface="Calibri" pitchFamily="34" charset="-122"/>
                <a:cs typeface="Calibri" pitchFamily="34" charset="-120"/>
              </a:rPr>
              <a:t>Errors and CSRF</a:t>
            </a:r>
            <a:endParaRPr lang="en-US" sz="1300" dirty="0"/>
          </a:p>
        </p:txBody>
      </p:sp>
      <p:sp>
        <p:nvSpPr>
          <p:cNvPr id="35" name="Text 26"/>
          <p:cNvSpPr txBox="1"/>
          <p:nvPr/>
        </p:nvSpPr>
        <p:spPr>
          <a:xfrm>
            <a:off x="6230112" y="3996563"/>
            <a:ext cx="2292096" cy="483997"/>
          </a:xfrm>
          <a:prstGeom prst="rect">
            <a:avLst/>
          </a:prstGeom>
          <a:noFill/>
        </p:spPr>
        <p:txBody>
          <a:bodyPr wrap="square" lIns="0" tIns="0" rIns="0" bIns="0" rtlCol="0" anchor="t"/>
          <a:lstStyle/>
          <a:p>
            <a:pPr marL="0" indent="0" algn="l">
              <a:buNone/>
            </a:pPr>
            <a:r>
              <a:rPr lang="en-US" sz="1100" dirty="0">
                <a:solidFill>
                  <a:srgbClr val="2A2433"/>
                </a:solidFill>
                <a:latin typeface="Calibri" pitchFamily="34" charset="0"/>
                <a:ea typeface="Calibri" pitchFamily="34" charset="-122"/>
                <a:cs typeface="Calibri" pitchFamily="34" charset="-120"/>
              </a:rPr>
              <a:t>Stack traces leak; GET or form mutations enable CSRF</a:t>
            </a:r>
            <a:endParaRPr lang="en-US" sz="11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2B1B3F"/>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4572000" cy="457200"/>
          </a:xfrm>
          <a:prstGeom prst="rect">
            <a:avLst/>
          </a:prstGeom>
          <a:noFill/>
        </p:spPr>
        <p:txBody>
          <a:bodyPr wrap="square" lIns="0" tIns="0" rIns="0" bIns="0" rtlCol="0" anchor="ctr"/>
          <a:lstStyle/>
          <a:p>
            <a:pPr marL="0" indent="0">
              <a:buNone/>
            </a:pPr>
            <a:r>
              <a:rPr lang="en-US" sz="1600" b="1" kern="0" spc="400" dirty="0">
                <a:solidFill>
                  <a:srgbClr val="F2705A"/>
                </a:solidFill>
                <a:latin typeface="Calibri" pitchFamily="34" charset="0"/>
                <a:ea typeface="Calibri" pitchFamily="34" charset="-122"/>
                <a:cs typeface="Calibri" pitchFamily="34" charset="-120"/>
              </a:rPr>
              <a:t>PART 3</a:t>
            </a:r>
            <a:endParaRPr lang="en-US" sz="1600" dirty="0"/>
          </a:p>
        </p:txBody>
      </p:sp>
      <p:sp>
        <p:nvSpPr>
          <p:cNvPr id="3" name="Text 1"/>
          <p:cNvSpPr txBox="1"/>
          <p:nvPr/>
        </p:nvSpPr>
        <p:spPr>
          <a:xfrm>
            <a:off x="640080" y="1600200"/>
            <a:ext cx="7498080" cy="1005840"/>
          </a:xfrm>
          <a:prstGeom prst="rect">
            <a:avLst/>
          </a:prstGeom>
          <a:noFill/>
        </p:spPr>
        <p:txBody>
          <a:bodyPr wrap="square" lIns="0" tIns="0" rIns="0" bIns="0" rtlCol="0" anchor="t"/>
          <a:lstStyle/>
          <a:p>
            <a:pPr marL="0" indent="0">
              <a:buNone/>
            </a:pPr>
            <a:r>
              <a:rPr lang="en-US" sz="4200" b="1" dirty="0">
                <a:solidFill>
                  <a:srgbClr val="FFFFFF"/>
                </a:solidFill>
                <a:latin typeface="Arial" pitchFamily="34" charset="0"/>
                <a:ea typeface="Arial" pitchFamily="34" charset="-122"/>
                <a:cs typeface="Arial" pitchFamily="34" charset="-120"/>
              </a:rPr>
              <a:t>OWASP API Security Top 10</a:t>
            </a:r>
            <a:endParaRPr lang="en-US" sz="4200" dirty="0"/>
          </a:p>
        </p:txBody>
      </p:sp>
      <p:sp>
        <p:nvSpPr>
          <p:cNvPr id="4" name="Text 2"/>
          <p:cNvSpPr txBox="1"/>
          <p:nvPr/>
        </p:nvSpPr>
        <p:spPr>
          <a:xfrm>
            <a:off x="640080" y="2743200"/>
            <a:ext cx="6949440" cy="1005840"/>
          </a:xfrm>
          <a:prstGeom prst="rect">
            <a:avLst/>
          </a:prstGeom>
          <a:noFill/>
        </p:spPr>
        <p:txBody>
          <a:bodyPr wrap="square" lIns="0" tIns="0" rIns="0" bIns="0" rtlCol="0" anchor="t"/>
          <a:lstStyle/>
          <a:p>
            <a:pPr marL="0" indent="0">
              <a:buNone/>
            </a:pPr>
            <a:r>
              <a:rPr lang="en-US" sz="1800" dirty="0">
                <a:solidFill>
                  <a:srgbClr val="D9CCF2"/>
                </a:solidFill>
                <a:latin typeface="Calibri" pitchFamily="34" charset="0"/>
                <a:ea typeface="Calibri" pitchFamily="34" charset="-122"/>
                <a:cs typeface="Calibri" pitchFamily="34" charset="-120"/>
              </a:rPr>
              <a:t>Where APIs break, in ten categories. The 2023 edition.</a:t>
            </a:r>
            <a:endParaRPr lang="en-US" sz="1800" dirty="0"/>
          </a:p>
        </p:txBody>
      </p:sp>
      <p:sp>
        <p:nvSpPr>
          <p:cNvPr id="5" name="Text 3"/>
          <p:cNvSpPr txBox="1"/>
          <p:nvPr/>
        </p:nvSpPr>
        <p:spPr>
          <a:xfrm>
            <a:off x="640080" y="4206240"/>
            <a:ext cx="5486400" cy="320040"/>
          </a:xfrm>
          <a:prstGeom prst="rect">
            <a:avLst/>
          </a:prstGeom>
          <a:noFill/>
        </p:spPr>
        <p:txBody>
          <a:bodyPr wrap="square" lIns="0" tIns="0" rIns="0" bIns="0" rtlCol="0" anchor="ctr"/>
          <a:lstStyle/>
          <a:p>
            <a:pPr marL="0" indent="0">
              <a:buNone/>
            </a:pPr>
            <a:r>
              <a:rPr lang="en-US" sz="1200" dirty="0">
                <a:solidFill>
                  <a:srgbClr val="A99BC6"/>
                </a:solidFill>
                <a:latin typeface="Calibri" pitchFamily="34" charset="0"/>
                <a:ea typeface="Calibri" pitchFamily="34" charset="-122"/>
                <a:cs typeface="Calibri" pitchFamily="34" charset="-120"/>
              </a:rPr>
              <a:t>About 10 minutes for the overview</a:t>
            </a:r>
            <a:endParaRPr lang="en-US" sz="1200" dirty="0"/>
          </a:p>
        </p:txBody>
      </p:sp>
      <p:sp>
        <p:nvSpPr>
          <p:cNvPr id="6" name="Deco 0"/>
          <p:cNvSpPr/>
          <p:nvPr/>
        </p:nvSpPr>
        <p:spPr>
          <a:xfrm>
            <a:off x="6784848" y="411480"/>
            <a:ext cx="146304" cy="146304"/>
          </a:xfrm>
          <a:prstGeom prst="rect">
            <a:avLst/>
          </a:prstGeom>
          <a:solidFill>
            <a:srgbClr val="F2705A"/>
          </a:solidFill>
          <a:ln>
            <a:noFill/>
          </a:ln>
        </p:spPr>
      </p:sp>
      <p:sp>
        <p:nvSpPr>
          <p:cNvPr id="7" name="Deco 1"/>
          <p:cNvSpPr/>
          <p:nvPr/>
        </p:nvSpPr>
        <p:spPr>
          <a:xfrm>
            <a:off x="7022592" y="411480"/>
            <a:ext cx="146304" cy="146304"/>
          </a:xfrm>
          <a:prstGeom prst="rect">
            <a:avLst/>
          </a:prstGeom>
          <a:solidFill>
            <a:srgbClr val="FFFFFF">
              <a:alpha val="14000"/>
            </a:srgbClr>
          </a:solidFill>
          <a:ln>
            <a:noFill/>
          </a:ln>
        </p:spPr>
      </p:sp>
      <p:sp>
        <p:nvSpPr>
          <p:cNvPr id="8" name="Deco 2"/>
          <p:cNvSpPr/>
          <p:nvPr/>
        </p:nvSpPr>
        <p:spPr>
          <a:xfrm>
            <a:off x="7260336" y="411480"/>
            <a:ext cx="146304" cy="146304"/>
          </a:xfrm>
          <a:prstGeom prst="rect">
            <a:avLst/>
          </a:prstGeom>
          <a:solidFill>
            <a:srgbClr val="FFFFFF">
              <a:alpha val="14000"/>
            </a:srgbClr>
          </a:solidFill>
          <a:ln>
            <a:noFill/>
          </a:ln>
        </p:spPr>
      </p:sp>
      <p:sp>
        <p:nvSpPr>
          <p:cNvPr id="9" name="Deco 3"/>
          <p:cNvSpPr/>
          <p:nvPr/>
        </p:nvSpPr>
        <p:spPr>
          <a:xfrm>
            <a:off x="7498080" y="411480"/>
            <a:ext cx="146304" cy="146304"/>
          </a:xfrm>
          <a:prstGeom prst="rect">
            <a:avLst/>
          </a:prstGeom>
          <a:solidFill>
            <a:srgbClr val="FFFFFF">
              <a:alpha val="14000"/>
            </a:srgbClr>
          </a:solidFill>
          <a:ln>
            <a:noFill/>
          </a:ln>
        </p:spPr>
      </p:sp>
      <p:sp>
        <p:nvSpPr>
          <p:cNvPr id="10" name="Deco 4"/>
          <p:cNvSpPr/>
          <p:nvPr/>
        </p:nvSpPr>
        <p:spPr>
          <a:xfrm>
            <a:off x="7735824" y="411480"/>
            <a:ext cx="146304" cy="146304"/>
          </a:xfrm>
          <a:prstGeom prst="rect">
            <a:avLst/>
          </a:prstGeom>
          <a:solidFill>
            <a:srgbClr val="9C7AD6">
              <a:alpha val="70000"/>
            </a:srgbClr>
          </a:solidFill>
          <a:ln>
            <a:noFill/>
          </a:ln>
        </p:spPr>
      </p:sp>
      <p:sp>
        <p:nvSpPr>
          <p:cNvPr id="11" name="Deco 5"/>
          <p:cNvSpPr/>
          <p:nvPr/>
        </p:nvSpPr>
        <p:spPr>
          <a:xfrm>
            <a:off x="7973568" y="411480"/>
            <a:ext cx="146304" cy="146304"/>
          </a:xfrm>
          <a:prstGeom prst="rect">
            <a:avLst/>
          </a:prstGeom>
          <a:solidFill>
            <a:srgbClr val="F2705A"/>
          </a:solidFill>
          <a:ln>
            <a:noFill/>
          </a:ln>
        </p:spPr>
      </p:sp>
      <p:sp>
        <p:nvSpPr>
          <p:cNvPr id="12" name="Deco 6"/>
          <p:cNvSpPr/>
          <p:nvPr/>
        </p:nvSpPr>
        <p:spPr>
          <a:xfrm>
            <a:off x="8211312" y="411480"/>
            <a:ext cx="146304" cy="146304"/>
          </a:xfrm>
          <a:prstGeom prst="rect">
            <a:avLst/>
          </a:prstGeom>
          <a:solidFill>
            <a:srgbClr val="FFFFFF">
              <a:alpha val="14000"/>
            </a:srgbClr>
          </a:solidFill>
          <a:ln>
            <a:noFill/>
          </a:ln>
        </p:spPr>
      </p:sp>
      <p:sp>
        <p:nvSpPr>
          <p:cNvPr id="13" name="Deco 7"/>
          <p:cNvSpPr/>
          <p:nvPr/>
        </p:nvSpPr>
        <p:spPr>
          <a:xfrm>
            <a:off x="8449056" y="411480"/>
            <a:ext cx="146304" cy="146304"/>
          </a:xfrm>
          <a:prstGeom prst="rect">
            <a:avLst/>
          </a:prstGeom>
          <a:solidFill>
            <a:srgbClr val="FFFFFF">
              <a:alpha val="14000"/>
            </a:srgbClr>
          </a:solidFill>
          <a:ln>
            <a:noFill/>
          </a:ln>
        </p:spPr>
      </p:sp>
      <p:sp>
        <p:nvSpPr>
          <p:cNvPr id="14" name="Deco 8"/>
          <p:cNvSpPr/>
          <p:nvPr/>
        </p:nvSpPr>
        <p:spPr>
          <a:xfrm>
            <a:off x="6784848" y="649224"/>
            <a:ext cx="146304" cy="146304"/>
          </a:xfrm>
          <a:prstGeom prst="rect">
            <a:avLst/>
          </a:prstGeom>
          <a:solidFill>
            <a:srgbClr val="FFFFFF">
              <a:alpha val="14000"/>
            </a:srgbClr>
          </a:solidFill>
          <a:ln>
            <a:noFill/>
          </a:ln>
        </p:spPr>
      </p:sp>
      <p:sp>
        <p:nvSpPr>
          <p:cNvPr id="15" name="Deco 9"/>
          <p:cNvSpPr/>
          <p:nvPr/>
        </p:nvSpPr>
        <p:spPr>
          <a:xfrm>
            <a:off x="7022592" y="649224"/>
            <a:ext cx="146304" cy="146304"/>
          </a:xfrm>
          <a:prstGeom prst="rect">
            <a:avLst/>
          </a:prstGeom>
          <a:solidFill>
            <a:srgbClr val="9C7AD6">
              <a:alpha val="70000"/>
            </a:srgbClr>
          </a:solidFill>
          <a:ln>
            <a:noFill/>
          </a:ln>
        </p:spPr>
      </p:sp>
      <p:sp>
        <p:nvSpPr>
          <p:cNvPr id="16" name="Deco 10"/>
          <p:cNvSpPr/>
          <p:nvPr/>
        </p:nvSpPr>
        <p:spPr>
          <a:xfrm>
            <a:off x="7260336" y="649224"/>
            <a:ext cx="146304" cy="146304"/>
          </a:xfrm>
          <a:prstGeom prst="rect">
            <a:avLst/>
          </a:prstGeom>
          <a:solidFill>
            <a:srgbClr val="FFFFFF">
              <a:alpha val="14000"/>
            </a:srgbClr>
          </a:solidFill>
          <a:ln>
            <a:noFill/>
          </a:ln>
        </p:spPr>
      </p:sp>
      <p:sp>
        <p:nvSpPr>
          <p:cNvPr id="17" name="Deco 11"/>
          <p:cNvSpPr/>
          <p:nvPr/>
        </p:nvSpPr>
        <p:spPr>
          <a:xfrm>
            <a:off x="7498080" y="649224"/>
            <a:ext cx="146304" cy="146304"/>
          </a:xfrm>
          <a:prstGeom prst="rect">
            <a:avLst/>
          </a:prstGeom>
          <a:solidFill>
            <a:srgbClr val="FFFFFF">
              <a:alpha val="14000"/>
            </a:srgbClr>
          </a:solidFill>
          <a:ln>
            <a:noFill/>
          </a:ln>
        </p:spPr>
      </p:sp>
      <p:sp>
        <p:nvSpPr>
          <p:cNvPr id="18" name="Deco 12"/>
          <p:cNvSpPr/>
          <p:nvPr/>
        </p:nvSpPr>
        <p:spPr>
          <a:xfrm>
            <a:off x="7735824" y="649224"/>
            <a:ext cx="146304" cy="146304"/>
          </a:xfrm>
          <a:prstGeom prst="rect">
            <a:avLst/>
          </a:prstGeom>
          <a:solidFill>
            <a:srgbClr val="F2705A"/>
          </a:solidFill>
          <a:ln>
            <a:noFill/>
          </a:ln>
        </p:spPr>
      </p:sp>
      <p:sp>
        <p:nvSpPr>
          <p:cNvPr id="19" name="Deco 13"/>
          <p:cNvSpPr/>
          <p:nvPr/>
        </p:nvSpPr>
        <p:spPr>
          <a:xfrm>
            <a:off x="7973568" y="649224"/>
            <a:ext cx="146304" cy="146304"/>
          </a:xfrm>
          <a:prstGeom prst="rect">
            <a:avLst/>
          </a:prstGeom>
          <a:solidFill>
            <a:srgbClr val="9C7AD6">
              <a:alpha val="70000"/>
            </a:srgbClr>
          </a:solidFill>
          <a:ln>
            <a:noFill/>
          </a:ln>
        </p:spPr>
      </p:sp>
      <p:sp>
        <p:nvSpPr>
          <p:cNvPr id="20" name="Deco 14"/>
          <p:cNvSpPr/>
          <p:nvPr/>
        </p:nvSpPr>
        <p:spPr>
          <a:xfrm>
            <a:off x="8211312" y="649224"/>
            <a:ext cx="146304" cy="146304"/>
          </a:xfrm>
          <a:prstGeom prst="rect">
            <a:avLst/>
          </a:prstGeom>
          <a:solidFill>
            <a:srgbClr val="FFFFFF">
              <a:alpha val="14000"/>
            </a:srgbClr>
          </a:solidFill>
          <a:ln>
            <a:noFill/>
          </a:ln>
        </p:spPr>
      </p:sp>
      <p:sp>
        <p:nvSpPr>
          <p:cNvPr id="21" name="Deco 15"/>
          <p:cNvSpPr/>
          <p:nvPr/>
        </p:nvSpPr>
        <p:spPr>
          <a:xfrm>
            <a:off x="8449056" y="649224"/>
            <a:ext cx="146304" cy="146304"/>
          </a:xfrm>
          <a:prstGeom prst="rect">
            <a:avLst/>
          </a:prstGeom>
          <a:solidFill>
            <a:srgbClr val="FFFFFF">
              <a:alpha val="14000"/>
            </a:srgbClr>
          </a:solidFill>
          <a:ln>
            <a:noFill/>
          </a:ln>
        </p:spPr>
      </p:sp>
      <p:sp>
        <p:nvSpPr>
          <p:cNvPr id="22" name="Deco 16"/>
          <p:cNvSpPr/>
          <p:nvPr/>
        </p:nvSpPr>
        <p:spPr>
          <a:xfrm>
            <a:off x="6784848" y="886968"/>
            <a:ext cx="146304" cy="146304"/>
          </a:xfrm>
          <a:prstGeom prst="rect">
            <a:avLst/>
          </a:prstGeom>
          <a:solidFill>
            <a:srgbClr val="FFFFFF">
              <a:alpha val="14000"/>
            </a:srgbClr>
          </a:solidFill>
          <a:ln>
            <a:noFill/>
          </a:ln>
        </p:spPr>
      </p:sp>
      <p:sp>
        <p:nvSpPr>
          <p:cNvPr id="23" name="Deco 17"/>
          <p:cNvSpPr/>
          <p:nvPr/>
        </p:nvSpPr>
        <p:spPr>
          <a:xfrm>
            <a:off x="7022592" y="886968"/>
            <a:ext cx="146304" cy="146304"/>
          </a:xfrm>
          <a:prstGeom prst="rect">
            <a:avLst/>
          </a:prstGeom>
          <a:solidFill>
            <a:srgbClr val="FFFFFF">
              <a:alpha val="14000"/>
            </a:srgbClr>
          </a:solidFill>
          <a:ln>
            <a:noFill/>
          </a:ln>
        </p:spPr>
      </p:sp>
      <p:sp>
        <p:nvSpPr>
          <p:cNvPr id="24" name="Deco 18"/>
          <p:cNvSpPr/>
          <p:nvPr/>
        </p:nvSpPr>
        <p:spPr>
          <a:xfrm>
            <a:off x="7260336" y="886968"/>
            <a:ext cx="146304" cy="146304"/>
          </a:xfrm>
          <a:prstGeom prst="rect">
            <a:avLst/>
          </a:prstGeom>
          <a:solidFill>
            <a:srgbClr val="9C7AD6">
              <a:alpha val="70000"/>
            </a:srgbClr>
          </a:solidFill>
          <a:ln>
            <a:noFill/>
          </a:ln>
        </p:spPr>
      </p:sp>
      <p:sp>
        <p:nvSpPr>
          <p:cNvPr id="25" name="Deco 19"/>
          <p:cNvSpPr/>
          <p:nvPr/>
        </p:nvSpPr>
        <p:spPr>
          <a:xfrm>
            <a:off x="7498080" y="886968"/>
            <a:ext cx="146304" cy="146304"/>
          </a:xfrm>
          <a:prstGeom prst="rect">
            <a:avLst/>
          </a:prstGeom>
          <a:solidFill>
            <a:srgbClr val="F2705A"/>
          </a:solidFill>
          <a:ln>
            <a:noFill/>
          </a:ln>
        </p:spPr>
      </p:sp>
      <p:sp>
        <p:nvSpPr>
          <p:cNvPr id="26" name="Deco 20"/>
          <p:cNvSpPr/>
          <p:nvPr/>
        </p:nvSpPr>
        <p:spPr>
          <a:xfrm>
            <a:off x="7735824" y="886968"/>
            <a:ext cx="146304" cy="146304"/>
          </a:xfrm>
          <a:prstGeom prst="rect">
            <a:avLst/>
          </a:prstGeom>
          <a:solidFill>
            <a:srgbClr val="FFFFFF">
              <a:alpha val="14000"/>
            </a:srgbClr>
          </a:solidFill>
          <a:ln>
            <a:noFill/>
          </a:ln>
        </p:spPr>
      </p:sp>
      <p:sp>
        <p:nvSpPr>
          <p:cNvPr id="27" name="Deco 21"/>
          <p:cNvSpPr/>
          <p:nvPr/>
        </p:nvSpPr>
        <p:spPr>
          <a:xfrm>
            <a:off x="7973568" y="886968"/>
            <a:ext cx="146304" cy="146304"/>
          </a:xfrm>
          <a:prstGeom prst="rect">
            <a:avLst/>
          </a:prstGeom>
          <a:solidFill>
            <a:srgbClr val="FFFFFF">
              <a:alpha val="14000"/>
            </a:srgbClr>
          </a:solidFill>
          <a:ln>
            <a:noFill/>
          </a:ln>
        </p:spPr>
      </p:sp>
      <p:sp>
        <p:nvSpPr>
          <p:cNvPr id="28" name="Deco 22"/>
          <p:cNvSpPr/>
          <p:nvPr/>
        </p:nvSpPr>
        <p:spPr>
          <a:xfrm>
            <a:off x="8211312" y="886968"/>
            <a:ext cx="146304" cy="146304"/>
          </a:xfrm>
          <a:prstGeom prst="rect">
            <a:avLst/>
          </a:prstGeom>
          <a:solidFill>
            <a:srgbClr val="9C7AD6">
              <a:alpha val="70000"/>
            </a:srgbClr>
          </a:solidFill>
          <a:ln>
            <a:noFill/>
          </a:ln>
        </p:spPr>
      </p:sp>
      <p:sp>
        <p:nvSpPr>
          <p:cNvPr id="29" name="Deco 23"/>
          <p:cNvSpPr/>
          <p:nvPr/>
        </p:nvSpPr>
        <p:spPr>
          <a:xfrm>
            <a:off x="8449056" y="886968"/>
            <a:ext cx="146304" cy="146304"/>
          </a:xfrm>
          <a:prstGeom prst="rect">
            <a:avLst/>
          </a:prstGeom>
          <a:solidFill>
            <a:srgbClr val="FFFFFF">
              <a:alpha val="14000"/>
            </a:srgbClr>
          </a:solidFill>
          <a:ln>
            <a:noFill/>
          </a:ln>
        </p:spPr>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3.1 · OWASP API TOP 10</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Why a separate list from the web Top 10?</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sp>
        <p:nvSpPr>
          <p:cNvPr id="6" name="Shape 3"/>
          <p:cNvSpPr/>
          <p:nvPr/>
        </p:nvSpPr>
        <p:spPr>
          <a:xfrm>
            <a:off x="502920" y="1417828"/>
            <a:ext cx="82296" cy="82296"/>
          </a:xfrm>
          <a:prstGeom prst="rect">
            <a:avLst/>
          </a:prstGeom>
          <a:solidFill>
            <a:srgbClr val="F2705A"/>
          </a:solidFill>
          <a:ln w="12700">
            <a:solidFill>
              <a:srgbClr val="F2705A"/>
            </a:solidFill>
            <a:prstDash val="solid"/>
          </a:ln>
        </p:spPr>
      </p:sp>
      <p:sp>
        <p:nvSpPr>
          <p:cNvPr id="7" name="Text 4"/>
          <p:cNvSpPr txBox="1"/>
          <p:nvPr/>
        </p:nvSpPr>
        <p:spPr>
          <a:xfrm>
            <a:off x="713232" y="1325880"/>
            <a:ext cx="7973568" cy="275336"/>
          </a:xfrm>
          <a:prstGeom prst="rect">
            <a:avLst/>
          </a:prstGeom>
          <a:noFill/>
        </p:spPr>
        <p:txBody>
          <a:bodyPr wrap="square" lIns="0" tIns="0" rIns="0" bIns="0" rtlCol="0" anchor="t"/>
          <a:lstStyle/>
          <a:p>
            <a:pPr marL="0" indent="0" algn="l">
              <a:buNone/>
            </a:pPr>
            <a:r>
              <a:rPr lang="en-US" sz="1600" dirty="0">
                <a:solidFill>
                  <a:srgbClr val="2A2433"/>
                </a:solidFill>
                <a:latin typeface="Calibri" pitchFamily="34" charset="0"/>
                <a:ea typeface="Calibri" pitchFamily="34" charset="-122"/>
                <a:cs typeface="Calibri" pitchFamily="34" charset="-120"/>
              </a:rPr>
              <a:t>APIs expose </a:t>
            </a:r>
            <a:r>
              <a:rPr lang="en-US" sz="1600" b="1" dirty="0">
                <a:solidFill>
                  <a:srgbClr val="2A2433"/>
                </a:solidFill>
                <a:latin typeface="Calibri" pitchFamily="34" charset="0"/>
                <a:ea typeface="Calibri" pitchFamily="34" charset="-122"/>
                <a:cs typeface="Calibri" pitchFamily="34" charset="-120"/>
              </a:rPr>
              <a:t>object IDs, functions and properties</a:t>
            </a:r>
            <a:r>
              <a:rPr lang="en-US" sz="1600" dirty="0">
                <a:solidFill>
                  <a:srgbClr val="2A2433"/>
                </a:solidFill>
                <a:latin typeface="Calibri" pitchFamily="34" charset="0"/>
                <a:ea typeface="Calibri" pitchFamily="34" charset="-122"/>
                <a:cs typeface="Calibri" pitchFamily="34" charset="-120"/>
              </a:rPr>
              <a:t> directly</a:t>
            </a:r>
            <a:endParaRPr lang="en-US" sz="1600" dirty="0"/>
          </a:p>
        </p:txBody>
      </p:sp>
      <p:sp>
        <p:nvSpPr>
          <p:cNvPr id="8" name="Shape 5"/>
          <p:cNvSpPr/>
          <p:nvPr/>
        </p:nvSpPr>
        <p:spPr>
          <a:xfrm>
            <a:off x="502920" y="1821180"/>
            <a:ext cx="82296" cy="82296"/>
          </a:xfrm>
          <a:prstGeom prst="rect">
            <a:avLst/>
          </a:prstGeom>
          <a:solidFill>
            <a:srgbClr val="F2705A"/>
          </a:solidFill>
          <a:ln w="12700">
            <a:solidFill>
              <a:srgbClr val="F2705A"/>
            </a:solidFill>
            <a:prstDash val="solid"/>
          </a:ln>
        </p:spPr>
      </p:sp>
      <p:sp>
        <p:nvSpPr>
          <p:cNvPr id="9" name="Text 6"/>
          <p:cNvSpPr txBox="1"/>
          <p:nvPr/>
        </p:nvSpPr>
        <p:spPr>
          <a:xfrm>
            <a:off x="713232" y="1729232"/>
            <a:ext cx="7973568" cy="275336"/>
          </a:xfrm>
          <a:prstGeom prst="rect">
            <a:avLst/>
          </a:prstGeom>
          <a:noFill/>
        </p:spPr>
        <p:txBody>
          <a:bodyPr wrap="square" lIns="0" tIns="0" rIns="0" bIns="0" rtlCol="0" anchor="t"/>
          <a:lstStyle/>
          <a:p>
            <a:pPr marL="0" indent="0" algn="l">
              <a:buNone/>
            </a:pPr>
            <a:r>
              <a:rPr lang="en-US" sz="1600" dirty="0">
                <a:solidFill>
                  <a:srgbClr val="2A2433"/>
                </a:solidFill>
                <a:latin typeface="Calibri" pitchFamily="34" charset="0"/>
                <a:ea typeface="Calibri" pitchFamily="34" charset="-122"/>
                <a:cs typeface="Calibri" pitchFamily="34" charset="-120"/>
              </a:rPr>
              <a:t>There is </a:t>
            </a:r>
            <a:r>
              <a:rPr lang="en-US" sz="1600" b="1" dirty="0">
                <a:solidFill>
                  <a:srgbClr val="2A2433"/>
                </a:solidFill>
                <a:latin typeface="Calibri" pitchFamily="34" charset="0"/>
                <a:ea typeface="Calibri" pitchFamily="34" charset="-122"/>
                <a:cs typeface="Calibri" pitchFamily="34" charset="-120"/>
              </a:rPr>
              <a:t>no UI</a:t>
            </a:r>
            <a:r>
              <a:rPr lang="en-US" sz="1600" dirty="0">
                <a:solidFill>
                  <a:srgbClr val="2A2433"/>
                </a:solidFill>
                <a:latin typeface="Calibri" pitchFamily="34" charset="0"/>
                <a:ea typeface="Calibri" pitchFamily="34" charset="-122"/>
                <a:cs typeface="Calibri" pitchFamily="34" charset="-120"/>
              </a:rPr>
              <a:t> to hide anything</a:t>
            </a:r>
            <a:endParaRPr lang="en-US" sz="1600" dirty="0"/>
          </a:p>
        </p:txBody>
      </p:sp>
      <p:sp>
        <p:nvSpPr>
          <p:cNvPr id="10" name="Shape 7"/>
          <p:cNvSpPr/>
          <p:nvPr/>
        </p:nvSpPr>
        <p:spPr>
          <a:xfrm>
            <a:off x="502920" y="2224532"/>
            <a:ext cx="82296" cy="82296"/>
          </a:xfrm>
          <a:prstGeom prst="rect">
            <a:avLst/>
          </a:prstGeom>
          <a:solidFill>
            <a:srgbClr val="F2705A"/>
          </a:solidFill>
          <a:ln w="12700">
            <a:solidFill>
              <a:srgbClr val="F2705A"/>
            </a:solidFill>
            <a:prstDash val="solid"/>
          </a:ln>
        </p:spPr>
      </p:sp>
      <p:sp>
        <p:nvSpPr>
          <p:cNvPr id="11" name="Text 8"/>
          <p:cNvSpPr txBox="1"/>
          <p:nvPr/>
        </p:nvSpPr>
        <p:spPr>
          <a:xfrm>
            <a:off x="713232" y="2132584"/>
            <a:ext cx="7973568" cy="275336"/>
          </a:xfrm>
          <a:prstGeom prst="rect">
            <a:avLst/>
          </a:prstGeom>
          <a:noFill/>
        </p:spPr>
        <p:txBody>
          <a:bodyPr wrap="square" lIns="0" tIns="0" rIns="0" bIns="0" rtlCol="0" anchor="t"/>
          <a:lstStyle/>
          <a:p>
            <a:pPr marL="0" indent="0" algn="l">
              <a:buNone/>
            </a:pPr>
            <a:r>
              <a:rPr lang="en-US" sz="1600" dirty="0">
                <a:solidFill>
                  <a:srgbClr val="2A2433"/>
                </a:solidFill>
                <a:latin typeface="Calibri" pitchFamily="34" charset="0"/>
                <a:ea typeface="Calibri" pitchFamily="34" charset="-122"/>
                <a:cs typeface="Calibri" pitchFamily="34" charset="-120"/>
              </a:rPr>
              <a:t>Clients are </a:t>
            </a:r>
            <a:r>
              <a:rPr lang="en-US" sz="1600" b="1" dirty="0">
                <a:solidFill>
                  <a:srgbClr val="2A2433"/>
                </a:solidFill>
                <a:latin typeface="Calibri" pitchFamily="34" charset="0"/>
                <a:ea typeface="Calibri" pitchFamily="34" charset="-122"/>
                <a:cs typeface="Calibri" pitchFamily="34" charset="-120"/>
              </a:rPr>
              <a:t>machines</a:t>
            </a:r>
            <a:r>
              <a:rPr lang="en-US" sz="1600" dirty="0">
                <a:solidFill>
                  <a:srgbClr val="2A2433"/>
                </a:solidFill>
                <a:latin typeface="Calibri" pitchFamily="34" charset="0"/>
                <a:ea typeface="Calibri" pitchFamily="34" charset="-122"/>
                <a:cs typeface="Calibri" pitchFamily="34" charset="-120"/>
              </a:rPr>
              <a:t> that can send thousands of requests</a:t>
            </a:r>
            <a:endParaRPr lang="en-US" sz="1600" dirty="0"/>
          </a:p>
        </p:txBody>
      </p:sp>
      <p:sp>
        <p:nvSpPr>
          <p:cNvPr id="12" name="Shape 9"/>
          <p:cNvSpPr/>
          <p:nvPr/>
        </p:nvSpPr>
        <p:spPr>
          <a:xfrm>
            <a:off x="457200" y="2926080"/>
            <a:ext cx="2621280" cy="1463040"/>
          </a:xfrm>
          <a:prstGeom prst="rect">
            <a:avLst/>
          </a:prstGeom>
          <a:solidFill>
            <a:srgbClr val="FFFFFF"/>
          </a:solidFill>
          <a:ln w="9525">
            <a:solidFill>
              <a:srgbClr val="D6CCE6"/>
            </a:solidFill>
          </a:ln>
        </p:spPr>
      </p:sp>
      <p:sp>
        <p:nvSpPr>
          <p:cNvPr id="13" name="Shape 10"/>
          <p:cNvSpPr/>
          <p:nvPr/>
        </p:nvSpPr>
        <p:spPr>
          <a:xfrm>
            <a:off x="621792" y="3090672"/>
            <a:ext cx="411480" cy="411480"/>
          </a:xfrm>
          <a:prstGeom prst="roundRect">
            <a:avLst>
              <a:gd name="adj" fmla="val 24000"/>
            </a:avLst>
          </a:prstGeom>
          <a:solidFill>
            <a:srgbClr val="6B35B5"/>
          </a:solidFill>
          <a:ln w="12700">
            <a:solidFill>
              <a:srgbClr val="6B35B5"/>
            </a:solidFill>
            <a:prstDash val="solid"/>
          </a:ln>
        </p:spPr>
      </p:sp>
      <p:pic>
        <p:nvPicPr>
          <p:cNvPr id="14" name="Image 0" descr="preencoded.png"/>
          <p:cNvPicPr>
            <a:picLocks noChangeAspect="1"/>
          </p:cNvPicPr>
          <p:nvPr/>
        </p:nvPicPr>
        <p:blipFill>
          <a:blip r:embed="rId1"/>
          <a:stretch>
            <a:fillRect/>
          </a:stretch>
        </p:blipFill>
        <p:spPr>
          <a:xfrm>
            <a:off x="724662" y="3193542"/>
            <a:ext cx="205740" cy="205740"/>
          </a:xfrm>
          <a:prstGeom prst="rect">
            <a:avLst/>
          </a:prstGeom>
        </p:spPr>
      </p:pic>
      <p:sp>
        <p:nvSpPr>
          <p:cNvPr id="15" name="Text 11"/>
          <p:cNvSpPr txBox="1"/>
          <p:nvPr/>
        </p:nvSpPr>
        <p:spPr>
          <a:xfrm>
            <a:off x="621792" y="359359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API1: BOLA</a:t>
            </a:r>
            <a:endParaRPr lang="en-US" sz="1500" dirty="0"/>
          </a:p>
        </p:txBody>
      </p:sp>
      <p:sp>
        <p:nvSpPr>
          <p:cNvPr id="16" name="Text 12"/>
          <p:cNvSpPr txBox="1"/>
          <p:nvPr/>
        </p:nvSpPr>
        <p:spPr>
          <a:xfrm>
            <a:off x="621792" y="3914013"/>
            <a:ext cx="229209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Object level</a:t>
            </a:r>
            <a:endParaRPr lang="en-US" sz="1300" dirty="0"/>
          </a:p>
        </p:txBody>
      </p:sp>
      <p:sp>
        <p:nvSpPr>
          <p:cNvPr id="17" name="Shape 13"/>
          <p:cNvSpPr/>
          <p:nvPr/>
        </p:nvSpPr>
        <p:spPr>
          <a:xfrm>
            <a:off x="3261360" y="2926080"/>
            <a:ext cx="2621280" cy="1463040"/>
          </a:xfrm>
          <a:prstGeom prst="rect">
            <a:avLst/>
          </a:prstGeom>
          <a:solidFill>
            <a:srgbClr val="FFFFFF"/>
          </a:solidFill>
          <a:ln w="9525">
            <a:solidFill>
              <a:srgbClr val="D6CCE6"/>
            </a:solidFill>
          </a:ln>
        </p:spPr>
      </p:sp>
      <p:sp>
        <p:nvSpPr>
          <p:cNvPr id="18" name="Shape 14"/>
          <p:cNvSpPr/>
          <p:nvPr/>
        </p:nvSpPr>
        <p:spPr>
          <a:xfrm>
            <a:off x="3425952" y="3090672"/>
            <a:ext cx="411480" cy="411480"/>
          </a:xfrm>
          <a:prstGeom prst="roundRect">
            <a:avLst>
              <a:gd name="adj" fmla="val 24000"/>
            </a:avLst>
          </a:prstGeom>
          <a:solidFill>
            <a:srgbClr val="6B35B5"/>
          </a:solidFill>
          <a:ln w="12700">
            <a:solidFill>
              <a:srgbClr val="6B35B5"/>
            </a:solidFill>
            <a:prstDash val="solid"/>
          </a:ln>
        </p:spPr>
      </p:sp>
      <p:pic>
        <p:nvPicPr>
          <p:cNvPr id="19" name="Image 1" descr="preencoded.png"/>
          <p:cNvPicPr>
            <a:picLocks noChangeAspect="1"/>
          </p:cNvPicPr>
          <p:nvPr/>
        </p:nvPicPr>
        <p:blipFill>
          <a:blip r:embed="rId2"/>
          <a:stretch>
            <a:fillRect/>
          </a:stretch>
        </p:blipFill>
        <p:spPr>
          <a:xfrm>
            <a:off x="3528822" y="3193542"/>
            <a:ext cx="205740" cy="205740"/>
          </a:xfrm>
          <a:prstGeom prst="rect">
            <a:avLst/>
          </a:prstGeom>
        </p:spPr>
      </p:pic>
      <p:sp>
        <p:nvSpPr>
          <p:cNvPr id="20" name="Text 15"/>
          <p:cNvSpPr txBox="1"/>
          <p:nvPr/>
        </p:nvSpPr>
        <p:spPr>
          <a:xfrm>
            <a:off x="3425952" y="359359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API3: BOPLA</a:t>
            </a:r>
            <a:endParaRPr lang="en-US" sz="1500" dirty="0"/>
          </a:p>
        </p:txBody>
      </p:sp>
      <p:sp>
        <p:nvSpPr>
          <p:cNvPr id="21" name="Text 16"/>
          <p:cNvSpPr txBox="1"/>
          <p:nvPr/>
        </p:nvSpPr>
        <p:spPr>
          <a:xfrm>
            <a:off x="3425952" y="3914013"/>
            <a:ext cx="229209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Property level</a:t>
            </a:r>
            <a:endParaRPr lang="en-US" sz="1300" dirty="0"/>
          </a:p>
        </p:txBody>
      </p:sp>
      <p:sp>
        <p:nvSpPr>
          <p:cNvPr id="22" name="Shape 17"/>
          <p:cNvSpPr/>
          <p:nvPr/>
        </p:nvSpPr>
        <p:spPr>
          <a:xfrm>
            <a:off x="6065520" y="2926080"/>
            <a:ext cx="2621280" cy="1463040"/>
          </a:xfrm>
          <a:prstGeom prst="rect">
            <a:avLst/>
          </a:prstGeom>
          <a:solidFill>
            <a:srgbClr val="FFFFFF"/>
          </a:solidFill>
          <a:ln w="9525">
            <a:solidFill>
              <a:srgbClr val="D6CCE6"/>
            </a:solidFill>
          </a:ln>
        </p:spPr>
      </p:sp>
      <p:sp>
        <p:nvSpPr>
          <p:cNvPr id="23" name="Shape 18"/>
          <p:cNvSpPr/>
          <p:nvPr/>
        </p:nvSpPr>
        <p:spPr>
          <a:xfrm>
            <a:off x="6230112" y="3090672"/>
            <a:ext cx="411480" cy="411480"/>
          </a:xfrm>
          <a:prstGeom prst="roundRect">
            <a:avLst>
              <a:gd name="adj" fmla="val 24000"/>
            </a:avLst>
          </a:prstGeom>
          <a:solidFill>
            <a:srgbClr val="6B35B5"/>
          </a:solidFill>
          <a:ln w="12700">
            <a:solidFill>
              <a:srgbClr val="6B35B5"/>
            </a:solidFill>
            <a:prstDash val="solid"/>
          </a:ln>
        </p:spPr>
      </p:sp>
      <p:pic>
        <p:nvPicPr>
          <p:cNvPr id="24" name="Image 2" descr="preencoded.png"/>
          <p:cNvPicPr>
            <a:picLocks noChangeAspect="1"/>
          </p:cNvPicPr>
          <p:nvPr/>
        </p:nvPicPr>
        <p:blipFill>
          <a:blip r:embed="rId3"/>
          <a:stretch>
            <a:fillRect/>
          </a:stretch>
        </p:blipFill>
        <p:spPr>
          <a:xfrm>
            <a:off x="6332982" y="3193542"/>
            <a:ext cx="205740" cy="205740"/>
          </a:xfrm>
          <a:prstGeom prst="rect">
            <a:avLst/>
          </a:prstGeom>
        </p:spPr>
      </p:pic>
      <p:sp>
        <p:nvSpPr>
          <p:cNvPr id="25" name="Text 19"/>
          <p:cNvSpPr txBox="1"/>
          <p:nvPr/>
        </p:nvSpPr>
        <p:spPr>
          <a:xfrm>
            <a:off x="6230112" y="3593592"/>
            <a:ext cx="2292096" cy="274701"/>
          </a:xfrm>
          <a:prstGeom prst="rect">
            <a:avLst/>
          </a:prstGeom>
          <a:noFill/>
        </p:spPr>
        <p:txBody>
          <a:bodyPr wrap="square" lIns="0" tIns="0" rIns="0" bIns="0" rtlCol="0" anchor="t"/>
          <a:lstStyle/>
          <a:p>
            <a:pPr marL="0" indent="0">
              <a:buNone/>
            </a:pPr>
            <a:r>
              <a:rPr lang="en-US" sz="1500" b="1" dirty="0">
                <a:solidFill>
                  <a:srgbClr val="2B1B3F"/>
                </a:solidFill>
                <a:latin typeface="Calibri" pitchFamily="34" charset="0"/>
                <a:ea typeface="Calibri" pitchFamily="34" charset="-122"/>
                <a:cs typeface="Calibri" pitchFamily="34" charset="-120"/>
              </a:rPr>
              <a:t>API5: BFLA</a:t>
            </a:r>
            <a:endParaRPr lang="en-US" sz="1500" dirty="0"/>
          </a:p>
        </p:txBody>
      </p:sp>
      <p:sp>
        <p:nvSpPr>
          <p:cNvPr id="26" name="Text 20"/>
          <p:cNvSpPr txBox="1"/>
          <p:nvPr/>
        </p:nvSpPr>
        <p:spPr>
          <a:xfrm>
            <a:off x="6230112" y="3914013"/>
            <a:ext cx="2292096" cy="383667"/>
          </a:xfrm>
          <a:prstGeom prst="rect">
            <a:avLst/>
          </a:prstGeom>
          <a:noFill/>
        </p:spPr>
        <p:txBody>
          <a:bodyPr wrap="square" lIns="0" tIns="0" rIns="0" bIns="0" rtlCol="0" anchor="t"/>
          <a:lstStyle/>
          <a:p>
            <a:pPr marL="0" indent="0" algn="l">
              <a:buNone/>
            </a:pPr>
            <a:r>
              <a:rPr lang="en-US" sz="1300" dirty="0">
                <a:solidFill>
                  <a:srgbClr val="2A2433"/>
                </a:solidFill>
                <a:latin typeface="Calibri" pitchFamily="34" charset="0"/>
                <a:ea typeface="Calibri" pitchFamily="34" charset="-122"/>
                <a:cs typeface="Calibri" pitchFamily="34" charset="-120"/>
              </a:rPr>
              <a:t>Function level</a:t>
            </a:r>
            <a:endParaRPr lang="en-US" sz="1300" dirty="0"/>
          </a:p>
        </p:txBody>
      </p:sp>
      <p:sp>
        <p:nvSpPr>
          <p:cNvPr id="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3.1 · OWASP API TOP 10</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API1 to API5</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91" name="Table 0"/>
          <p:cNvGraphicFramePr>
            <a:graphicFrameLocks noGrp="1"/>
          </p:cNvGraphicFramePr>
          <p:nvPr/>
        </p:nvGraphicFramePr>
        <p:xfrm>
          <a:off x="457200" y="1280160"/>
          <a:ext cx="8229600" cy="3401568"/>
        </p:xfrm>
        <a:graphic>
          <a:graphicData uri="http://schemas.openxmlformats.org/drawingml/2006/table">
            <a:tbl>
              <a:tblPr/>
              <a:tblGrid>
                <a:gridCol w="731520"/>
                <a:gridCol w="2560320"/>
                <a:gridCol w="2560320"/>
                <a:gridCol w="2377440"/>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Handler view</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API1</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Broken Object Level Authorization (BOLA)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Change an ID, access someone else's object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 check that the object belongs to the caller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API2</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Broken Authentication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Weak login, tokens or reset flows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Trusts a forgeable or guessable credential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API3</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Broken Object Property Level Authorization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Read or write fields you should not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Returns or accepts the whole object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API4</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Unrestricted Resource Consumption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 limits on requests, size or cost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 cap or throttle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API5</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Broken Function Level Authorization (BFLA)</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 normal user calls admin functions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No role check on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DELETE</a:t>
                      </a:r>
                      <a:r>
                        <a:rPr lang="en-US" sz="1200" dirty="0">
                          <a:solidFill>
                            <a:srgbClr val="2A2433"/>
                          </a:solidFill>
                          <a:latin typeface="Calibri" pitchFamily="34" charset="0"/>
                          <a:ea typeface="Calibri" pitchFamily="34" charset="-122"/>
                          <a:cs typeface="Calibri" pitchFamily="34" charset="-120"/>
                        </a:rPr>
                        <a:t> or </a:t>
                      </a:r>
                      <a:r>
                        <a:rPr lang="en-US" sz="1100" dirty="0">
                          <a:solidFill>
                            <a:srgbClr val="51268E"/>
                          </a:solidFill>
                          <a:latin typeface="Courier New" panose="02070609020205020404" pitchFamily="34" charset="0"/>
                          <a:ea typeface="Courier New" panose="02070609020205020404" pitchFamily="34" charset="-122"/>
                          <a:cs typeface="Courier New" panose="02070609020205020404" pitchFamily="34" charset="-120"/>
                        </a:rPr>
                        <a:t>/admin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p:spPr>
        <p:txBody>
          <a:bodyPr wrap="square" lIns="0" tIns="0" rIns="0" bIns="0" rtlCol="0" anchor="ctr"/>
          <a:lstStyle/>
          <a:p>
            <a:pPr marL="0" indent="0">
              <a:buNone/>
            </a:pPr>
            <a:r>
              <a:rPr lang="en-US" sz="1000" b="1" kern="0" spc="200" dirty="0">
                <a:solidFill>
                  <a:srgbClr val="6B35B5"/>
                </a:solidFill>
                <a:latin typeface="Calibri" pitchFamily="34" charset="0"/>
                <a:ea typeface="Calibri" pitchFamily="34" charset="-122"/>
                <a:cs typeface="Calibri" pitchFamily="34" charset="-120"/>
              </a:rPr>
              <a:t>3.1 · OWASP API TOP 10</a:t>
            </a:r>
            <a:endParaRPr lang="en-US" sz="1000" dirty="0"/>
          </a:p>
        </p:txBody>
      </p:sp>
      <p:sp>
        <p:nvSpPr>
          <p:cNvPr id="3" name="Text 1"/>
          <p:cNvSpPr txBox="1"/>
          <p:nvPr/>
        </p:nvSpPr>
        <p:spPr>
          <a:xfrm>
            <a:off x="457200" y="502920"/>
            <a:ext cx="8229600" cy="594360"/>
          </a:xfrm>
          <a:prstGeom prst="rect">
            <a:avLst/>
          </a:prstGeom>
          <a:noFill/>
        </p:spPr>
        <p:txBody>
          <a:bodyPr wrap="square" lIns="0" tIns="0" rIns="0" bIns="0" rtlCol="0" anchor="ctr"/>
          <a:lstStyle/>
          <a:p>
            <a:pPr marL="0" indent="0">
              <a:buNone/>
            </a:pPr>
            <a:r>
              <a:rPr lang="en-US" sz="2800" b="1" dirty="0">
                <a:solidFill>
                  <a:srgbClr val="2B1B3F"/>
                </a:solidFill>
                <a:latin typeface="Arial" pitchFamily="34" charset="0"/>
                <a:ea typeface="Arial" pitchFamily="34" charset="-122"/>
                <a:cs typeface="Arial" pitchFamily="34" charset="-120"/>
              </a:rPr>
              <a:t>API6 to API10</a:t>
            </a:r>
            <a:endParaRPr lang="en-US" sz="2800" dirty="0"/>
          </a:p>
        </p:txBody>
      </p:sp>
      <p:sp>
        <p:nvSpPr>
          <p:cNvPr id="4" name="Text 2"/>
          <p:cNvSpPr txBox="1"/>
          <p:nvPr/>
        </p:nvSpPr>
        <p:spPr>
          <a:xfrm>
            <a:off x="457200" y="4800600"/>
            <a:ext cx="3657600" cy="201168"/>
          </a:xfrm>
          <a:prstGeom prst="rect">
            <a:avLst/>
          </a:prstGeom>
          <a:noFill/>
        </p:spPr>
        <p:txBody>
          <a:bodyPr wrap="square" lIns="0" tIns="0" rIns="0" bIns="0" rtlCol="0" anchor="ctr"/>
          <a:lstStyle/>
          <a:p>
            <a:pPr marL="0" indent="0">
              <a:buNone/>
            </a:pPr>
            <a:r>
              <a:rPr lang="en-US" sz="900" dirty="0">
                <a:solidFill>
                  <a:srgbClr val="8E869B"/>
                </a:solidFill>
                <a:latin typeface="Calibri" pitchFamily="34" charset="0"/>
                <a:ea typeface="Calibri" pitchFamily="34" charset="-122"/>
                <a:cs typeface="Calibri" pitchFamily="34" charset="-120"/>
              </a:rPr>
              <a:t>API Security Bootcamp</a:t>
            </a:r>
            <a:endParaRPr lang="en-US" sz="900" dirty="0"/>
          </a:p>
        </p:txBody>
      </p:sp>
      <p:graphicFrame>
        <p:nvGraphicFramePr>
          <p:cNvPr id="92" name="Table 0"/>
          <p:cNvGraphicFramePr>
            <a:graphicFrameLocks noGrp="1"/>
          </p:cNvGraphicFramePr>
          <p:nvPr/>
        </p:nvGraphicFramePr>
        <p:xfrm>
          <a:off x="457200" y="1280160"/>
          <a:ext cx="8229600" cy="3401568"/>
        </p:xfrm>
        <a:graphic>
          <a:graphicData uri="http://schemas.openxmlformats.org/drawingml/2006/table">
            <a:tbl>
              <a:tblPr/>
              <a:tblGrid>
                <a:gridCol w="731520"/>
                <a:gridCol w="2560320"/>
                <a:gridCol w="2560320"/>
                <a:gridCol w="2377440"/>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Name</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Handler view</a:t>
                      </a:r>
                      <a:endParaRPr lang="en-US" sz="1200" dirty="0">
                        <a:latin typeface="Calibri" pitchFamily="34" charset="0"/>
                        <a:ea typeface="Calibri" pitchFamily="34" charset="0"/>
                        <a:cs typeface="Calibri" pitchFamily="34" charset="0"/>
                      </a:endParaRPr>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2B1B3F"/>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API6</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Unrestricted Access to Sensitive Business Flows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Automated abuse of buying, booking, signup</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Works as designed, abused at scale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API7</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Server-Side Request Forgery</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API fetches an attacker-supplied URL</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Calls out to a user-controlled address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API8</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Security Misconfiguration</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Verbose errors, open CORS, exposed docs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Everything around the handler</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API9</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Improper Inventory Management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Forgotten versions, shadow and debug endpoints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Handlers nobody remembers exist</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6F3FA"/>
                    </a:solidFill>
                  </a:tcPr>
                </a:tc>
              </a:tr>
              <a:tr h="566928">
                <a:tc>
                  <a:txBody>
                    <a:bodyPr/>
                    <a:lstStyle/>
                    <a:p>
                      <a:pPr marL="0" indent="0">
                        <a:buNone/>
                      </a:pPr>
                      <a:r>
                        <a:rPr lang="en-US" sz="1200" b="1" dirty="0">
                          <a:solidFill>
                            <a:srgbClr val="2A2433"/>
                          </a:solidFill>
                          <a:latin typeface="Calibri" pitchFamily="34" charset="0"/>
                          <a:ea typeface="Calibri" pitchFamily="34" charset="-122"/>
                          <a:cs typeface="Calibri" pitchFamily="34" charset="-120"/>
                        </a:rPr>
                        <a:t>API10</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Unsafe Consumption of APIs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Trusting third-party or internal APIs</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c>
                  <a:txBody>
                    <a:bodyPr/>
                    <a:lstStyle/>
                    <a:p>
                      <a:pPr marL="0" indent="0">
                        <a:buNone/>
                      </a:pPr>
                      <a:r>
                        <a:rPr lang="en-US" sz="1200" dirty="0">
                          <a:solidFill>
                            <a:srgbClr val="2A2433"/>
                          </a:solidFill>
                          <a:latin typeface="Calibri" pitchFamily="34" charset="0"/>
                          <a:ea typeface="Calibri" pitchFamily="34" charset="-122"/>
                          <a:cs typeface="Calibri" pitchFamily="34" charset="-120"/>
                        </a:rPr>
                        <a:t>Trusts another API's response</a:t>
                      </a:r>
                      <a:endParaRPr lang="en-US" sz="1200" dirty="0"/>
                    </a:p>
                  </a:txBody>
                  <a:tcPr marL="73152" marR="73152" marT="36576" marB="36576" anchor="ctr">
                    <a:lnL w="9525" cap="flat" cmpd="sng" algn="ctr">
                      <a:solidFill>
                        <a:srgbClr val="DDD4EA"/>
                      </a:solidFill>
                      <a:prstDash val="solid"/>
                      <a:round/>
                      <a:headEnd type="none" w="med" len="med"/>
                      <a:tailEnd type="none" w="med" len="med"/>
                    </a:lnL>
                    <a:lnR w="9525" cap="flat" cmpd="sng" algn="ctr">
                      <a:solidFill>
                        <a:srgbClr val="DDD4EA"/>
                      </a:solidFill>
                      <a:prstDash val="solid"/>
                      <a:round/>
                      <a:headEnd type="none" w="med" len="med"/>
                      <a:tailEnd type="none" w="med" len="med"/>
                    </a:lnR>
                    <a:lnT w="9525" cap="flat" cmpd="sng" algn="ctr">
                      <a:solidFill>
                        <a:srgbClr val="DDD4EA"/>
                      </a:solidFill>
                      <a:prstDash val="solid"/>
                      <a:round/>
                      <a:headEnd type="none" w="med" len="med"/>
                      <a:tailEnd type="none" w="med" len="med"/>
                    </a:lnT>
                    <a:lnB w="9525" cap="flat" cmpd="sng" algn="ctr">
                      <a:solidFill>
                        <a:srgbClr val="DDD4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138160" y="4773168"/>
            <a:ext cx="548640" cy="228600"/>
          </a:xfrm>
          <a:prstGeom prst="rect">
            <a:avLst/>
          </a:prstGeom>
        </p:spPr>
        <p:txBody>
          <a:bodyPr/>
          <a:lstStyle>
            <a:lvl1pPr>
              <a:defRPr sz="900">
                <a:solidFill>
                  <a:srgbClr val="8E869B"/>
                </a:solidFill>
                <a:latin typeface="Calibri"/>
                <a:ea typeface="Calibri"/>
                <a:cs typeface="Calibri"/>
              </a:defRPr>
            </a:lvl1pPr>
          </a:lstStyle>
          <a:p>
            <a:pPr algn="r"/>
            <a:fld id="{F7021451-1387-4CA6-816F-3879F97B5CBC}" type="slidenum">
              <a:rPr lang="en-US" b="0"/>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2B1B3F"/>
        </a:solidFill>
        <a:effectLst/>
      </p:bgPr>
    </p:bg>
    <p:spTree>
      <p:nvGrpSpPr>
        <p:cNvPr id="1" name=""/>
        <p:cNvGrpSpPr/>
        <p:nvPr/>
      </p:nvGrpSpPr>
      <p:grpSpPr>
        <a:xfrm>
          <a:off x="0" y="0"/>
          <a:ext cx="0" cy="0"/>
          <a:chOff x="0" y="0"/>
          <a:chExt cx="0" cy="0"/>
        </a:xfrm>
      </p:grpSpPr>
      <p:sp>
        <p:nvSpPr>
          <p:cNvPr id="2" name="Text 0"/>
          <p:cNvSpPr txBox="1"/>
          <p:nvPr/>
        </p:nvSpPr>
        <p:spPr>
          <a:xfrm>
            <a:off x="640080" y="914400"/>
            <a:ext cx="5486400" cy="365760"/>
          </a:xfrm>
          <a:prstGeom prst="rect">
            <a:avLst/>
          </a:prstGeom>
          <a:noFill/>
        </p:spPr>
        <p:txBody>
          <a:bodyPr wrap="square" lIns="0" tIns="0" rIns="0" bIns="0" rtlCol="0" anchor="ctr"/>
          <a:lstStyle/>
          <a:p>
            <a:pPr marL="0" indent="0">
              <a:buNone/>
            </a:pPr>
            <a:r>
              <a:rPr lang="en-US" sz="1400" b="1" kern="0" spc="400" dirty="0">
                <a:solidFill>
                  <a:srgbClr val="F2705A"/>
                </a:solidFill>
                <a:latin typeface="Calibri" pitchFamily="34" charset="0"/>
                <a:ea typeface="Calibri" pitchFamily="34" charset="-122"/>
                <a:cs typeface="Calibri" pitchFamily="34" charset="-120"/>
              </a:rPr>
              <a:t>WHAT'S NEXT</a:t>
            </a:r>
            <a:endParaRPr lang="en-US" sz="1400" dirty="0"/>
          </a:p>
        </p:txBody>
      </p:sp>
      <p:sp>
        <p:nvSpPr>
          <p:cNvPr id="3" name="Text 1"/>
          <p:cNvSpPr txBox="1"/>
          <p:nvPr/>
        </p:nvSpPr>
        <p:spPr>
          <a:xfrm>
            <a:off x="640080" y="1371600"/>
            <a:ext cx="7315200" cy="822960"/>
          </a:xfrm>
          <a:prstGeom prst="rect">
            <a:avLst/>
          </a:prstGeom>
          <a:noFill/>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Time to practise</a:t>
            </a:r>
            <a:endParaRPr lang="en-US" sz="4000" dirty="0"/>
          </a:p>
        </p:txBody>
      </p:sp>
      <p:sp>
        <p:nvSpPr>
          <p:cNvPr id="4" name="Text 2"/>
          <p:cNvSpPr txBox="1"/>
          <p:nvPr/>
        </p:nvSpPr>
        <p:spPr>
          <a:xfrm>
            <a:off x="640080" y="2377440"/>
            <a:ext cx="6858000" cy="914400"/>
          </a:xfrm>
          <a:prstGeom prst="rect">
            <a:avLst/>
          </a:prstGeom>
          <a:noFill/>
        </p:spPr>
        <p:txBody>
          <a:bodyPr wrap="square" lIns="0" tIns="0" rIns="0" bIns="0" rtlCol="0" anchor="t"/>
          <a:lstStyle/>
          <a:p>
            <a:pPr marL="0" indent="0">
              <a:buNone/>
            </a:pPr>
            <a:r>
              <a:rPr lang="en-US" sz="1800" dirty="0">
                <a:solidFill>
                  <a:srgbClr val="D9CCF2"/>
                </a:solidFill>
                <a:latin typeface="Calibri" pitchFamily="34" charset="0"/>
                <a:ea typeface="Calibri" pitchFamily="34" charset="-122"/>
                <a:cs typeface="Calibri" pitchFamily="34" charset="-120"/>
              </a:rPr>
              <a:t>Hands-on labs put these ideas to work: reconnaissance, hidden endpoints, mass assignment, parameter pollution, GraphQL.</a:t>
            </a:r>
            <a:endParaRPr lang="en-US" sz="1800" dirty="0"/>
          </a:p>
        </p:txBody>
      </p:sp>
      <p:sp>
        <p:nvSpPr>
          <p:cNvPr id="5" name="Text 3"/>
          <p:cNvSpPr txBox="1"/>
          <p:nvPr/>
        </p:nvSpPr>
        <p:spPr>
          <a:xfrm>
            <a:off x="640080" y="4023360"/>
            <a:ext cx="7315200" cy="365760"/>
          </a:xfrm>
          <a:prstGeom prst="rect">
            <a:avLst/>
          </a:prstGeom>
          <a:noFill/>
        </p:spPr>
        <p:txBody>
          <a:bodyPr wrap="square" lIns="0" tIns="0" rIns="0" bIns="0" rtlCol="0" anchor="ctr"/>
          <a:lstStyle/>
          <a:p>
            <a:pPr marL="0" indent="0">
              <a:buNone/>
            </a:pPr>
            <a:r>
              <a:rPr lang="en-US" sz="1300" dirty="0">
                <a:solidFill>
                  <a:srgbClr val="A99BC6"/>
                </a:solidFill>
                <a:latin typeface="Calibri" pitchFamily="34" charset="0"/>
                <a:ea typeface="Calibri" pitchFamily="34" charset="-122"/>
                <a:cs typeface="Calibri" pitchFamily="34" charset="-120"/>
              </a:rPr>
              <a:t>Have ready: Burp, Postman, and your PortSwigger Web Security Academy account.</a:t>
            </a:r>
            <a:endParaRPr lang="en-US" sz="1300" dirty="0"/>
          </a:p>
        </p:txBody>
      </p:sp>
      <p:sp>
        <p:nvSpPr>
          <p:cNvPr id="6" name="Deco 0"/>
          <p:cNvSpPr/>
          <p:nvPr/>
        </p:nvSpPr>
        <p:spPr>
          <a:xfrm>
            <a:off x="6784848" y="411480"/>
            <a:ext cx="146304" cy="146304"/>
          </a:xfrm>
          <a:prstGeom prst="rect">
            <a:avLst/>
          </a:prstGeom>
          <a:solidFill>
            <a:srgbClr val="F2705A"/>
          </a:solidFill>
          <a:ln>
            <a:noFill/>
          </a:ln>
        </p:spPr>
      </p:sp>
      <p:sp>
        <p:nvSpPr>
          <p:cNvPr id="7" name="Deco 1"/>
          <p:cNvSpPr/>
          <p:nvPr/>
        </p:nvSpPr>
        <p:spPr>
          <a:xfrm>
            <a:off x="7022592" y="411480"/>
            <a:ext cx="146304" cy="146304"/>
          </a:xfrm>
          <a:prstGeom prst="rect">
            <a:avLst/>
          </a:prstGeom>
          <a:solidFill>
            <a:srgbClr val="FFFFFF">
              <a:alpha val="14000"/>
            </a:srgbClr>
          </a:solidFill>
          <a:ln>
            <a:noFill/>
          </a:ln>
        </p:spPr>
      </p:sp>
      <p:sp>
        <p:nvSpPr>
          <p:cNvPr id="8" name="Deco 2"/>
          <p:cNvSpPr/>
          <p:nvPr/>
        </p:nvSpPr>
        <p:spPr>
          <a:xfrm>
            <a:off x="7260336" y="411480"/>
            <a:ext cx="146304" cy="146304"/>
          </a:xfrm>
          <a:prstGeom prst="rect">
            <a:avLst/>
          </a:prstGeom>
          <a:solidFill>
            <a:srgbClr val="FFFFFF">
              <a:alpha val="14000"/>
            </a:srgbClr>
          </a:solidFill>
          <a:ln>
            <a:noFill/>
          </a:ln>
        </p:spPr>
      </p:sp>
      <p:sp>
        <p:nvSpPr>
          <p:cNvPr id="9" name="Deco 3"/>
          <p:cNvSpPr/>
          <p:nvPr/>
        </p:nvSpPr>
        <p:spPr>
          <a:xfrm>
            <a:off x="7498080" y="411480"/>
            <a:ext cx="146304" cy="146304"/>
          </a:xfrm>
          <a:prstGeom prst="rect">
            <a:avLst/>
          </a:prstGeom>
          <a:solidFill>
            <a:srgbClr val="FFFFFF">
              <a:alpha val="14000"/>
            </a:srgbClr>
          </a:solidFill>
          <a:ln>
            <a:noFill/>
          </a:ln>
        </p:spPr>
      </p:sp>
      <p:sp>
        <p:nvSpPr>
          <p:cNvPr id="10" name="Deco 4"/>
          <p:cNvSpPr/>
          <p:nvPr/>
        </p:nvSpPr>
        <p:spPr>
          <a:xfrm>
            <a:off x="7735824" y="411480"/>
            <a:ext cx="146304" cy="146304"/>
          </a:xfrm>
          <a:prstGeom prst="rect">
            <a:avLst/>
          </a:prstGeom>
          <a:solidFill>
            <a:srgbClr val="9C7AD6">
              <a:alpha val="70000"/>
            </a:srgbClr>
          </a:solidFill>
          <a:ln>
            <a:noFill/>
          </a:ln>
        </p:spPr>
      </p:sp>
      <p:sp>
        <p:nvSpPr>
          <p:cNvPr id="11" name="Deco 5"/>
          <p:cNvSpPr/>
          <p:nvPr/>
        </p:nvSpPr>
        <p:spPr>
          <a:xfrm>
            <a:off x="7973568" y="411480"/>
            <a:ext cx="146304" cy="146304"/>
          </a:xfrm>
          <a:prstGeom prst="rect">
            <a:avLst/>
          </a:prstGeom>
          <a:solidFill>
            <a:srgbClr val="F2705A"/>
          </a:solidFill>
          <a:ln>
            <a:noFill/>
          </a:ln>
        </p:spPr>
      </p:sp>
      <p:sp>
        <p:nvSpPr>
          <p:cNvPr id="12" name="Deco 6"/>
          <p:cNvSpPr/>
          <p:nvPr/>
        </p:nvSpPr>
        <p:spPr>
          <a:xfrm>
            <a:off x="8211312" y="411480"/>
            <a:ext cx="146304" cy="146304"/>
          </a:xfrm>
          <a:prstGeom prst="rect">
            <a:avLst/>
          </a:prstGeom>
          <a:solidFill>
            <a:srgbClr val="FFFFFF">
              <a:alpha val="14000"/>
            </a:srgbClr>
          </a:solidFill>
          <a:ln>
            <a:noFill/>
          </a:ln>
        </p:spPr>
      </p:sp>
      <p:sp>
        <p:nvSpPr>
          <p:cNvPr id="13" name="Deco 7"/>
          <p:cNvSpPr/>
          <p:nvPr/>
        </p:nvSpPr>
        <p:spPr>
          <a:xfrm>
            <a:off x="8449056" y="411480"/>
            <a:ext cx="146304" cy="146304"/>
          </a:xfrm>
          <a:prstGeom prst="rect">
            <a:avLst/>
          </a:prstGeom>
          <a:solidFill>
            <a:srgbClr val="FFFFFF">
              <a:alpha val="14000"/>
            </a:srgbClr>
          </a:solidFill>
          <a:ln>
            <a:noFill/>
          </a:ln>
        </p:spPr>
      </p:sp>
      <p:sp>
        <p:nvSpPr>
          <p:cNvPr id="14" name="Deco 8"/>
          <p:cNvSpPr/>
          <p:nvPr/>
        </p:nvSpPr>
        <p:spPr>
          <a:xfrm>
            <a:off x="6784848" y="649224"/>
            <a:ext cx="146304" cy="146304"/>
          </a:xfrm>
          <a:prstGeom prst="rect">
            <a:avLst/>
          </a:prstGeom>
          <a:solidFill>
            <a:srgbClr val="FFFFFF">
              <a:alpha val="14000"/>
            </a:srgbClr>
          </a:solidFill>
          <a:ln>
            <a:noFill/>
          </a:ln>
        </p:spPr>
      </p:sp>
      <p:sp>
        <p:nvSpPr>
          <p:cNvPr id="15" name="Deco 9"/>
          <p:cNvSpPr/>
          <p:nvPr/>
        </p:nvSpPr>
        <p:spPr>
          <a:xfrm>
            <a:off x="7022592" y="649224"/>
            <a:ext cx="146304" cy="146304"/>
          </a:xfrm>
          <a:prstGeom prst="rect">
            <a:avLst/>
          </a:prstGeom>
          <a:solidFill>
            <a:srgbClr val="9C7AD6">
              <a:alpha val="70000"/>
            </a:srgbClr>
          </a:solidFill>
          <a:ln>
            <a:noFill/>
          </a:ln>
        </p:spPr>
      </p:sp>
      <p:sp>
        <p:nvSpPr>
          <p:cNvPr id="16" name="Deco 10"/>
          <p:cNvSpPr/>
          <p:nvPr/>
        </p:nvSpPr>
        <p:spPr>
          <a:xfrm>
            <a:off x="7260336" y="649224"/>
            <a:ext cx="146304" cy="146304"/>
          </a:xfrm>
          <a:prstGeom prst="rect">
            <a:avLst/>
          </a:prstGeom>
          <a:solidFill>
            <a:srgbClr val="FFFFFF">
              <a:alpha val="14000"/>
            </a:srgbClr>
          </a:solidFill>
          <a:ln>
            <a:noFill/>
          </a:ln>
        </p:spPr>
      </p:sp>
      <p:sp>
        <p:nvSpPr>
          <p:cNvPr id="17" name="Deco 11"/>
          <p:cNvSpPr/>
          <p:nvPr/>
        </p:nvSpPr>
        <p:spPr>
          <a:xfrm>
            <a:off x="7498080" y="649224"/>
            <a:ext cx="146304" cy="146304"/>
          </a:xfrm>
          <a:prstGeom prst="rect">
            <a:avLst/>
          </a:prstGeom>
          <a:solidFill>
            <a:srgbClr val="FFFFFF">
              <a:alpha val="14000"/>
            </a:srgbClr>
          </a:solidFill>
          <a:ln>
            <a:noFill/>
          </a:ln>
        </p:spPr>
      </p:sp>
      <p:sp>
        <p:nvSpPr>
          <p:cNvPr id="18" name="Deco 12"/>
          <p:cNvSpPr/>
          <p:nvPr/>
        </p:nvSpPr>
        <p:spPr>
          <a:xfrm>
            <a:off x="7735824" y="649224"/>
            <a:ext cx="146304" cy="146304"/>
          </a:xfrm>
          <a:prstGeom prst="rect">
            <a:avLst/>
          </a:prstGeom>
          <a:solidFill>
            <a:srgbClr val="F2705A"/>
          </a:solidFill>
          <a:ln>
            <a:noFill/>
          </a:ln>
        </p:spPr>
      </p:sp>
      <p:sp>
        <p:nvSpPr>
          <p:cNvPr id="19" name="Deco 13"/>
          <p:cNvSpPr/>
          <p:nvPr/>
        </p:nvSpPr>
        <p:spPr>
          <a:xfrm>
            <a:off x="7973568" y="649224"/>
            <a:ext cx="146304" cy="146304"/>
          </a:xfrm>
          <a:prstGeom prst="rect">
            <a:avLst/>
          </a:prstGeom>
          <a:solidFill>
            <a:srgbClr val="9C7AD6">
              <a:alpha val="70000"/>
            </a:srgbClr>
          </a:solidFill>
          <a:ln>
            <a:noFill/>
          </a:ln>
        </p:spPr>
      </p:sp>
      <p:sp>
        <p:nvSpPr>
          <p:cNvPr id="20" name="Deco 14"/>
          <p:cNvSpPr/>
          <p:nvPr/>
        </p:nvSpPr>
        <p:spPr>
          <a:xfrm>
            <a:off x="8211312" y="649224"/>
            <a:ext cx="146304" cy="146304"/>
          </a:xfrm>
          <a:prstGeom prst="rect">
            <a:avLst/>
          </a:prstGeom>
          <a:solidFill>
            <a:srgbClr val="FFFFFF">
              <a:alpha val="14000"/>
            </a:srgbClr>
          </a:solidFill>
          <a:ln>
            <a:noFill/>
          </a:ln>
        </p:spPr>
      </p:sp>
      <p:sp>
        <p:nvSpPr>
          <p:cNvPr id="21" name="Deco 15"/>
          <p:cNvSpPr/>
          <p:nvPr/>
        </p:nvSpPr>
        <p:spPr>
          <a:xfrm>
            <a:off x="8449056" y="649224"/>
            <a:ext cx="146304" cy="146304"/>
          </a:xfrm>
          <a:prstGeom prst="rect">
            <a:avLst/>
          </a:prstGeom>
          <a:solidFill>
            <a:srgbClr val="FFFFFF">
              <a:alpha val="14000"/>
            </a:srgbClr>
          </a:solidFill>
          <a:ln>
            <a:noFill/>
          </a:ln>
        </p:spPr>
      </p:sp>
      <p:sp>
        <p:nvSpPr>
          <p:cNvPr id="22" name="Deco 16"/>
          <p:cNvSpPr/>
          <p:nvPr/>
        </p:nvSpPr>
        <p:spPr>
          <a:xfrm>
            <a:off x="6784848" y="886968"/>
            <a:ext cx="146304" cy="146304"/>
          </a:xfrm>
          <a:prstGeom prst="rect">
            <a:avLst/>
          </a:prstGeom>
          <a:solidFill>
            <a:srgbClr val="FFFFFF">
              <a:alpha val="14000"/>
            </a:srgbClr>
          </a:solidFill>
          <a:ln>
            <a:noFill/>
          </a:ln>
        </p:spPr>
      </p:sp>
      <p:sp>
        <p:nvSpPr>
          <p:cNvPr id="23" name="Deco 17"/>
          <p:cNvSpPr/>
          <p:nvPr/>
        </p:nvSpPr>
        <p:spPr>
          <a:xfrm>
            <a:off x="7022592" y="886968"/>
            <a:ext cx="146304" cy="146304"/>
          </a:xfrm>
          <a:prstGeom prst="rect">
            <a:avLst/>
          </a:prstGeom>
          <a:solidFill>
            <a:srgbClr val="FFFFFF">
              <a:alpha val="14000"/>
            </a:srgbClr>
          </a:solidFill>
          <a:ln>
            <a:noFill/>
          </a:ln>
        </p:spPr>
      </p:sp>
      <p:sp>
        <p:nvSpPr>
          <p:cNvPr id="24" name="Deco 18"/>
          <p:cNvSpPr/>
          <p:nvPr/>
        </p:nvSpPr>
        <p:spPr>
          <a:xfrm>
            <a:off x="7260336" y="886968"/>
            <a:ext cx="146304" cy="146304"/>
          </a:xfrm>
          <a:prstGeom prst="rect">
            <a:avLst/>
          </a:prstGeom>
          <a:solidFill>
            <a:srgbClr val="9C7AD6">
              <a:alpha val="70000"/>
            </a:srgbClr>
          </a:solidFill>
          <a:ln>
            <a:noFill/>
          </a:ln>
        </p:spPr>
      </p:sp>
      <p:sp>
        <p:nvSpPr>
          <p:cNvPr id="25" name="Deco 19"/>
          <p:cNvSpPr/>
          <p:nvPr/>
        </p:nvSpPr>
        <p:spPr>
          <a:xfrm>
            <a:off x="7498080" y="886968"/>
            <a:ext cx="146304" cy="146304"/>
          </a:xfrm>
          <a:prstGeom prst="rect">
            <a:avLst/>
          </a:prstGeom>
          <a:solidFill>
            <a:srgbClr val="F2705A"/>
          </a:solidFill>
          <a:ln>
            <a:noFill/>
          </a:ln>
        </p:spPr>
      </p:sp>
      <p:sp>
        <p:nvSpPr>
          <p:cNvPr id="26" name="Deco 20"/>
          <p:cNvSpPr/>
          <p:nvPr/>
        </p:nvSpPr>
        <p:spPr>
          <a:xfrm>
            <a:off x="7735824" y="886968"/>
            <a:ext cx="146304" cy="146304"/>
          </a:xfrm>
          <a:prstGeom prst="rect">
            <a:avLst/>
          </a:prstGeom>
          <a:solidFill>
            <a:srgbClr val="FFFFFF">
              <a:alpha val="14000"/>
            </a:srgbClr>
          </a:solidFill>
          <a:ln>
            <a:noFill/>
          </a:ln>
        </p:spPr>
      </p:sp>
      <p:sp>
        <p:nvSpPr>
          <p:cNvPr id="27" name="Deco 21"/>
          <p:cNvSpPr/>
          <p:nvPr/>
        </p:nvSpPr>
        <p:spPr>
          <a:xfrm>
            <a:off x="7973568" y="886968"/>
            <a:ext cx="146304" cy="146304"/>
          </a:xfrm>
          <a:prstGeom prst="rect">
            <a:avLst/>
          </a:prstGeom>
          <a:solidFill>
            <a:srgbClr val="FFFFFF">
              <a:alpha val="14000"/>
            </a:srgbClr>
          </a:solidFill>
          <a:ln>
            <a:noFill/>
          </a:ln>
        </p:spPr>
      </p:sp>
      <p:sp>
        <p:nvSpPr>
          <p:cNvPr id="28" name="Deco 22"/>
          <p:cNvSpPr/>
          <p:nvPr/>
        </p:nvSpPr>
        <p:spPr>
          <a:xfrm>
            <a:off x="8211312" y="886968"/>
            <a:ext cx="146304" cy="146304"/>
          </a:xfrm>
          <a:prstGeom prst="rect">
            <a:avLst/>
          </a:prstGeom>
          <a:solidFill>
            <a:srgbClr val="9C7AD6">
              <a:alpha val="70000"/>
            </a:srgbClr>
          </a:solidFill>
          <a:ln>
            <a:noFill/>
          </a:ln>
        </p:spPr>
      </p:sp>
      <p:sp>
        <p:nvSpPr>
          <p:cNvPr id="29" name="Deco 23"/>
          <p:cNvSpPr/>
          <p:nvPr/>
        </p:nvSpPr>
        <p:spPr>
          <a:xfrm>
            <a:off x="8449056" y="886968"/>
            <a:ext cx="146304" cy="146304"/>
          </a:xfrm>
          <a:prstGeom prst="rect">
            <a:avLst/>
          </a:prstGeom>
          <a:solidFill>
            <a:srgbClr val="FFFFFF">
              <a:alpha val="14000"/>
            </a:srgbClr>
          </a:solidFill>
          <a:ln>
            <a:noFill/>
          </a:ln>
        </p:spPr>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2B1B3F"/>
        </a:solidFill>
        <a:effectLst/>
      </p:bgPr>
    </p:bg>
    <p:spTree>
      <p:nvGrpSpPr>
        <p:cNvPr id="1" name=""/>
        <p:cNvGrpSpPr/>
        <p:nvPr/>
      </p:nvGrpSpPr>
      <p:grpSpPr>
        <a:xfrm>
          <a:off x="0" y="0"/>
          <a:ext cx="0" cy="0"/>
          <a:chOff x="0" y="0"/>
          <a:chExt cx="0" cy="0"/>
        </a:xfrm>
      </p:grpSpPr>
      <p:sp>
        <p:nvSpPr>
          <p:cNvPr id="2" name="Text 0"/>
          <p:cNvSpPr txBox="1"/>
          <p:nvPr/>
        </p:nvSpPr>
        <p:spPr>
          <a:xfrm>
            <a:off x="640080" y="1097280"/>
            <a:ext cx="4572000" cy="457200"/>
          </a:xfrm>
          <a:prstGeom prst="rect">
            <a:avLst/>
          </a:prstGeom>
          <a:noFill/>
        </p:spPr>
        <p:txBody>
          <a:bodyPr wrap="square" lIns="0" tIns="0" rIns="0" bIns="0" rtlCol="0" anchor="ctr"/>
          <a:lstStyle/>
          <a:p>
            <a:pPr marL="0" indent="0">
              <a:buNone/>
            </a:pPr>
            <a:r>
              <a:rPr lang="en-US" sz="1600" b="1" kern="0" spc="400" dirty="0">
                <a:solidFill>
                  <a:srgbClr val="F2705A"/>
                </a:solidFill>
                <a:latin typeface="Calibri" pitchFamily="34" charset="0"/>
                <a:ea typeface="Calibri" pitchFamily="34" charset="-122"/>
                <a:cs typeface="Calibri" pitchFamily="34" charset="-120"/>
              </a:rPr>
              <a:t>PART 2 · CONTINUED</a:t>
            </a:r>
            <a:endParaRPr lang="en-US" sz="1600" dirty="0"/>
          </a:p>
        </p:txBody>
      </p:sp>
      <p:sp>
        <p:nvSpPr>
          <p:cNvPr id="3" name="Text 1"/>
          <p:cNvSpPr txBox="1"/>
          <p:nvPr/>
        </p:nvSpPr>
        <p:spPr>
          <a:xfrm>
            <a:off x="640080" y="1600200"/>
            <a:ext cx="7498080" cy="1005840"/>
          </a:xfrm>
          <a:prstGeom prst="rect">
            <a:avLst/>
          </a:prstGeom>
          <a:noFill/>
        </p:spPr>
        <p:txBody>
          <a:bodyPr wrap="square" lIns="0" tIns="0" rIns="0" bIns="0" rtlCol="0" anchor="t"/>
          <a:lstStyle/>
          <a:p>
            <a:pPr marL="0" indent="0">
              <a:buNone/>
            </a:pPr>
            <a:r>
              <a:rPr lang="en-US" sz="4200" b="1" dirty="0">
                <a:solidFill>
                  <a:srgbClr val="FFFFFF"/>
                </a:solidFill>
                <a:latin typeface="Arial" pitchFamily="34" charset="0"/>
                <a:ea typeface="Arial" pitchFamily="34" charset="-122"/>
                <a:cs typeface="Arial" pitchFamily="34" charset="-120"/>
              </a:rPr>
              <a:t>SOAP and GraphQL</a:t>
            </a:r>
            <a:endParaRPr lang="en-US" sz="4200" dirty="0"/>
          </a:p>
        </p:txBody>
      </p:sp>
      <p:sp>
        <p:nvSpPr>
          <p:cNvPr id="4" name="Text 2"/>
          <p:cNvSpPr txBox="1"/>
          <p:nvPr/>
        </p:nvSpPr>
        <p:spPr>
          <a:xfrm>
            <a:off x="640080" y="2743200"/>
            <a:ext cx="6949440" cy="1005840"/>
          </a:xfrm>
          <a:prstGeom prst="rect">
            <a:avLst/>
          </a:prstGeom>
          <a:noFill/>
        </p:spPr>
        <p:txBody>
          <a:bodyPr wrap="square" lIns="0" tIns="0" rIns="0" bIns="0" rtlCol="0" anchor="t"/>
          <a:lstStyle/>
          <a:p>
            <a:pPr marL="0" indent="0">
              <a:buNone/>
            </a:pPr>
            <a:r>
              <a:rPr lang="en-US" sz="1800" dirty="0">
                <a:solidFill>
                  <a:srgbClr val="D9CCF2"/>
                </a:solidFill>
                <a:latin typeface="Calibri" pitchFamily="34" charset="0"/>
                <a:ea typeface="Calibri" pitchFamily="34" charset="-122"/>
                <a:cs typeface="Calibri" pitchFamily="34" charset="-120"/>
              </a:rPr>
              <a:t>The two remaining API types: what each is, how to read it, and how to recognise it in the wild.</a:t>
            </a:r>
            <a:endParaRPr lang="en-US" sz="1800" dirty="0"/>
          </a:p>
        </p:txBody>
      </p:sp>
      <p:sp>
        <p:nvSpPr>
          <p:cNvPr id="5" name="Text 3"/>
          <p:cNvSpPr txBox="1"/>
          <p:nvPr/>
        </p:nvSpPr>
        <p:spPr>
          <a:xfrm>
            <a:off x="640080" y="4206240"/>
            <a:ext cx="5486400" cy="320040"/>
          </a:xfrm>
          <a:prstGeom prst="rect">
            <a:avLst/>
          </a:prstGeom>
          <a:noFill/>
        </p:spPr>
        <p:txBody>
          <a:bodyPr wrap="square" lIns="0" tIns="0" rIns="0" bIns="0" rtlCol="0" anchor="ctr"/>
          <a:lstStyle/>
          <a:p>
            <a:pPr marL="0" indent="0">
              <a:buNone/>
            </a:pPr>
            <a:r>
              <a:rPr lang="en-US" sz="1200" dirty="0">
                <a:solidFill>
                  <a:srgbClr val="A99BC6"/>
                </a:solidFill>
                <a:latin typeface="Calibri" pitchFamily="34" charset="0"/>
                <a:ea typeface="Calibri" pitchFamily="34" charset="-122"/>
                <a:cs typeface="Calibri" pitchFamily="34" charset="-120"/>
              </a:rPr>
              <a:t>Next session</a:t>
            </a:r>
            <a:endParaRPr lang="en-US" sz="1200" dirty="0"/>
          </a:p>
        </p:txBody>
      </p:sp>
      <p:sp>
        <p:nvSpPr>
          <p:cNvPr id="6" name="Deco 0"/>
          <p:cNvSpPr/>
          <p:nvPr/>
        </p:nvSpPr>
        <p:spPr>
          <a:xfrm>
            <a:off x="6784848" y="411480"/>
            <a:ext cx="146304" cy="146304"/>
          </a:xfrm>
          <a:prstGeom prst="rect">
            <a:avLst/>
          </a:prstGeom>
          <a:solidFill>
            <a:srgbClr val="F2705A"/>
          </a:solidFill>
          <a:ln>
            <a:noFill/>
          </a:ln>
        </p:spPr>
      </p:sp>
      <p:sp>
        <p:nvSpPr>
          <p:cNvPr id="7" name="Deco 1"/>
          <p:cNvSpPr/>
          <p:nvPr/>
        </p:nvSpPr>
        <p:spPr>
          <a:xfrm>
            <a:off x="7022592" y="411480"/>
            <a:ext cx="146304" cy="146304"/>
          </a:xfrm>
          <a:prstGeom prst="rect">
            <a:avLst/>
          </a:prstGeom>
          <a:solidFill>
            <a:srgbClr val="FFFFFF">
              <a:alpha val="14000"/>
            </a:srgbClr>
          </a:solidFill>
          <a:ln>
            <a:noFill/>
          </a:ln>
        </p:spPr>
      </p:sp>
      <p:sp>
        <p:nvSpPr>
          <p:cNvPr id="8" name="Deco 2"/>
          <p:cNvSpPr/>
          <p:nvPr/>
        </p:nvSpPr>
        <p:spPr>
          <a:xfrm>
            <a:off x="7260336" y="411480"/>
            <a:ext cx="146304" cy="146304"/>
          </a:xfrm>
          <a:prstGeom prst="rect">
            <a:avLst/>
          </a:prstGeom>
          <a:solidFill>
            <a:srgbClr val="FFFFFF">
              <a:alpha val="14000"/>
            </a:srgbClr>
          </a:solidFill>
          <a:ln>
            <a:noFill/>
          </a:ln>
        </p:spPr>
      </p:sp>
      <p:sp>
        <p:nvSpPr>
          <p:cNvPr id="9" name="Deco 3"/>
          <p:cNvSpPr/>
          <p:nvPr/>
        </p:nvSpPr>
        <p:spPr>
          <a:xfrm>
            <a:off x="7498080" y="411480"/>
            <a:ext cx="146304" cy="146304"/>
          </a:xfrm>
          <a:prstGeom prst="rect">
            <a:avLst/>
          </a:prstGeom>
          <a:solidFill>
            <a:srgbClr val="FFFFFF">
              <a:alpha val="14000"/>
            </a:srgbClr>
          </a:solidFill>
          <a:ln>
            <a:noFill/>
          </a:ln>
        </p:spPr>
      </p:sp>
      <p:sp>
        <p:nvSpPr>
          <p:cNvPr id="10" name="Deco 4"/>
          <p:cNvSpPr/>
          <p:nvPr/>
        </p:nvSpPr>
        <p:spPr>
          <a:xfrm>
            <a:off x="7735824" y="411480"/>
            <a:ext cx="146304" cy="146304"/>
          </a:xfrm>
          <a:prstGeom prst="rect">
            <a:avLst/>
          </a:prstGeom>
          <a:solidFill>
            <a:srgbClr val="9C7AD6">
              <a:alpha val="70000"/>
            </a:srgbClr>
          </a:solidFill>
          <a:ln>
            <a:noFill/>
          </a:ln>
        </p:spPr>
      </p:sp>
      <p:sp>
        <p:nvSpPr>
          <p:cNvPr id="11" name="Deco 5"/>
          <p:cNvSpPr/>
          <p:nvPr/>
        </p:nvSpPr>
        <p:spPr>
          <a:xfrm>
            <a:off x="7973568" y="411480"/>
            <a:ext cx="146304" cy="146304"/>
          </a:xfrm>
          <a:prstGeom prst="rect">
            <a:avLst/>
          </a:prstGeom>
          <a:solidFill>
            <a:srgbClr val="F2705A"/>
          </a:solidFill>
          <a:ln>
            <a:noFill/>
          </a:ln>
        </p:spPr>
      </p:sp>
      <p:sp>
        <p:nvSpPr>
          <p:cNvPr id="12" name="Deco 6"/>
          <p:cNvSpPr/>
          <p:nvPr/>
        </p:nvSpPr>
        <p:spPr>
          <a:xfrm>
            <a:off x="8211312" y="411480"/>
            <a:ext cx="146304" cy="146304"/>
          </a:xfrm>
          <a:prstGeom prst="rect">
            <a:avLst/>
          </a:prstGeom>
          <a:solidFill>
            <a:srgbClr val="FFFFFF">
              <a:alpha val="14000"/>
            </a:srgbClr>
          </a:solidFill>
          <a:ln>
            <a:noFill/>
          </a:ln>
        </p:spPr>
      </p:sp>
      <p:sp>
        <p:nvSpPr>
          <p:cNvPr id="13" name="Deco 7"/>
          <p:cNvSpPr/>
          <p:nvPr/>
        </p:nvSpPr>
        <p:spPr>
          <a:xfrm>
            <a:off x="8449056" y="411480"/>
            <a:ext cx="146304" cy="146304"/>
          </a:xfrm>
          <a:prstGeom prst="rect">
            <a:avLst/>
          </a:prstGeom>
          <a:solidFill>
            <a:srgbClr val="FFFFFF">
              <a:alpha val="14000"/>
            </a:srgbClr>
          </a:solidFill>
          <a:ln>
            <a:noFill/>
          </a:ln>
        </p:spPr>
      </p:sp>
      <p:sp>
        <p:nvSpPr>
          <p:cNvPr id="14" name="Deco 8"/>
          <p:cNvSpPr/>
          <p:nvPr/>
        </p:nvSpPr>
        <p:spPr>
          <a:xfrm>
            <a:off x="6784848" y="649224"/>
            <a:ext cx="146304" cy="146304"/>
          </a:xfrm>
          <a:prstGeom prst="rect">
            <a:avLst/>
          </a:prstGeom>
          <a:solidFill>
            <a:srgbClr val="FFFFFF">
              <a:alpha val="14000"/>
            </a:srgbClr>
          </a:solidFill>
          <a:ln>
            <a:noFill/>
          </a:ln>
        </p:spPr>
      </p:sp>
      <p:sp>
        <p:nvSpPr>
          <p:cNvPr id="15" name="Deco 9"/>
          <p:cNvSpPr/>
          <p:nvPr/>
        </p:nvSpPr>
        <p:spPr>
          <a:xfrm>
            <a:off x="7022592" y="649224"/>
            <a:ext cx="146304" cy="146304"/>
          </a:xfrm>
          <a:prstGeom prst="rect">
            <a:avLst/>
          </a:prstGeom>
          <a:solidFill>
            <a:srgbClr val="9C7AD6">
              <a:alpha val="70000"/>
            </a:srgbClr>
          </a:solidFill>
          <a:ln>
            <a:noFill/>
          </a:ln>
        </p:spPr>
      </p:sp>
      <p:sp>
        <p:nvSpPr>
          <p:cNvPr id="16" name="Deco 10"/>
          <p:cNvSpPr/>
          <p:nvPr/>
        </p:nvSpPr>
        <p:spPr>
          <a:xfrm>
            <a:off x="7260336" y="649224"/>
            <a:ext cx="146304" cy="146304"/>
          </a:xfrm>
          <a:prstGeom prst="rect">
            <a:avLst/>
          </a:prstGeom>
          <a:solidFill>
            <a:srgbClr val="FFFFFF">
              <a:alpha val="14000"/>
            </a:srgbClr>
          </a:solidFill>
          <a:ln>
            <a:noFill/>
          </a:ln>
        </p:spPr>
      </p:sp>
      <p:sp>
        <p:nvSpPr>
          <p:cNvPr id="17" name="Deco 11"/>
          <p:cNvSpPr/>
          <p:nvPr/>
        </p:nvSpPr>
        <p:spPr>
          <a:xfrm>
            <a:off x="7498080" y="649224"/>
            <a:ext cx="146304" cy="146304"/>
          </a:xfrm>
          <a:prstGeom prst="rect">
            <a:avLst/>
          </a:prstGeom>
          <a:solidFill>
            <a:srgbClr val="FFFFFF">
              <a:alpha val="14000"/>
            </a:srgbClr>
          </a:solidFill>
          <a:ln>
            <a:noFill/>
          </a:ln>
        </p:spPr>
      </p:sp>
      <p:sp>
        <p:nvSpPr>
          <p:cNvPr id="18" name="Deco 12"/>
          <p:cNvSpPr/>
          <p:nvPr/>
        </p:nvSpPr>
        <p:spPr>
          <a:xfrm>
            <a:off x="7735824" y="649224"/>
            <a:ext cx="146304" cy="146304"/>
          </a:xfrm>
          <a:prstGeom prst="rect">
            <a:avLst/>
          </a:prstGeom>
          <a:solidFill>
            <a:srgbClr val="F2705A"/>
          </a:solidFill>
          <a:ln>
            <a:noFill/>
          </a:ln>
        </p:spPr>
      </p:sp>
      <p:sp>
        <p:nvSpPr>
          <p:cNvPr id="19" name="Deco 13"/>
          <p:cNvSpPr/>
          <p:nvPr/>
        </p:nvSpPr>
        <p:spPr>
          <a:xfrm>
            <a:off x="7973568" y="649224"/>
            <a:ext cx="146304" cy="146304"/>
          </a:xfrm>
          <a:prstGeom prst="rect">
            <a:avLst/>
          </a:prstGeom>
          <a:solidFill>
            <a:srgbClr val="9C7AD6">
              <a:alpha val="70000"/>
            </a:srgbClr>
          </a:solidFill>
          <a:ln>
            <a:noFill/>
          </a:ln>
        </p:spPr>
      </p:sp>
      <p:sp>
        <p:nvSpPr>
          <p:cNvPr id="20" name="Deco 14"/>
          <p:cNvSpPr/>
          <p:nvPr/>
        </p:nvSpPr>
        <p:spPr>
          <a:xfrm>
            <a:off x="8211312" y="649224"/>
            <a:ext cx="146304" cy="146304"/>
          </a:xfrm>
          <a:prstGeom prst="rect">
            <a:avLst/>
          </a:prstGeom>
          <a:solidFill>
            <a:srgbClr val="FFFFFF">
              <a:alpha val="14000"/>
            </a:srgbClr>
          </a:solidFill>
          <a:ln>
            <a:noFill/>
          </a:ln>
        </p:spPr>
      </p:sp>
      <p:sp>
        <p:nvSpPr>
          <p:cNvPr id="21" name="Deco 15"/>
          <p:cNvSpPr/>
          <p:nvPr/>
        </p:nvSpPr>
        <p:spPr>
          <a:xfrm>
            <a:off x="8449056" y="649224"/>
            <a:ext cx="146304" cy="146304"/>
          </a:xfrm>
          <a:prstGeom prst="rect">
            <a:avLst/>
          </a:prstGeom>
          <a:solidFill>
            <a:srgbClr val="FFFFFF">
              <a:alpha val="14000"/>
            </a:srgbClr>
          </a:solidFill>
          <a:ln>
            <a:noFill/>
          </a:ln>
        </p:spPr>
      </p:sp>
      <p:sp>
        <p:nvSpPr>
          <p:cNvPr id="22" name="Deco 16"/>
          <p:cNvSpPr/>
          <p:nvPr/>
        </p:nvSpPr>
        <p:spPr>
          <a:xfrm>
            <a:off x="6784848" y="886968"/>
            <a:ext cx="146304" cy="146304"/>
          </a:xfrm>
          <a:prstGeom prst="rect">
            <a:avLst/>
          </a:prstGeom>
          <a:solidFill>
            <a:srgbClr val="FFFFFF">
              <a:alpha val="14000"/>
            </a:srgbClr>
          </a:solidFill>
          <a:ln>
            <a:noFill/>
          </a:ln>
        </p:spPr>
      </p:sp>
      <p:sp>
        <p:nvSpPr>
          <p:cNvPr id="23" name="Deco 17"/>
          <p:cNvSpPr/>
          <p:nvPr/>
        </p:nvSpPr>
        <p:spPr>
          <a:xfrm>
            <a:off x="7022592" y="886968"/>
            <a:ext cx="146304" cy="146304"/>
          </a:xfrm>
          <a:prstGeom prst="rect">
            <a:avLst/>
          </a:prstGeom>
          <a:solidFill>
            <a:srgbClr val="FFFFFF">
              <a:alpha val="14000"/>
            </a:srgbClr>
          </a:solidFill>
          <a:ln>
            <a:noFill/>
          </a:ln>
        </p:spPr>
      </p:sp>
      <p:sp>
        <p:nvSpPr>
          <p:cNvPr id="24" name="Deco 18"/>
          <p:cNvSpPr/>
          <p:nvPr/>
        </p:nvSpPr>
        <p:spPr>
          <a:xfrm>
            <a:off x="7260336" y="886968"/>
            <a:ext cx="146304" cy="146304"/>
          </a:xfrm>
          <a:prstGeom prst="rect">
            <a:avLst/>
          </a:prstGeom>
          <a:solidFill>
            <a:srgbClr val="9C7AD6">
              <a:alpha val="70000"/>
            </a:srgbClr>
          </a:solidFill>
          <a:ln>
            <a:noFill/>
          </a:ln>
        </p:spPr>
      </p:sp>
      <p:sp>
        <p:nvSpPr>
          <p:cNvPr id="25" name="Deco 19"/>
          <p:cNvSpPr/>
          <p:nvPr/>
        </p:nvSpPr>
        <p:spPr>
          <a:xfrm>
            <a:off x="7498080" y="886968"/>
            <a:ext cx="146304" cy="146304"/>
          </a:xfrm>
          <a:prstGeom prst="rect">
            <a:avLst/>
          </a:prstGeom>
          <a:solidFill>
            <a:srgbClr val="F2705A"/>
          </a:solidFill>
          <a:ln>
            <a:noFill/>
          </a:ln>
        </p:spPr>
      </p:sp>
      <p:sp>
        <p:nvSpPr>
          <p:cNvPr id="26" name="Deco 20"/>
          <p:cNvSpPr/>
          <p:nvPr/>
        </p:nvSpPr>
        <p:spPr>
          <a:xfrm>
            <a:off x="7735824" y="886968"/>
            <a:ext cx="146304" cy="146304"/>
          </a:xfrm>
          <a:prstGeom prst="rect">
            <a:avLst/>
          </a:prstGeom>
          <a:solidFill>
            <a:srgbClr val="FFFFFF">
              <a:alpha val="14000"/>
            </a:srgbClr>
          </a:solidFill>
          <a:ln>
            <a:noFill/>
          </a:ln>
        </p:spPr>
      </p:sp>
      <p:sp>
        <p:nvSpPr>
          <p:cNvPr id="27" name="Deco 21"/>
          <p:cNvSpPr/>
          <p:nvPr/>
        </p:nvSpPr>
        <p:spPr>
          <a:xfrm>
            <a:off x="7973568" y="886968"/>
            <a:ext cx="146304" cy="146304"/>
          </a:xfrm>
          <a:prstGeom prst="rect">
            <a:avLst/>
          </a:prstGeom>
          <a:solidFill>
            <a:srgbClr val="FFFFFF">
              <a:alpha val="14000"/>
            </a:srgbClr>
          </a:solidFill>
          <a:ln>
            <a:noFill/>
          </a:ln>
        </p:spPr>
      </p:sp>
      <p:sp>
        <p:nvSpPr>
          <p:cNvPr id="28" name="Deco 22"/>
          <p:cNvSpPr/>
          <p:nvPr/>
        </p:nvSpPr>
        <p:spPr>
          <a:xfrm>
            <a:off x="8211312" y="886968"/>
            <a:ext cx="146304" cy="146304"/>
          </a:xfrm>
          <a:prstGeom prst="rect">
            <a:avLst/>
          </a:prstGeom>
          <a:solidFill>
            <a:srgbClr val="9C7AD6">
              <a:alpha val="70000"/>
            </a:srgbClr>
          </a:solidFill>
          <a:ln>
            <a:noFill/>
          </a:ln>
        </p:spPr>
      </p:sp>
      <p:sp>
        <p:nvSpPr>
          <p:cNvPr id="29" name="Deco 23"/>
          <p:cNvSpPr/>
          <p:nvPr/>
        </p:nvSpPr>
        <p:spPr>
          <a:xfrm>
            <a:off x="8449056" y="886968"/>
            <a:ext cx="146304" cy="146304"/>
          </a:xfrm>
          <a:prstGeom prst="rect">
            <a:avLst/>
          </a:prstGeom>
          <a:solidFill>
            <a:srgbClr val="FFFFFF">
              <a:alpha val="14000"/>
            </a:srgbClr>
          </a:solidFill>
          <a:ln>
            <a:no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35764</Words>
  <Application>WPS Writer</Application>
  <PresentationFormat>On-screen Show (16:9)</PresentationFormat>
  <Paragraphs>2531</Paragraphs>
  <Slides>78</Slides>
  <Notes>93</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78</vt:i4>
      </vt:variant>
    </vt:vector>
  </HeadingPairs>
  <TitlesOfParts>
    <vt:vector size="98" baseType="lpstr">
      <vt:lpstr>Arial</vt:lpstr>
      <vt:lpstr>SimSun</vt:lpstr>
      <vt:lpstr>Wingdings</vt:lpstr>
      <vt:lpstr>Calibri</vt:lpstr>
      <vt:lpstr>Helvetica Neue</vt:lpstr>
      <vt:lpstr>Cambria</vt:lpstr>
      <vt:lpstr>苹方-简</vt:lpstr>
      <vt:lpstr>Cambria</vt:lpstr>
      <vt:lpstr>Cambria</vt:lpstr>
      <vt:lpstr>Calibri</vt:lpstr>
      <vt:lpstr>Calibri</vt:lpstr>
      <vt:lpstr>Calibri</vt:lpstr>
      <vt:lpstr>Courier New</vt:lpstr>
      <vt:lpstr>Courier New</vt:lpstr>
      <vt:lpstr>Courier New</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Security Bootcamp: Day 1</dc:title>
  <dc:creator>AppSec Team</dc:creator>
  <dc:subject>PptxGenJS Presentation</dc:subject>
  <cp:lastModifiedBy>deloitte</cp:lastModifiedBy>
  <cp:revision>5</cp:revision>
  <dcterms:created xsi:type="dcterms:W3CDTF">2026-09-30T04:22:46Z</dcterms:created>
  <dcterms:modified xsi:type="dcterms:W3CDTF">2026-09-30T04:22:46Z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2EBFA768B0A9142EC018BC6ABE953DF2_43</vt:lpwstr>
  </property>
  <property fmtid="{D5CDD505-2E9C-101B-9397-08002B2CF9AE}" pid="3" name="KSOProductBuildVer">
    <vt:lpwstr>1033-12.1.23155.23155</vt:lpwstr>
  </property>
</Properties>
</file>